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발표는 '내 정수장 찾기' 기능을 AI와 함께 처음부터 끝까지 개발한 과정을 공유합니다.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 피드백으로 발견된 불편 사항입니다. 41개 정수장 목록에서 내 정수장을 직접 찾기 어렵다는 점을 개선하려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AI와의 초기 기획 대화입니다. 어떤 API를 쓸지, 어떤 알고리즘을 쓸지 AI가 방향을 제시해줬습니다.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기능 설명과 함께 FR 번호로 구조화 요청. 기존 프로젝트 방식과 동일하게 일관성 유지.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제안한 설계입니다. Haversine 공식으로 거리 계산, 기존 FacilityService를 재활용해서 개발 범위를 최소화했습니다.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레이어별로 AI에게 구현을 요청할 때 '기존 패턴과 동일하게'라는 지시가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개발 과정에서 마주친 3가지 문제입니다. 특히 K-water API에 좌표 정보가 없어서 수동 매핑 JSON 파일을 만든 것이 핵심 인사이트입니다.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완성된 기능입니다. 신규 파일 3개만 추가해서 전국 41개 정수장에 대한 주소 기반 찾기 기능이 완성됐습니다.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개발 과정에서 도출한 4가지 핵심 인사이트입니다.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개발 과정 요약입니다. 아이디어 발견부터 완성까지 1일 만에 가능했던 것은 AI 협업 덕분입니다.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카카오맵 검색 URL 대신 좌표 직접 지정 URL을 사용해서 정확한 위치가 표시되도록 개선했습니다.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 카드에 주소, 수계코드, 좌표를 뱃지 형태로 표시해 사용자가 찾은 정수장의 위치를 바로 확인할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9144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914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협업 개발 사례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정수장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찾기 기능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이야기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 → 요구사항 → 설계 → 구현까지, AI와 함께한 전 과정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💧 수자이(水Xai) — 실시간 수질·유량 이상징후 감지 대시보드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기능이 필요했나?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A"/>
                </a:solidFill>
              </a:rPr>
              <a:t>문제 인식 — 사용자 불편 발견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정수장이 어딘지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모른다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사용자는 수자이 대시보드를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사용하면서 '내가 마시는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물은 어느 정수장에서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오는지' 알 수 없었다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지역명으로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찾기 어렵다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41개 정수장 목록에서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내 지역 정수장을 직접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찾아야 해서 불편했다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공공 API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연동 가능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카카오 주소 API와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K-water 시설 데이터를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연동하면 해결 가능하다는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7A8A"/>
                </a:solidFill>
              </a:rPr>
              <a:t>것을 알게 됐다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8046720" cy="411480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"주소를 입력하면 내 정수장을 바로 찾아주는 기능을 만들자"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AI와의 아이디어 대화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BB8"/>
                </a:solidFill>
              </a:rPr>
              <a:t>STEP 1 — 기획 단계에서 AI에게 던진 질문들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D2A4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98448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나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8"/>
                </a:solidFill>
              </a:rPr>
              <a:t>주소를 입력하면 해당 지역의 정수장을 자동으로 찾아주는 기능을 수자이에 추가하고 싶어. 어떤 API를 써야 할까?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002536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A2E2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5798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80160" y="2093976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8"/>
                </a:solidFill>
              </a:rPr>
              <a:t>주소 → 좌표 변환은 카카오 주소 검색 API가 가장 간단합니다. 좌표를 얻은 후 K-water 시설 목록과 거리 계산으로 가장 가까운 정수장을 찾을 수 있습니다.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D2A4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01752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175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2953512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8"/>
                </a:solidFill>
              </a:rPr>
              <a:t>카카오 API로 주소를 좌표로 변환하고, K-water 정수장 좌표랑 비교해서 가장 가까운 곳을 찾는 거야?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721608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A2E2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87705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87705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80160" y="3813048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DE8"/>
                </a:solidFill>
              </a:rPr>
              <a:t>맞습니다. Haversine 공식으로 두 좌표 간 거리를 계산해서 가장 가까운 정수장을 반환하면 됩니다. 기존 FacilityService와도 자연스럽게 연동됩니다.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만든 요구사항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A"/>
                </a:solidFill>
              </a:rPr>
              <a:t>STEP 2 — 요구사항을 FR 번호로 구조화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0D1B2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188720"/>
            <a:ext cx="1645920" cy="274320"/>
          </a:xfrm>
          <a:prstGeom prst="roundRect">
            <a:avLst>
              <a:gd name="adj" fmla="val 233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프롬프트 예시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아래 기능에 대한 요구사항을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 번호로 정의해줘.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기능명: 주소 기반 내 정수장 찾기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사용자가 주소 입력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카카오 API로 좌표 변환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가장 가까운 정수장 반환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결과: 정수장명, 거리(km)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우선순위도 필수/보통으로 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61872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6187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FR-007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77840" y="1261872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26187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필수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0" y="11887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</a:rPr>
              <a:t>주소 입력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A"/>
                </a:solidFill>
              </a:rPr>
              <a:t>사용자가 텍스트로 주소 입력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773936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938528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3852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FR-008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1938528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9385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필수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18653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</a:rPr>
              <a:t>좌표 변환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0939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A"/>
                </a:solidFill>
              </a:rPr>
              <a:t>카카오 API → 위경도 좌표 획득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450592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615184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61518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FR-009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577840" y="2615184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261518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필수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17920" y="25420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</a:rPr>
              <a:t>정수장 매칭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7706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A"/>
                </a:solidFill>
              </a:rPr>
              <a:t>Haversine 거리 계산 후 최근접 반환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27248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291840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9184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FR-010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3291840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2918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필수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17920" y="32186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</a:rPr>
              <a:t>결과 표시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344728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A"/>
                </a:solidFill>
              </a:rPr>
              <a:t>정수장명 + 거리(km) 화면 출력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803904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96849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9684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FR-011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577840" y="3968496"/>
            <a:ext cx="502920" cy="237744"/>
          </a:xfrm>
          <a:prstGeom prst="roundRect">
            <a:avLst>
              <a:gd name="adj" fmla="val 23077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96849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보통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38953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4C"/>
                </a:solidFill>
              </a:rPr>
              <a:t>오류 처리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17920" y="4123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8A"/>
                </a:solidFill>
              </a:rPr>
              <a:t>주소 미인식 시 안내 메시지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제안한 시스템 설계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BB8"/>
                </a:solidFill>
              </a:rPr>
              <a:t>STEP 3 — 아키텍처 및 기술 스택 결정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A3A5C"/>
          </a:solidFill>
          <a:ln w="12700">
            <a:solidFill>
              <a:srgbClr val="2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Browser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(사용자)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주소 입력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75688" y="1783080"/>
            <a:ext cx="576072" cy="0"/>
          </a:xfrm>
          <a:prstGeom prst="line">
            <a:avLst/>
          </a:prstGeom>
          <a:noFill/>
          <a:ln w="19050">
            <a:solidFill>
              <a:srgbClr val="3A7A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4832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A9A"/>
                </a:solidFill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40280" y="11887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D3D5A"/>
          </a:solidFill>
          <a:ln w="12700">
            <a:solidFill>
              <a:srgbClr val="2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Address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Controller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4028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/api/address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/nearestFacility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58768" y="1783080"/>
            <a:ext cx="576072" cy="0"/>
          </a:xfrm>
          <a:prstGeom prst="line">
            <a:avLst/>
          </a:prstGeom>
          <a:noFill/>
          <a:ln w="19050">
            <a:solidFill>
              <a:srgbClr val="3A7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67912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A9A"/>
                </a:solidFill>
              </a:rPr>
              <a:t>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11887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A4A5A"/>
          </a:solidFill>
          <a:ln w="12700">
            <a:solidFill>
              <a:srgbClr val="2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Address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Service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거리 계산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Haversine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41848" y="1783080"/>
            <a:ext cx="576072" cy="0"/>
          </a:xfrm>
          <a:prstGeom prst="line">
            <a:avLst/>
          </a:prstGeom>
          <a:noFill/>
          <a:ln w="19050">
            <a:solidFill>
              <a:srgbClr val="3A7A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50992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A9A"/>
                </a:solidFill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6440" y="11887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A3A4A"/>
          </a:solidFill>
          <a:ln w="12700">
            <a:solidFill>
              <a:srgbClr val="2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644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Kakao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ApiClient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80644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주소→좌표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변환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24928" y="1783080"/>
            <a:ext cx="576072" cy="0"/>
          </a:xfrm>
          <a:prstGeom prst="line">
            <a:avLst/>
          </a:prstGeom>
          <a:noFill/>
          <a:ln w="19050">
            <a:solidFill>
              <a:srgbClr val="3A7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7A9A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0" y="118872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065A6A"/>
          </a:solidFill>
          <a:ln w="12700">
            <a:solidFill>
              <a:srgbClr val="2A5A7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589520" y="12618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카카오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89520" y="17830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CD0"/>
                </a:solidFill>
              </a:rPr>
              <a:t>좌표 반환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023360" y="260604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1A3A20"/>
          </a:solidFill>
          <a:ln w="12700">
            <a:solidFill>
              <a:srgbClr val="2A6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26517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Facility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Service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0632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ABD7A"/>
                </a:solidFill>
              </a:rPr>
              <a:t>정수장 목록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ABD7A"/>
                </a:solidFill>
              </a:rPr>
              <a:t>(기존 재활용)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23460" y="2377440"/>
            <a:ext cx="0" cy="228600"/>
          </a:xfrm>
          <a:prstGeom prst="line">
            <a:avLst/>
          </a:prstGeom>
          <a:noFill/>
          <a:ln w="19050">
            <a:solidFill>
              <a:srgbClr val="2A6A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0A20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21608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36758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0"/>
                </a:solidFill>
              </a:rPr>
              <a:t>Haversine 공식 선택  —  위경도 기반 구면 거리 계산 — 지구 곡률 반영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41648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0A20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4151376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410565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0"/>
                </a:solidFill>
              </a:rPr>
              <a:t>기존 FacilityService 재활용  —  41개 정수장 목록을 새로 구현하지 않고 그대로 활용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471416"/>
            <a:ext cx="8321040" cy="365760"/>
          </a:xfrm>
          <a:prstGeom prst="roundRect">
            <a:avLst>
              <a:gd name="adj" fmla="val 20000"/>
            </a:avLst>
          </a:prstGeom>
          <a:solidFill>
            <a:srgbClr val="0A20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58114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53542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D0E0"/>
                </a:solidFill>
              </a:rPr>
              <a:t>KakaoApiClient 신규 추가  —  기존 XxxClient 패턴과 동일하게 구조 통일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 구현하기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A"/>
                </a:solidFill>
              </a:rPr>
              <a:t>STEP 4 — 실제 개발 요청 방식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78992" y="12070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4C"/>
                </a:solidFill>
              </a:rPr>
              <a:t>KakaoApiClient 구현 요청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78992" y="148132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8A"/>
                </a:solidFill>
              </a:rPr>
              <a:t>카카오 REST API 키를 주입받아 주소를 좌표로 변환하는 클라이언트 클래스 작성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002536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258568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585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" y="209397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4C"/>
                </a:solidFill>
              </a:rPr>
              <a:t>AddressService 구현 요청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23682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8A"/>
                </a:solidFill>
              </a:rPr>
              <a:t>좌표와 정수장 목록을 받아 Haversine 거리 계산 후 가장 가까운 시설 반환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889504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45536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455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78992" y="29809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4C"/>
                </a:solidFill>
              </a:rPr>
              <a:t>ApiController 엔드포인트 추가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78992" y="325526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8A"/>
                </a:solidFill>
              </a:rPr>
              <a:t>GET /api/address/nearestFacility?query=주소 엔드포인트 추가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776472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B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032504"/>
            <a:ext cx="384048" cy="274320"/>
          </a:xfrm>
          <a:prstGeom prst="roundRect">
            <a:avLst>
              <a:gd name="adj" fmla="val 2666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032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78992" y="38679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4C"/>
                </a:solidFill>
              </a:rPr>
              <a:t>프론트엔드 UI 추가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78992" y="414223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8A"/>
                </a:solidFill>
              </a:rPr>
              <a:t>주소 입력창, 찾기 버튼, 결과 표시 영역을 index.html에 추가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15000" y="1115568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0D1B2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33872" y="1216152"/>
            <a:ext cx="1828800" cy="274320"/>
          </a:xfrm>
          <a:prstGeom prst="roundRect">
            <a:avLst>
              <a:gd name="adj" fmla="val 2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1216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실제 프롬프트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1572768"/>
            <a:ext cx="30632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수자이 프로젝트에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KakaoApiClient를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추가해줘.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구조: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application.properties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에서 kakao.api.key 주입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주소(query) → 위경도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변환 메서드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기존 XxxApiClient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패턴과 동일하게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617720"/>
            <a:ext cx="8686800" cy="347472"/>
          </a:xfrm>
          <a:prstGeom prst="roundRect">
            <a:avLst>
              <a:gd name="adj" fmla="val 2105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1772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✓  "기존 패턴과 동일하게" 라는 지시가 핵심 — AI가 프로젝트 컨벤션에 맞는 코드를 자동으로 생성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중 마주친 문제와 해결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BB8"/>
                </a:solidFill>
              </a:rPr>
              <a:t>STEP 5 — 트러블슈팅도 AI와 함께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5270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27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42416" y="125272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12527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문제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719072" y="123444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K-water API에 정수장 좌표 정보가 없음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42416" y="155448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554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원인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19072" y="153619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CD0"/>
                </a:solidFill>
              </a:rPr>
              <a:t>facility-mapping.json으로 수동 매핑 필요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42416" y="185623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27A60"/>
          </a:solidFill>
          <a:ln w="12700">
            <a:solidFill>
              <a:srgbClr val="027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18562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해결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719072" y="183794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DBB0"/>
                </a:solidFill>
              </a:rPr>
              <a:t>AI가 41개 정수장의 위경도 데이터를 JSON으로 생성 → 서버 리소스로 로드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761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61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42416" y="248716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" y="24871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문제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719072" y="246888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입력 주소가 부분 일치일 때 검색 실패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2416" y="278892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" y="27889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원인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719072" y="277063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CD0"/>
                </a:solidFill>
              </a:rPr>
              <a:t>카카오 API 응답이 없거나 빈 배열 반환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42416" y="309067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27A60"/>
          </a:solidFill>
          <a:ln w="12700">
            <a:solidFill>
              <a:srgbClr val="027A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30906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해결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719072" y="30723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DBB0"/>
                </a:solidFill>
              </a:rPr>
              <a:t>AI 제안: 검색 결과 없음 시 '주소를 좀 더 구체적으로 입력해주세요' 안내 메시지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11880"/>
            <a:ext cx="832104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39959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995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42416" y="3721608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" y="372160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문제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719072" y="37033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AF0"/>
                </a:solidFill>
              </a:rPr>
              <a:t>거리 계산 결과가 실제와 다름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42416" y="4023360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4023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원인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719072" y="400507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BCD0"/>
                </a:solidFill>
              </a:rPr>
              <a:t>Haversine 공식 구현 시 라디안 변환 누락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42416" y="4325112"/>
            <a:ext cx="594360" cy="201168"/>
          </a:xfrm>
          <a:prstGeom prst="roundRect">
            <a:avLst>
              <a:gd name="adj" fmla="val 22727"/>
            </a:avLst>
          </a:prstGeom>
          <a:solidFill>
            <a:srgbClr val="027A60"/>
          </a:solidFill>
          <a:ln w="12700">
            <a:solidFill>
              <a:srgbClr val="027A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2416" y="432511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해결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719072" y="430682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DBB0"/>
                </a:solidFill>
              </a:rPr>
              <a:t>AI가 즉시 수정 코드 제공 — Math.toRadians() 적용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기능 — 내 정수장 찾기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A"/>
                </a:solidFill>
              </a:rPr>
              <a:t>STEP 6 — 구현 결과물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5029200" cy="3794760"/>
          </a:xfrm>
          <a:prstGeom prst="roundRect">
            <a:avLst>
              <a:gd name="adj" fmla="val 3614"/>
            </a:avLst>
          </a:prstGeom>
          <a:solidFill>
            <a:srgbClr val="111318"/>
          </a:solidFill>
          <a:ln w="12700">
            <a:solidFill>
              <a:srgbClr val="23272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51560"/>
            <a:ext cx="5029200" cy="457200"/>
          </a:xfrm>
          <a:prstGeom prst="rect">
            <a:avLst/>
          </a:prstGeom>
          <a:solidFill>
            <a:srgbClr val="181B22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0972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</a:rPr>
              <a:t>💧 수자이(水Xai)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1664208"/>
            <a:ext cx="4663440" cy="347472"/>
          </a:xfrm>
          <a:prstGeom prst="roundRect">
            <a:avLst>
              <a:gd name="adj" fmla="val 15789"/>
            </a:avLst>
          </a:prstGeom>
          <a:solidFill>
            <a:srgbClr val="181B22"/>
          </a:solidFill>
          <a:ln w="12700">
            <a:solidFill>
              <a:srgbClr val="2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824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9A"/>
                </a:solidFill>
              </a:rPr>
              <a:t>🔍  경기 파주시 탄현면...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682496"/>
            <a:ext cx="1005840" cy="265176"/>
          </a:xfrm>
          <a:prstGeom prst="roundRect">
            <a:avLst>
              <a:gd name="adj" fmla="val 2069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682496"/>
            <a:ext cx="1005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내 정수장 찾기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2167128"/>
            <a:ext cx="4663440" cy="1234440"/>
          </a:xfrm>
          <a:prstGeom prst="roundRect">
            <a:avLst>
              <a:gd name="adj" fmla="val 7407"/>
            </a:avLst>
          </a:prstGeom>
          <a:solidFill>
            <a:srgbClr val="181B22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267712"/>
            <a:ext cx="868680" cy="246888"/>
          </a:xfrm>
          <a:prstGeom prst="roundRect">
            <a:avLst>
              <a:gd name="adj" fmla="val 22222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67712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결과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AF0"/>
                </a:solidFill>
              </a:rPr>
              <a:t>파주정수장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AB0"/>
                </a:solidFill>
              </a:rPr>
              <a:t>📍 경기 파주시  |  직선거리 약 3.2km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578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65A82"/>
                </a:solidFill>
              </a:rPr>
              <a:t>[수질 현황 바로보기]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538728"/>
            <a:ext cx="5029200" cy="320040"/>
          </a:xfrm>
          <a:prstGeom prst="rect">
            <a:avLst/>
          </a:prstGeom>
          <a:solidFill>
            <a:srgbClr val="181B22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57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AB0"/>
                </a:solidFill>
              </a:rPr>
              <a:t>  수질  |  유량  |  AI 분석  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105156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60720" y="11247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3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903720" y="112471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신규 파일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43560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KakaoApiClient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AddressService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(Controller 확장)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233172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60720" y="24048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41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903720" y="2404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정수장 커버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7157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전국 모든 정수장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자동 매칭 가능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611880"/>
            <a:ext cx="31089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C0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60720" y="36850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</a:rPr>
              <a:t>1일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6903720" y="3685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4C"/>
                </a:solidFill>
              </a:rPr>
              <a:t>개발 기간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399592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AI 협업으로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A8A"/>
                </a:solidFill>
              </a:rPr>
              <a:t>빠른 구현 완성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핵심 인사이트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BB8"/>
                </a:solidFill>
              </a:rPr>
              <a:t>이번 기능 개발로 얻은 교훈 4가지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0D3D5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15568" y="1252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컨텍스트를 충분히 제공하라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FCE"/>
                </a:solidFill>
              </a:rPr>
              <a:t>"기존 XxxApiClient 패턴과 동일하게" 한 문장이 수십 줄의 설명보다 효과적이었다. 프로젝트 구조를 AI에게 먼저 이해시켜야 한다.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0A3A4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13248" y="1252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점진적으로 구현하라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FCE"/>
                </a:solidFill>
              </a:rPr>
              <a:t>한번에 전체를 요청하지 않고 Client → Service → Controller → Frontend 순서로 레이어별로 요청했다. 검증하며 진행하는 것이 핵심.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0A2E2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🐛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15568" y="29443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오류 메시지를 그대로 붙여넣어라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FCE"/>
                </a:solidFill>
              </a:rPr>
              <a:t>Haversine 라디안 버그 해결 시 오류 로그를 그대로 AI에게 전달했더니 즉시 원인과 수정 코드를 제시했다. 설명 없이도 동작.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69080" cy="1554480"/>
          </a:xfrm>
          <a:prstGeom prst="roundRect">
            <a:avLst>
              <a:gd name="adj" fmla="val 7059"/>
            </a:avLst>
          </a:prstGeom>
          <a:solidFill>
            <a:srgbClr val="1A2A3A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413248" y="294436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결정은 내가, 구현은 AI가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BFCE"/>
                </a:solidFill>
              </a:rPr>
              <a:t>좌표 데이터를 DB에 넣을지 JSON 파일로 할지는 내가 결정했다. AI는 결정된 방향에 맞게 최적의 구현을 제시해줬다.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ABB8"/>
                </a:solidFill>
              </a:rPr>
              <a:t>전체 개발 프로세스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87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문제 인식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사용자 불편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발견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75688" y="1618488"/>
            <a:ext cx="182880" cy="0"/>
          </a:xfrm>
          <a:prstGeom prst="line">
            <a:avLst/>
          </a:prstGeom>
          <a:noFill/>
          <a:ln w="25400">
            <a:solidFill>
              <a:srgbClr val="3A7A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5179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A9A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67712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987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267712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기획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67712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아이디어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구체화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1618488"/>
            <a:ext cx="182880" cy="0"/>
          </a:xfrm>
          <a:prstGeom prst="line">
            <a:avLst/>
          </a:prstGeom>
          <a:noFill/>
          <a:ln w="25400">
            <a:solidFill>
              <a:srgbClr val="3A7A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4176" y="15179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A9A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895344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7A70"/>
          </a:solidFill>
          <a:ln w="12700">
            <a:solidFill>
              <a:srgbClr val="027A7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95344" y="987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95344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요구사항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95344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FR 번호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정의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30952" y="1618488"/>
            <a:ext cx="182880" cy="0"/>
          </a:xfrm>
          <a:prstGeom prst="line">
            <a:avLst/>
          </a:prstGeom>
          <a:noFill/>
          <a:ln w="25400">
            <a:solidFill>
              <a:srgbClr val="3A7A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5179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A9A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22976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6A60"/>
          </a:solidFill>
          <a:ln w="12700">
            <a:solidFill>
              <a:srgbClr val="026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22976" y="987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22976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설계·구현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22976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레이어별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AI 요청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58584" y="1618488"/>
            <a:ext cx="182880" cy="0"/>
          </a:xfrm>
          <a:prstGeom prst="line">
            <a:avLst/>
          </a:prstGeom>
          <a:noFill/>
          <a:ln w="25400">
            <a:solidFill>
              <a:srgbClr val="3A7A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517904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7A9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150608" y="914400"/>
            <a:ext cx="1417320" cy="1417320"/>
          </a:xfrm>
          <a:prstGeom prst="roundRect">
            <a:avLst>
              <a:gd name="adj" fmla="val 7742"/>
            </a:avLst>
          </a:prstGeom>
          <a:solidFill>
            <a:srgbClr val="025A50"/>
          </a:solidFill>
          <a:ln w="12700">
            <a:solidFill>
              <a:srgbClr val="025A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0608" y="9875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50608" y="1417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완성·배포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50608" y="171907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테스트 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D0D8"/>
                </a:solidFill>
              </a:rPr>
              <a:t>머지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274320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816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10단계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4008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AI와 나눈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개발 프로세스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274320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29000" y="2816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3개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42900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신규 추가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소스 파일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274320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0A1E30"/>
          </a:solidFill>
          <a:ln w="12700">
            <a:solidFill>
              <a:srgbClr val="1A4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8163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</a:rPr>
              <a:t>1일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217920" y="33101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아이디어 → 완성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소요 기간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" y="4160520"/>
            <a:ext cx="7955280" cy="685800"/>
          </a:xfrm>
          <a:prstGeom prst="roundRect">
            <a:avLst>
              <a:gd name="adj" fmla="val 13333"/>
            </a:avLst>
          </a:prstGeom>
          <a:solidFill>
            <a:srgbClr val="0A2535"/>
          </a:solidFill>
          <a:ln w="12700">
            <a:solidFill>
              <a:srgbClr val="1A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1605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AI는 도구다.</a:t>
            </a:r>
            <a:pPr algn="ctr" indent="0" marL="0">
              <a:buNone/>
            </a:pPr>
            <a:r>
              <a:rPr lang="en-US" sz="1400" dirty="0">
                <a:solidFill>
                  <a:srgbClr val="A0C8D8"/>
                </a:solidFill>
              </a:rPr>
              <a:t>  아이디어를 내고, 결정을 내리고, 검증하는 건 여전히 사람의 몫.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개선 ① — 카카오맵 지도 버튼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A8A"/>
                </a:solidFill>
              </a:rPr>
              <a:t>"정수장 이름으로는 카카오맵 검색이 안 됩니다" → 좌표 기반 연동으로 개선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2A0A0A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594360" cy="237744"/>
          </a:xfrm>
          <a:prstGeom prst="roundRect">
            <a:avLst>
              <a:gd name="adj" fmla="val 2307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문제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12070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A0A0"/>
                </a:solidFill>
              </a:rPr>
              <a:t>정수장명으로 카카오맵 검색 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A0A0"/>
                </a:solidFill>
              </a:rPr>
              <a:t>위치가 표시되지 않음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</a:rPr>
              <a:t>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0A1E2A"/>
          </a:solidFill>
          <a:ln w="12700">
            <a:solidFill>
              <a:srgbClr val="1A6A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542032"/>
            <a:ext cx="594360" cy="237744"/>
          </a:xfrm>
          <a:prstGeom prst="roundRect">
            <a:avLst>
              <a:gd name="adj" fmla="val 23077"/>
            </a:avLst>
          </a:prstGeom>
          <a:solidFill>
            <a:srgbClr val="027A60"/>
          </a:solidFill>
          <a:ln w="12700">
            <a:solidFill>
              <a:srgbClr val="027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4203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해결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514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D0B8"/>
                </a:solidFill>
              </a:rPr>
              <a:t>facility-mapping.json에 위경도 추가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0D0B8"/>
                </a:solidFill>
              </a:rPr>
              <a:t>→ 카카오맵 좌표 URL로 정확한 위치 표시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0D1B2A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844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8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map.kakao.com/link/map/파주정수장,37.7535,126.7796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43000"/>
            <a:ext cx="3977640" cy="1691640"/>
          </a:xfrm>
          <a:prstGeom prst="roundRect">
            <a:avLst>
              <a:gd name="adj" fmla="val 5405"/>
            </a:avLst>
          </a:prstGeom>
          <a:solidFill>
            <a:srgbClr val="111318"/>
          </a:solidFill>
          <a:ln w="12700">
            <a:solidFill>
              <a:srgbClr val="3A20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34440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5A2020"/>
          </a:solidFill>
          <a:ln w="12700">
            <a:solidFill>
              <a:srgbClr val="5A2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2344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Before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</a:rPr>
              <a:t>파주정수장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572768"/>
            <a:ext cx="1234440" cy="274320"/>
          </a:xfrm>
          <a:prstGeom prst="roundRect">
            <a:avLst>
              <a:gd name="adj" fmla="val 20000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5727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수질 확인하기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1874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0"/>
                </a:solidFill>
              </a:rPr>
              <a:t>수계코드: 318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999232"/>
            <a:ext cx="3977640" cy="1783080"/>
          </a:xfrm>
          <a:prstGeom prst="roundRect">
            <a:avLst>
              <a:gd name="adj" fmla="val 5128"/>
            </a:avLst>
          </a:prstGeom>
          <a:solidFill>
            <a:srgbClr val="111318"/>
          </a:solidFill>
          <a:ln w="12700">
            <a:solidFill>
              <a:srgbClr val="1A6A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090672"/>
            <a:ext cx="822960" cy="228600"/>
          </a:xfrm>
          <a:prstGeom prst="roundRect">
            <a:avLst>
              <a:gd name="adj" fmla="val 24000"/>
            </a:avLst>
          </a:prstGeom>
          <a:solidFill>
            <a:srgbClr val="027A60"/>
          </a:solidFill>
          <a:ln w="12700">
            <a:solidFill>
              <a:srgbClr val="027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0906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After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3364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AF0"/>
                </a:solidFill>
              </a:rPr>
              <a:t>파주정수장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3703320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EE500"/>
          </a:solidFill>
          <a:ln w="12700">
            <a:solidFill>
              <a:srgbClr val="FEE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1E1E"/>
                </a:solidFill>
              </a:rPr>
              <a:t>🗺 지도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703320"/>
            <a:ext cx="1325880" cy="274320"/>
          </a:xfrm>
          <a:prstGeom prst="roundRect">
            <a:avLst>
              <a:gd name="adj" fmla="val 20000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37033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수질 확인하기 →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4069080"/>
            <a:ext cx="137160" cy="137160"/>
          </a:xfrm>
          <a:prstGeom prst="roundRect">
            <a:avLst/>
          </a:prstGeom>
          <a:solidFill>
            <a:srgbClr val="111318"/>
          </a:solidFill>
          <a:ln w="12700">
            <a:solidFill>
              <a:srgbClr val="11131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251960"/>
            <a:ext cx="832104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25196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D8E8"/>
                </a:solidFill>
              </a:rPr>
              <a:t>변경 파일: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facility-mapping.json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AddressService.java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ApiController.java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index.html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개선 ② — 주소·좌표 정보 표시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ABB8"/>
                </a:solidFill>
              </a:rPr>
              <a:t>검색 결과 카드에 위치 정보를 함께 표시해 신뢰도 향상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0E1117"/>
          </a:solidFill>
          <a:ln w="12700">
            <a:solidFill>
              <a:srgbClr val="3ECF7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61872"/>
            <a:ext cx="2286000" cy="237744"/>
          </a:xfrm>
          <a:prstGeom prst="roundRect">
            <a:avLst>
              <a:gd name="adj" fmla="val 23077"/>
            </a:avLst>
          </a:prstGeom>
          <a:solidFill>
            <a:srgbClr val="0A2A1A"/>
          </a:solidFill>
          <a:ln w="12700">
            <a:solidFill>
              <a:srgbClr val="1A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61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CF70"/>
                </a:solidFill>
              </a:rPr>
              <a:t>✓ "파주" 지역 담당 정수장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AF0"/>
                </a:solidFill>
              </a:rPr>
              <a:t>파주정수장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2084832"/>
            <a:ext cx="4800600" cy="310896"/>
          </a:xfrm>
          <a:prstGeom prst="roundRect">
            <a:avLst>
              <a:gd name="adj" fmla="val 17647"/>
            </a:avLst>
          </a:prstGeom>
          <a:solidFill>
            <a:srgbClr val="1A3040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121408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📍  경기도 파주시 적성면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468880"/>
            <a:ext cx="4800600" cy="310896"/>
          </a:xfrm>
          <a:prstGeom prst="roundRect">
            <a:avLst>
              <a:gd name="adj" fmla="val 17647"/>
            </a:avLst>
          </a:prstGeom>
          <a:solidFill>
            <a:srgbClr val="1A3040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05456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🔢  수계코드 318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52928"/>
            <a:ext cx="4800600" cy="310896"/>
          </a:xfrm>
          <a:prstGeom prst="roundRect">
            <a:avLst>
              <a:gd name="adj" fmla="val 17647"/>
            </a:avLst>
          </a:prstGeom>
          <a:solidFill>
            <a:srgbClr val="1A3040"/>
          </a:solidFill>
          <a:ln w="12700">
            <a:solidFill>
              <a:srgbClr val="2327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89504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CD0"/>
                </a:solidFill>
              </a:rPr>
              <a:t>🌐  37.7535, 126.7796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1005840" cy="320040"/>
          </a:xfrm>
          <a:prstGeom prst="roundRect">
            <a:avLst>
              <a:gd name="adj" fmla="val 20000"/>
            </a:avLst>
          </a:prstGeom>
          <a:solidFill>
            <a:srgbClr val="FEE500"/>
          </a:solidFill>
          <a:ln w="12700">
            <a:solidFill>
              <a:srgbClr val="FEE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1E1E"/>
                </a:solidFill>
              </a:rPr>
              <a:t>🗺 지도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83080" y="3337560"/>
            <a:ext cx="1508760" cy="320040"/>
          </a:xfrm>
          <a:prstGeom prst="roundRect">
            <a:avLst>
              <a:gd name="adj" fmla="val 20000"/>
            </a:avLst>
          </a:prstGeom>
          <a:solidFill>
            <a:srgbClr val="E8453C"/>
          </a:solidFill>
          <a:ln w="12700">
            <a:solidFill>
              <a:srgbClr val="E845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83080" y="33375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수질 확인하기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1143000"/>
            <a:ext cx="2971800" cy="804672"/>
          </a:xfrm>
          <a:prstGeom prst="roundRect">
            <a:avLst>
              <a:gd name="adj" fmla="val 11364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88" y="1252728"/>
            <a:ext cx="146304" cy="146304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207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facility-mapping.json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61888" y="15087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41개 정수장 매핑 항목에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"address" 필드 추가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52160" y="2057400"/>
            <a:ext cx="2971800" cy="804672"/>
          </a:xfrm>
          <a:prstGeom prst="roundRect">
            <a:avLst>
              <a:gd name="adj" fmla="val 11364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61888" y="2167128"/>
            <a:ext cx="146304" cy="146304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AddressService.java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61888" y="24231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FacilityMatch record에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address 필드 추가 및 반환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52160" y="2971800"/>
            <a:ext cx="2971800" cy="804672"/>
          </a:xfrm>
          <a:prstGeom prst="roundRect">
            <a:avLst>
              <a:gd name="adj" fmla="val 11364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61888" y="3081528"/>
            <a:ext cx="146304" cy="146304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90488" y="30358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ApiController.java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61888" y="33375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findFacility 응답 Map에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"address" 키 추가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52160" y="3886200"/>
            <a:ext cx="2971800" cy="804672"/>
          </a:xfrm>
          <a:prstGeom prst="roundRect">
            <a:avLst>
              <a:gd name="adj" fmla="val 11364"/>
            </a:avLst>
          </a:prstGeom>
          <a:solidFill>
            <a:srgbClr val="0A1E30"/>
          </a:solidFill>
          <a:ln w="12700">
            <a:solidFill>
              <a:srgbClr val="1A3A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61888" y="3995928"/>
            <a:ext cx="146304" cy="146304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0488" y="3950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61888" y="425196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결과 카드에 .find-match-meta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BBCD0"/>
                </a:solidFill>
              </a:rPr>
              <a:t>뱃지 3개 렌더링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내 정수장 찾기 — AI 협업 개발 사례</dc:title>
  <dc:subject>PptxGenJS Presentation</dc:subject>
  <dc:creator>PptxGenJS</dc:creator>
  <cp:lastModifiedBy>PptxGenJS</cp:lastModifiedBy>
  <cp:revision>1</cp:revision>
  <dcterms:created xsi:type="dcterms:W3CDTF">2026-06-29T07:59:04Z</dcterms:created>
  <dcterms:modified xsi:type="dcterms:W3CDTF">2026-06-29T07:59:04Z</dcterms:modified>
</cp:coreProperties>
</file>