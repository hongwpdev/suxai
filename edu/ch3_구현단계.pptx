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챕터 3 구현 단계를 시작합니다. 챕터 2에서 완성한 설계 문서를 기반으로 실제 코드를 작성합니다. Spring Boot 프로젝트 세팅부터 공공 API 연동, Groq AI 기능, 인메모리 캐시, Vanilla JS 프론트엔드까지 전체 구현 과정을 다룹니다. 예상 소요시간은 120분이며 실습이 포함되어 있습니다. 코드 한 줄 한 줄보다 AI와 협업하는 방법에 집중해주세요.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구현 단계의 5가지 학습 목표입니다. Spring Boot 세팅부터 프론트엔드까지 전체 스택을 다루므로 120분이 필요합니다. 각 목표는 수자이 프로젝트에서 실제로 구현한 내용입니다. 코드 전체를 암기할 필요는 없습니다. AI에게 어떻게 요청하면 원하는 코드를 얻을 수 있는지 방법을 익히는 것이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구현 순서는 프로젝트 세팅 → 공공 API 연동 → 비즈니스 로직 → AI 기능 → 프론트엔드 순입니다. 각 단계에서 AI를 어떻게 활용하는지도 함께 표시했습니다. 설계가 완성된 상태에서 시작하면 각 단계가 독립적으로 진행 가능합니다. 수자이는 이 순서대로 3일 만에 전체 구현을 완료했습니다. 팀원 간 역할을 단계별로 분담하면 효율이 높아집니다.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Boot 프로젝트 세팅은 AI에게 전체 요구사항을 설명하면 패키지 구조와 클래스 스켈레톤을 자동으로 생성해줍니다. 수자이에서는 5개 엔드포인트와 계층 구조를 설명했더니 AI가 30분 만에 기본 구조를 완성해주었습니다. RestTemplate 타임아웃 설정이 중요합니다. K-water API는 sujCode 없이 호출하면 44초가 걸리는데 이를 방어하기 위해 readTimeout을 25초로 설정했습니다. Spring Initializr(start.spring.io)에서 기본 프로젝트를 생성한 후 AI에게 구조를 물어보는 것이 가장 빠릅니다.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K-water 공공 API는 응답 구조가 복잡하고 비일관적입니다. 4단계 중첩 JSON 파싱, 단건/복수 응답 불일치, 빈 문자열 처리, sujCode 필수화가 핵심 이슈입니다. 수자이 개발 중 가장 많은 시간을 투자한 부분이 바로 이 API 파싱이었습니다. AI에게 실제 API 응답 JSON을 붙여넣으면 이 모든 처리 코드를 자동으로 생성해줍니다. 다음 슬라이드에서 실제 방법을 설명합니다.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 가장 효과적인 방법은 Postman으로 API를 직접 호출해서 응답 JSON을 복사하고 AI에게 붙여넣는 것입니다. AI는 복잡한 중첩 구조, 타입 불일치, 날짜 변환을 모두 처리하는 코드를 생성해줍니다. occrrncDt 필드처럼 특이한 날짜 형식도 AI가 변환 코드를 자동으로 작성해줍니다. 공공 API의 비일관성은 개발자가 직접 처리하면 시간이 많이 걸리지만 AI를 활용하면 30분 안에 해결됩니다. 이 방법이 수자이 개발에서 가장 시간을 절약한 AI 활용 사례입니다.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Groq API는 OpenAI와 동일한 요청/응답 형식을 사용합니다. 별도 SDK 없이 RestTemplate으로 바로 호출 가능하다는 것이 큰 장점입니다. API 키는 console.groq.com에서 무료로 발급받을 수 있습니다. 시스템 프롬프트에 한국어 전용과 한자 금지를 명시하는 것이 중요합니다. 그렇지 않으면 AI 출력에 한자가 섞여서 나옵니다. 이것은 수자이 개발 중 실제로 겪은 버그였습니다.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좋은 AI 분석 결과를 얻으려면 프롬프트를 반복적으로 개선해야 합니다. 수자이에서는 v1에서 구조 없는 응답을 받고, v2에서 구조를 지정하고, v3에서 한국어 전용 명시를 추가하여 완성했습니다. 가장 중요한 교훈은 AI에게 출력 형식을 명확하게 지정해야 한다는 것입니다. 한자 금지 명시는 실제로 필요한 설정이었습니다. AI가 수질 관련 전문 용어를 한자로 출력하는 경우가 있기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인메모리 캐시는 외부 의존성 없이 구현할 수 있는 가장 간단한 캐시 방식입니다. ConcurrentHashMap은 멀티스레드 환경에서 안전하게 사용할 수 있습니다. 캐시 키 설계가 핵심입니다. sujCode와 날짜 범위를 모두 포함해야 같은 정수장의 다른 기간 조회에서 잘못된 데이터가 반환되지 않습니다. Groq API는 무료 티어 토큰 한도가 있기 때문에 5분 캐시로 불필요한 호출을 줄입니다. 나중에 트래픽이 늘면 Redis로 교체하면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Vanilla JS 단일 파일 SPA는 React 같은 프레임워크 없이 구현하는 방식입니다. Spring Boot의 static 폴더에 index.html 하나만 배치하면 되므로 배포가 매우 간단합니다. AI에게 UI 컴포넌트를 요청할 때 '위험 항목 빨간색 표시'처럼 구체적인 요구사항을 명시하면 바로 사용 가능한 코드가 나옵니다. 스켈레톤 카드 shimmer 같은 UX 기능도 AI에게 요청하면 쉽게 구현할 수 있습니다. 학습 비용 없이 빠르게 구현할 수 있다는 것이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수자이 개발 중 실제로 발생한 버그 4가지입니다. 이런 버그들은 공공 API의 특성 때문에 발생하는 것이라 경험 없이는 예측하기 어렵습니다. AI에게 에러 메시지와 관련 코드를 함께 붙여넣으면 원인 분석과 해결 방법을 모두 제안해줍니다. 수자이에서는 이 4가지 버그 모두 AI와의 대화로 30분 안에 해결했습니다. 에러 메시지만 붙여넣는 것보다 관련 코드도 함께 제공해야 더 정확한 답변을 얻을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직접 공공 API를 연동해보는 실습 시간입니다. API 신청이 안 된 팀은 강사가 제공하는 샘플 JSON으로 Step 3부터 시작하면 됩니다. AI에게 JSON을 붙여넣을 때 '단건과 복수 응답 모두 처리해줘'라고 명시하는 것이 핵심입니다. 생성된 코드는 바로 사용하지 말고 null 체크와 예외 처리가 있는지 반드시 검토해주세요. 30분 후 팀별로 어떤 이슈가 있었는지 공유해주세요.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2D"/>
        </a:solidFill>
      </p:bgPr>
    </p:bg>
    <p:spTree>
      <p:nvGrpSpPr>
        <p:cNvPr id="1" name=""/>
        <p:cNvGrpSpPr/>
        <p:nvPr/>
      </p:nvGrpSpPr>
      <p:grpSpPr>
        <a:xfrm>
          <a:off x="0" y="0"/>
          <a:ext cx="0" cy="0"/>
          <a:chOff x="0" y="0"/>
          <a:chExt cx="0" cy="0"/>
        </a:xfrm>
      </p:grpSpPr>
      <p:sp>
        <p:nvSpPr>
          <p:cNvPr id="2" name="Shape 0"/>
          <p:cNvSpPr/>
          <p:nvPr/>
        </p:nvSpPr>
        <p:spPr>
          <a:xfrm>
            <a:off x="6583680" y="-1097280"/>
            <a:ext cx="5029200" cy="5029200"/>
          </a:xfrm>
          <a:prstGeom prst="ellipse">
            <a:avLst/>
          </a:prstGeom>
          <a:solidFill>
            <a:srgbClr val="1A3D5C">
              <a:alpha val="35000"/>
            </a:srgbClr>
          </a:solidFill>
          <a:ln w="12700">
            <a:solidFill>
              <a:srgbClr val="1A3D5C">
                <a:alpha val="35000"/>
              </a:srgbClr>
            </a:solidFill>
            <a:prstDash val="solid"/>
          </a:ln>
        </p:spPr>
      </p:sp>
      <p:sp>
        <p:nvSpPr>
          <p:cNvPr id="3" name="Shape 1"/>
          <p:cNvSpPr/>
          <p:nvPr/>
        </p:nvSpPr>
        <p:spPr>
          <a:xfrm>
            <a:off x="-1097280" y="3474720"/>
            <a:ext cx="3474720" cy="3474720"/>
          </a:xfrm>
          <a:prstGeom prst="ellipse">
            <a:avLst/>
          </a:prstGeom>
          <a:solidFill>
            <a:srgbClr val="02C39A">
              <a:alpha val="22000"/>
            </a:srgbClr>
          </a:solidFill>
          <a:ln w="12700">
            <a:solidFill>
              <a:srgbClr val="02C39A">
                <a:alpha val="22000"/>
              </a:srgbClr>
            </a:solidFill>
            <a:prstDash val="solid"/>
          </a:ln>
        </p:spPr>
      </p:sp>
      <p:sp>
        <p:nvSpPr>
          <p:cNvPr id="4" name="Shape 2"/>
          <p:cNvSpPr/>
          <p:nvPr/>
        </p:nvSpPr>
        <p:spPr>
          <a:xfrm>
            <a:off x="7772400" y="3474720"/>
            <a:ext cx="2011680" cy="2011680"/>
          </a:xfrm>
          <a:prstGeom prst="ellipse">
            <a:avLst/>
          </a:prstGeom>
          <a:solidFill>
            <a:srgbClr val="028090">
              <a:alpha val="30000"/>
            </a:srgbClr>
          </a:solidFill>
          <a:ln w="12700">
            <a:solidFill>
              <a:srgbClr val="028090">
                <a:alpha val="30000"/>
              </a:srgbClr>
            </a:solidFill>
            <a:prstDash val="solid"/>
          </a:ln>
        </p:spPr>
      </p:sp>
      <p:sp>
        <p:nvSpPr>
          <p:cNvPr id="5" name="Text 3"/>
          <p:cNvSpPr/>
          <p:nvPr/>
        </p:nvSpPr>
        <p:spPr>
          <a:xfrm>
            <a:off x="640080" y="1097280"/>
            <a:ext cx="7863840" cy="1097280"/>
          </a:xfrm>
          <a:prstGeom prst="rect">
            <a:avLst/>
          </a:prstGeom>
          <a:noFill/>
          <a:ln/>
        </p:spPr>
        <p:txBody>
          <a:bodyPr wrap="square"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Chapter 3  /  구현 단계</a:t>
            </a:r>
            <a:endParaRPr lang="en-US" sz="4000" dirty="0"/>
          </a:p>
        </p:txBody>
      </p:sp>
      <p:sp>
        <p:nvSpPr>
          <p:cNvPr id="6" name="Text 4"/>
          <p:cNvSpPr/>
          <p:nvPr/>
        </p:nvSpPr>
        <p:spPr>
          <a:xfrm>
            <a:off x="640080" y="2286000"/>
            <a:ext cx="7863840" cy="640080"/>
          </a:xfrm>
          <a:prstGeom prst="rect">
            <a:avLst/>
          </a:prstGeom>
          <a:noFill/>
          <a:ln/>
        </p:spPr>
        <p:txBody>
          <a:bodyPr wrap="square" rtlCol="0" anchor="ctr"/>
          <a:lstStyle/>
          <a:p>
            <a:pPr algn="l" indent="0" marL="0">
              <a:buNone/>
            </a:pPr>
            <a:r>
              <a:rPr lang="en-US" sz="1800" dirty="0">
                <a:solidFill>
                  <a:srgbClr val="A8C8D8"/>
                </a:solidFill>
                <a:latin typeface="Calibri" pitchFamily="34" charset="0"/>
                <a:ea typeface="Calibri" pitchFamily="34" charset="-122"/>
                <a:cs typeface="Calibri" pitchFamily="34" charset="-120"/>
              </a:rPr>
              <a:t>설계를 코드로 — 공공 API 연동부터 AI 기능까지</a:t>
            </a:r>
            <a:endParaRPr lang="en-US" sz="1800" dirty="0"/>
          </a:p>
        </p:txBody>
      </p:sp>
      <p:sp>
        <p:nvSpPr>
          <p:cNvPr id="7" name="Text 5"/>
          <p:cNvSpPr/>
          <p:nvPr/>
        </p:nvSpPr>
        <p:spPr>
          <a:xfrm>
            <a:off x="640080" y="4114800"/>
            <a:ext cx="7863840" cy="457200"/>
          </a:xfrm>
          <a:prstGeom prst="rect">
            <a:avLst/>
          </a:prstGeom>
          <a:noFill/>
          <a:ln/>
        </p:spPr>
        <p:txBody>
          <a:bodyPr wrap="square" rtlCol="0" anchor="ctr"/>
          <a:lstStyle/>
          <a:p>
            <a:pPr algn="l" indent="0" marL="0">
              <a:buNone/>
            </a:pPr>
            <a:r>
              <a:rPr lang="en-US" sz="1100" i="1" dirty="0">
                <a:solidFill>
                  <a:srgbClr val="02C39A"/>
                </a:solidFill>
                <a:latin typeface="Calibri" pitchFamily="34" charset="0"/>
                <a:ea typeface="Calibri" pitchFamily="34" charset="-122"/>
                <a:cs typeface="Calibri" pitchFamily="34" charset="-120"/>
              </a:rPr>
              <a:t>Spring Boot  ·  공공 API  ·  Groq AI  ·  캐시  ·  프론트엔드</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D5C"/>
          </a:solidFill>
          <a:ln w="12700">
            <a:solidFill>
              <a:srgbClr val="1A3D5C"/>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이번 챕터 학습 목표</a:t>
            </a:r>
            <a:endParaRPr lang="en-US" sz="2200" dirty="0"/>
          </a:p>
        </p:txBody>
      </p:sp>
      <p:sp>
        <p:nvSpPr>
          <p:cNvPr id="4" name="Shape 2"/>
          <p:cNvSpPr/>
          <p:nvPr/>
        </p:nvSpPr>
        <p:spPr>
          <a:xfrm>
            <a:off x="457200" y="1143000"/>
            <a:ext cx="8229600" cy="566928"/>
          </a:xfrm>
          <a:prstGeom prst="roundRect">
            <a:avLst>
              <a:gd name="adj" fmla="val 12903"/>
            </a:avLst>
          </a:prstGeom>
          <a:solidFill>
            <a:srgbClr val="F0F7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5" name="Text 3"/>
          <p:cNvSpPr/>
          <p:nvPr/>
        </p:nvSpPr>
        <p:spPr>
          <a:xfrm>
            <a:off x="640080" y="1170432"/>
            <a:ext cx="7863840" cy="512064"/>
          </a:xfrm>
          <a:prstGeom prst="rect">
            <a:avLst/>
          </a:prstGeom>
          <a:noFill/>
          <a:ln/>
        </p:spPr>
        <p:txBody>
          <a:bodyPr wrap="square" rtlCol="0" anchor="ctr"/>
          <a:lstStyle/>
          <a:p>
            <a:pPr indent="0" marL="0">
              <a:buNone/>
            </a:pPr>
            <a:r>
              <a:rPr lang="en-US" sz="1300" dirty="0">
                <a:solidFill>
                  <a:srgbClr val="1A2B3C"/>
                </a:solidFill>
                <a:latin typeface="Calibri" pitchFamily="34" charset="0"/>
                <a:ea typeface="Calibri" pitchFamily="34" charset="-122"/>
                <a:cs typeface="Calibri" pitchFamily="34" charset="-120"/>
              </a:rPr>
              <a:t>① Spring Boot 프로젝트 구조를 AI 도움으로 빠르게 세팅한다</a:t>
            </a:r>
            <a:endParaRPr lang="en-US" sz="1300" dirty="0"/>
          </a:p>
        </p:txBody>
      </p:sp>
      <p:sp>
        <p:nvSpPr>
          <p:cNvPr id="6" name="Shape 4"/>
          <p:cNvSpPr/>
          <p:nvPr/>
        </p:nvSpPr>
        <p:spPr>
          <a:xfrm>
            <a:off x="457200" y="1856232"/>
            <a:ext cx="8229600" cy="566928"/>
          </a:xfrm>
          <a:prstGeom prst="roundRect">
            <a:avLst>
              <a:gd name="adj" fmla="val 12903"/>
            </a:avLst>
          </a:prstGeom>
          <a:solidFill>
            <a:srgbClr val="E8F4F8"/>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7" name="Text 5"/>
          <p:cNvSpPr/>
          <p:nvPr/>
        </p:nvSpPr>
        <p:spPr>
          <a:xfrm>
            <a:off x="640080" y="1883664"/>
            <a:ext cx="7863840" cy="512064"/>
          </a:xfrm>
          <a:prstGeom prst="rect">
            <a:avLst/>
          </a:prstGeom>
          <a:noFill/>
          <a:ln/>
        </p:spPr>
        <p:txBody>
          <a:bodyPr wrap="square" rtlCol="0" anchor="ctr"/>
          <a:lstStyle/>
          <a:p>
            <a:pPr indent="0" marL="0">
              <a:buNone/>
            </a:pPr>
            <a:r>
              <a:rPr lang="en-US" sz="1300" dirty="0">
                <a:solidFill>
                  <a:srgbClr val="1A2B3C"/>
                </a:solidFill>
                <a:latin typeface="Calibri" pitchFamily="34" charset="0"/>
                <a:ea typeface="Calibri" pitchFamily="34" charset="-122"/>
                <a:cs typeface="Calibri" pitchFamily="34" charset="-120"/>
              </a:rPr>
              <a:t>② K-water 공공 API를 연동하고 중첩 JSON 파싱 문제를 해결한다</a:t>
            </a:r>
            <a:endParaRPr lang="en-US" sz="1300" dirty="0"/>
          </a:p>
        </p:txBody>
      </p:sp>
      <p:sp>
        <p:nvSpPr>
          <p:cNvPr id="8" name="Shape 6"/>
          <p:cNvSpPr/>
          <p:nvPr/>
        </p:nvSpPr>
        <p:spPr>
          <a:xfrm>
            <a:off x="457200" y="2569464"/>
            <a:ext cx="8229600" cy="566928"/>
          </a:xfrm>
          <a:prstGeom prst="roundRect">
            <a:avLst>
              <a:gd name="adj" fmla="val 12903"/>
            </a:avLst>
          </a:prstGeom>
          <a:solidFill>
            <a:srgbClr val="F0F7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9" name="Text 7"/>
          <p:cNvSpPr/>
          <p:nvPr/>
        </p:nvSpPr>
        <p:spPr>
          <a:xfrm>
            <a:off x="640080" y="2596896"/>
            <a:ext cx="7863840" cy="512064"/>
          </a:xfrm>
          <a:prstGeom prst="rect">
            <a:avLst/>
          </a:prstGeom>
          <a:noFill/>
          <a:ln/>
        </p:spPr>
        <p:txBody>
          <a:bodyPr wrap="square" rtlCol="0" anchor="ctr"/>
          <a:lstStyle/>
          <a:p>
            <a:pPr indent="0" marL="0">
              <a:buNone/>
            </a:pPr>
            <a:r>
              <a:rPr lang="en-US" sz="1300" dirty="0">
                <a:solidFill>
                  <a:srgbClr val="1A2B3C"/>
                </a:solidFill>
                <a:latin typeface="Calibri" pitchFamily="34" charset="0"/>
                <a:ea typeface="Calibri" pitchFamily="34" charset="-122"/>
                <a:cs typeface="Calibri" pitchFamily="34" charset="-120"/>
              </a:rPr>
              <a:t>③ Groq AI API를 연동하여 수질 분석 기능을 구현한다</a:t>
            </a:r>
            <a:endParaRPr lang="en-US" sz="1300" dirty="0"/>
          </a:p>
        </p:txBody>
      </p:sp>
      <p:sp>
        <p:nvSpPr>
          <p:cNvPr id="10" name="Shape 8"/>
          <p:cNvSpPr/>
          <p:nvPr/>
        </p:nvSpPr>
        <p:spPr>
          <a:xfrm>
            <a:off x="457200" y="3282696"/>
            <a:ext cx="8229600" cy="566928"/>
          </a:xfrm>
          <a:prstGeom prst="roundRect">
            <a:avLst>
              <a:gd name="adj" fmla="val 12903"/>
            </a:avLst>
          </a:prstGeom>
          <a:solidFill>
            <a:srgbClr val="E8F4F8"/>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11" name="Text 9"/>
          <p:cNvSpPr/>
          <p:nvPr/>
        </p:nvSpPr>
        <p:spPr>
          <a:xfrm>
            <a:off x="640080" y="3310128"/>
            <a:ext cx="7863840" cy="512064"/>
          </a:xfrm>
          <a:prstGeom prst="rect">
            <a:avLst/>
          </a:prstGeom>
          <a:noFill/>
          <a:ln/>
        </p:spPr>
        <p:txBody>
          <a:bodyPr wrap="square" rtlCol="0" anchor="ctr"/>
          <a:lstStyle/>
          <a:p>
            <a:pPr indent="0" marL="0">
              <a:buNone/>
            </a:pPr>
            <a:r>
              <a:rPr lang="en-US" sz="1300" dirty="0">
                <a:solidFill>
                  <a:srgbClr val="1A2B3C"/>
                </a:solidFill>
                <a:latin typeface="Calibri" pitchFamily="34" charset="0"/>
                <a:ea typeface="Calibri" pitchFamily="34" charset="-122"/>
                <a:cs typeface="Calibri" pitchFamily="34" charset="-120"/>
              </a:rPr>
              <a:t>④ ConcurrentHashMap으로 인메모리 캐시를 구현한다</a:t>
            </a:r>
            <a:endParaRPr lang="en-US" sz="1300" dirty="0"/>
          </a:p>
        </p:txBody>
      </p:sp>
      <p:sp>
        <p:nvSpPr>
          <p:cNvPr id="12" name="Shape 10"/>
          <p:cNvSpPr/>
          <p:nvPr/>
        </p:nvSpPr>
        <p:spPr>
          <a:xfrm>
            <a:off x="457200" y="3995928"/>
            <a:ext cx="8229600" cy="566928"/>
          </a:xfrm>
          <a:prstGeom prst="roundRect">
            <a:avLst>
              <a:gd name="adj" fmla="val 12903"/>
            </a:avLst>
          </a:prstGeom>
          <a:solidFill>
            <a:srgbClr val="F0F7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13" name="Text 11"/>
          <p:cNvSpPr/>
          <p:nvPr/>
        </p:nvSpPr>
        <p:spPr>
          <a:xfrm>
            <a:off x="640080" y="4023360"/>
            <a:ext cx="7863840" cy="512064"/>
          </a:xfrm>
          <a:prstGeom prst="rect">
            <a:avLst/>
          </a:prstGeom>
          <a:noFill/>
          <a:ln/>
        </p:spPr>
        <p:txBody>
          <a:bodyPr wrap="square" rtlCol="0" anchor="ctr"/>
          <a:lstStyle/>
          <a:p>
            <a:pPr indent="0" marL="0">
              <a:buNone/>
            </a:pPr>
            <a:r>
              <a:rPr lang="en-US" sz="1300" dirty="0">
                <a:solidFill>
                  <a:srgbClr val="1A2B3C"/>
                </a:solidFill>
                <a:latin typeface="Calibri" pitchFamily="34" charset="0"/>
                <a:ea typeface="Calibri" pitchFamily="34" charset="-122"/>
                <a:cs typeface="Calibri" pitchFamily="34" charset="-120"/>
              </a:rPr>
              <a:t>⑤ Vanilla JS로 단일 파일 SPA 프론트엔드를 구현한다</a:t>
            </a:r>
            <a:endParaRPr lang="en-US" sz="1300" dirty="0"/>
          </a:p>
        </p:txBody>
      </p:sp>
      <p:sp>
        <p:nvSpPr>
          <p:cNvPr id="14" name="Shape 12"/>
          <p:cNvSpPr/>
          <p:nvPr/>
        </p:nvSpPr>
        <p:spPr>
          <a:xfrm>
            <a:off x="457200" y="4663440"/>
            <a:ext cx="8229600" cy="320040"/>
          </a:xfrm>
          <a:prstGeom prst="roundRect">
            <a:avLst>
              <a:gd name="adj" fmla="val 17143"/>
            </a:avLst>
          </a:prstGeom>
          <a:solidFill>
            <a:srgbClr val="02C39A">
              <a:alpha val="15000"/>
            </a:srgbClr>
          </a:solidFill>
          <a:ln w="12700">
            <a:solidFill>
              <a:srgbClr val="02C39A"/>
            </a:solidFill>
            <a:prstDash val="solid"/>
          </a:ln>
        </p:spPr>
      </p:sp>
      <p:sp>
        <p:nvSpPr>
          <p:cNvPr id="15" name="Text 13"/>
          <p:cNvSpPr/>
          <p:nvPr/>
        </p:nvSpPr>
        <p:spPr>
          <a:xfrm>
            <a:off x="640080" y="4663440"/>
            <a:ext cx="7863840" cy="320040"/>
          </a:xfrm>
          <a:prstGeom prst="rect">
            <a:avLst/>
          </a:prstGeom>
          <a:noFill/>
          <a:ln/>
        </p:spPr>
        <p:txBody>
          <a:bodyPr wrap="square" rtlCol="0" anchor="ctr"/>
          <a:lstStyle/>
          <a:p>
            <a:pPr indent="0" marL="0">
              <a:buNone/>
            </a:pPr>
            <a:r>
              <a:rPr lang="en-US" sz="1100" b="1" dirty="0">
                <a:solidFill>
                  <a:srgbClr val="1A3D5C"/>
                </a:solidFill>
                <a:latin typeface="Calibri" pitchFamily="34" charset="0"/>
                <a:ea typeface="Calibri" pitchFamily="34" charset="-122"/>
                <a:cs typeface="Calibri" pitchFamily="34" charset="-120"/>
              </a:rPr>
              <a:t>예상 소요시간: 120분 (실습 포함)</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D5C"/>
          </a:solidFill>
          <a:ln w="12700">
            <a:solidFill>
              <a:srgbClr val="1A3D5C"/>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구현 단계의 순서</a:t>
            </a:r>
            <a:endParaRPr lang="en-US" sz="2200" dirty="0"/>
          </a:p>
        </p:txBody>
      </p:sp>
      <p:sp>
        <p:nvSpPr>
          <p:cNvPr id="4" name="Shape 2"/>
          <p:cNvSpPr/>
          <p:nvPr/>
        </p:nvSpPr>
        <p:spPr>
          <a:xfrm>
            <a:off x="274320" y="1097280"/>
            <a:ext cx="1554480" cy="3749040"/>
          </a:xfrm>
          <a:prstGeom prst="roundRect">
            <a:avLst>
              <a:gd name="adj" fmla="val 7059"/>
            </a:avLst>
          </a:prstGeom>
          <a:solidFill>
            <a:srgbClr val="F0F7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5" name="Shape 3"/>
          <p:cNvSpPr/>
          <p:nvPr/>
        </p:nvSpPr>
        <p:spPr>
          <a:xfrm>
            <a:off x="822960" y="1188720"/>
            <a:ext cx="502920" cy="502920"/>
          </a:xfrm>
          <a:prstGeom prst="ellipse">
            <a:avLst/>
          </a:prstGeom>
          <a:solidFill>
            <a:srgbClr val="1A3D5C"/>
          </a:solidFill>
          <a:ln w="12700">
            <a:solidFill>
              <a:srgbClr val="1A3D5C"/>
            </a:solidFill>
            <a:prstDash val="solid"/>
          </a:ln>
        </p:spPr>
      </p:sp>
      <p:sp>
        <p:nvSpPr>
          <p:cNvPr id="6" name="Text 4"/>
          <p:cNvSpPr/>
          <p:nvPr/>
        </p:nvSpPr>
        <p:spPr>
          <a:xfrm>
            <a:off x="822960" y="118872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320040" y="1783080"/>
            <a:ext cx="1463040" cy="502920"/>
          </a:xfrm>
          <a:prstGeom prst="rect">
            <a:avLst/>
          </a:prstGeom>
          <a:noFill/>
          <a:ln/>
        </p:spPr>
        <p:txBody>
          <a:bodyPr wrap="square" rtlCol="0" anchor="ctr"/>
          <a:lstStyle/>
          <a:p>
            <a:pPr algn="ctr" indent="0" marL="0">
              <a:buNone/>
            </a:pPr>
            <a:r>
              <a:rPr lang="en-US" sz="1100" b="1" dirty="0">
                <a:solidFill>
                  <a:srgbClr val="1A2B3C"/>
                </a:solidFill>
                <a:latin typeface="Calibri" pitchFamily="34" charset="0"/>
                <a:ea typeface="Calibri" pitchFamily="34" charset="-122"/>
                <a:cs typeface="Calibri" pitchFamily="34" charset="-120"/>
              </a:rPr>
              <a:t>프로젝트 세팅</a:t>
            </a:r>
            <a:endParaRPr lang="en-US" sz="1100" dirty="0"/>
          </a:p>
        </p:txBody>
      </p:sp>
      <p:sp>
        <p:nvSpPr>
          <p:cNvPr id="8" name="Shape 6"/>
          <p:cNvSpPr/>
          <p:nvPr/>
        </p:nvSpPr>
        <p:spPr>
          <a:xfrm>
            <a:off x="457200" y="2377440"/>
            <a:ext cx="1188720" cy="292608"/>
          </a:xfrm>
          <a:prstGeom prst="roundRect">
            <a:avLst>
              <a:gd name="adj" fmla="val 21875"/>
            </a:avLst>
          </a:prstGeom>
          <a:solidFill>
            <a:srgbClr val="1A3D5C">
              <a:alpha val="15000"/>
            </a:srgbClr>
          </a:solidFill>
          <a:ln w="12700">
            <a:solidFill>
              <a:srgbClr val="1A3D5C"/>
            </a:solidFill>
            <a:prstDash val="solid"/>
          </a:ln>
        </p:spPr>
      </p:sp>
      <p:sp>
        <p:nvSpPr>
          <p:cNvPr id="9" name="Text 7"/>
          <p:cNvSpPr/>
          <p:nvPr/>
        </p:nvSpPr>
        <p:spPr>
          <a:xfrm>
            <a:off x="457200" y="2377440"/>
            <a:ext cx="1188720" cy="292608"/>
          </a:xfrm>
          <a:prstGeom prst="rect">
            <a:avLst/>
          </a:prstGeom>
          <a:noFill/>
          <a:ln/>
        </p:spPr>
        <p:txBody>
          <a:bodyPr wrap="square" rtlCol="0" anchor="ctr"/>
          <a:lstStyle/>
          <a:p>
            <a:pPr algn="ctr" indent="0" marL="0">
              <a:buNone/>
            </a:pPr>
            <a:r>
              <a:rPr lang="en-US" sz="1000" b="1" dirty="0">
                <a:solidFill>
                  <a:srgbClr val="1A3D5C"/>
                </a:solidFill>
                <a:latin typeface="Calibri" pitchFamily="34" charset="0"/>
                <a:ea typeface="Calibri" pitchFamily="34" charset="-122"/>
                <a:cs typeface="Calibri" pitchFamily="34" charset="-120"/>
              </a:rPr>
              <a:t>⏱ 20분</a:t>
            </a:r>
            <a:endParaRPr lang="en-US" sz="1000" dirty="0"/>
          </a:p>
        </p:txBody>
      </p:sp>
      <p:sp>
        <p:nvSpPr>
          <p:cNvPr id="10" name="Text 8"/>
          <p:cNvSpPr/>
          <p:nvPr/>
        </p:nvSpPr>
        <p:spPr>
          <a:xfrm>
            <a:off x="347472" y="2788920"/>
            <a:ext cx="1408176" cy="256032"/>
          </a:xfrm>
          <a:prstGeom prst="rect">
            <a:avLst/>
          </a:prstGeom>
          <a:noFill/>
          <a:ln/>
        </p:spPr>
        <p:txBody>
          <a:bodyPr wrap="square"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AI 활용:</a:t>
            </a:r>
            <a:endParaRPr lang="en-US" sz="950" dirty="0"/>
          </a:p>
        </p:txBody>
      </p:sp>
      <p:sp>
        <p:nvSpPr>
          <p:cNvPr id="11" name="Text 9"/>
          <p:cNvSpPr/>
          <p:nvPr/>
        </p:nvSpPr>
        <p:spPr>
          <a:xfrm>
            <a:off x="320040" y="3063240"/>
            <a:ext cx="1463040" cy="731520"/>
          </a:xfrm>
          <a:prstGeom prst="rect">
            <a:avLst/>
          </a:prstGeom>
          <a:noFill/>
          <a:ln/>
        </p:spPr>
        <p:txBody>
          <a:bodyPr wrap="square" rtlCol="0" anchor="ctr"/>
          <a:lstStyle/>
          <a:p>
            <a:pPr algn="ctr" indent="0" marL="0">
              <a:buNone/>
            </a:pPr>
            <a:r>
              <a:rPr lang="en-US" sz="950" dirty="0">
                <a:solidFill>
                  <a:srgbClr val="4A6A80"/>
                </a:solidFill>
                <a:latin typeface="Calibri" pitchFamily="34" charset="0"/>
                <a:ea typeface="Calibri" pitchFamily="34" charset="-122"/>
                <a:cs typeface="Calibri" pitchFamily="34" charset="-120"/>
              </a:rPr>
              <a:t>패키지 구조 생성</a:t>
            </a:r>
            <a:endParaRPr lang="en-US" sz="950" dirty="0"/>
          </a:p>
        </p:txBody>
      </p:sp>
      <p:sp>
        <p:nvSpPr>
          <p:cNvPr id="12" name="Text 10"/>
          <p:cNvSpPr/>
          <p:nvPr/>
        </p:nvSpPr>
        <p:spPr>
          <a:xfrm>
            <a:off x="1828800" y="2560320"/>
            <a:ext cx="182880" cy="320040"/>
          </a:xfrm>
          <a:prstGeom prst="rect">
            <a:avLst/>
          </a:prstGeom>
          <a:noFill/>
          <a:ln/>
        </p:spPr>
        <p:txBody>
          <a:bodyPr wrap="square" rtlCol="0" anchor="ctr"/>
          <a:lstStyle/>
          <a:p>
            <a:pPr algn="ctr" indent="0" marL="0">
              <a:buNone/>
            </a:pPr>
            <a:r>
              <a:rPr lang="en-US" sz="1600" dirty="0">
                <a:solidFill>
                  <a:srgbClr val="1A3D5C"/>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2011680" y="1097280"/>
            <a:ext cx="1554480" cy="3749040"/>
          </a:xfrm>
          <a:prstGeom prst="roundRect">
            <a:avLst>
              <a:gd name="adj" fmla="val 7059"/>
            </a:avLst>
          </a:prstGeom>
          <a:solidFill>
            <a:srgbClr val="F0F7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14" name="Shape 12"/>
          <p:cNvSpPr/>
          <p:nvPr/>
        </p:nvSpPr>
        <p:spPr>
          <a:xfrm>
            <a:off x="2560320" y="1188720"/>
            <a:ext cx="502920" cy="502920"/>
          </a:xfrm>
          <a:prstGeom prst="ellipse">
            <a:avLst/>
          </a:prstGeom>
          <a:solidFill>
            <a:srgbClr val="1A3D5C"/>
          </a:solidFill>
          <a:ln w="12700">
            <a:solidFill>
              <a:srgbClr val="1A3D5C"/>
            </a:solidFill>
            <a:prstDash val="solid"/>
          </a:ln>
        </p:spPr>
      </p:sp>
      <p:sp>
        <p:nvSpPr>
          <p:cNvPr id="15" name="Text 13"/>
          <p:cNvSpPr/>
          <p:nvPr/>
        </p:nvSpPr>
        <p:spPr>
          <a:xfrm>
            <a:off x="2560320" y="118872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2057400" y="1783080"/>
            <a:ext cx="1463040" cy="502920"/>
          </a:xfrm>
          <a:prstGeom prst="rect">
            <a:avLst/>
          </a:prstGeom>
          <a:noFill/>
          <a:ln/>
        </p:spPr>
        <p:txBody>
          <a:bodyPr wrap="square" rtlCol="0" anchor="ctr"/>
          <a:lstStyle/>
          <a:p>
            <a:pPr algn="ctr" indent="0" marL="0">
              <a:buNone/>
            </a:pPr>
            <a:r>
              <a:rPr lang="en-US" sz="1100" b="1" dirty="0">
                <a:solidFill>
                  <a:srgbClr val="1A2B3C"/>
                </a:solidFill>
                <a:latin typeface="Calibri" pitchFamily="34" charset="0"/>
                <a:ea typeface="Calibri" pitchFamily="34" charset="-122"/>
                <a:cs typeface="Calibri" pitchFamily="34" charset="-120"/>
              </a:rPr>
              <a:t>공공 API 연동</a:t>
            </a:r>
            <a:endParaRPr lang="en-US" sz="1100" dirty="0"/>
          </a:p>
        </p:txBody>
      </p:sp>
      <p:sp>
        <p:nvSpPr>
          <p:cNvPr id="17" name="Shape 15"/>
          <p:cNvSpPr/>
          <p:nvPr/>
        </p:nvSpPr>
        <p:spPr>
          <a:xfrm>
            <a:off x="2194560" y="2377440"/>
            <a:ext cx="1188720" cy="292608"/>
          </a:xfrm>
          <a:prstGeom prst="roundRect">
            <a:avLst>
              <a:gd name="adj" fmla="val 21875"/>
            </a:avLst>
          </a:prstGeom>
          <a:solidFill>
            <a:srgbClr val="1A3D5C">
              <a:alpha val="15000"/>
            </a:srgbClr>
          </a:solidFill>
          <a:ln w="12700">
            <a:solidFill>
              <a:srgbClr val="1A3D5C"/>
            </a:solidFill>
            <a:prstDash val="solid"/>
          </a:ln>
        </p:spPr>
      </p:sp>
      <p:sp>
        <p:nvSpPr>
          <p:cNvPr id="18" name="Text 16"/>
          <p:cNvSpPr/>
          <p:nvPr/>
        </p:nvSpPr>
        <p:spPr>
          <a:xfrm>
            <a:off x="2194560" y="2377440"/>
            <a:ext cx="1188720" cy="292608"/>
          </a:xfrm>
          <a:prstGeom prst="rect">
            <a:avLst/>
          </a:prstGeom>
          <a:noFill/>
          <a:ln/>
        </p:spPr>
        <p:txBody>
          <a:bodyPr wrap="square" rtlCol="0" anchor="ctr"/>
          <a:lstStyle/>
          <a:p>
            <a:pPr algn="ctr" indent="0" marL="0">
              <a:buNone/>
            </a:pPr>
            <a:r>
              <a:rPr lang="en-US" sz="1000" b="1" dirty="0">
                <a:solidFill>
                  <a:srgbClr val="1A3D5C"/>
                </a:solidFill>
                <a:latin typeface="Calibri" pitchFamily="34" charset="0"/>
                <a:ea typeface="Calibri" pitchFamily="34" charset="-122"/>
                <a:cs typeface="Calibri" pitchFamily="34" charset="-120"/>
              </a:rPr>
              <a:t>⏱ 30분</a:t>
            </a:r>
            <a:endParaRPr lang="en-US" sz="1000" dirty="0"/>
          </a:p>
        </p:txBody>
      </p:sp>
      <p:sp>
        <p:nvSpPr>
          <p:cNvPr id="19" name="Text 17"/>
          <p:cNvSpPr/>
          <p:nvPr/>
        </p:nvSpPr>
        <p:spPr>
          <a:xfrm>
            <a:off x="2084832" y="2788920"/>
            <a:ext cx="1408176" cy="256032"/>
          </a:xfrm>
          <a:prstGeom prst="rect">
            <a:avLst/>
          </a:prstGeom>
          <a:noFill/>
          <a:ln/>
        </p:spPr>
        <p:txBody>
          <a:bodyPr wrap="square"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AI 활용:</a:t>
            </a:r>
            <a:endParaRPr lang="en-US" sz="950" dirty="0"/>
          </a:p>
        </p:txBody>
      </p:sp>
      <p:sp>
        <p:nvSpPr>
          <p:cNvPr id="20" name="Text 18"/>
          <p:cNvSpPr/>
          <p:nvPr/>
        </p:nvSpPr>
        <p:spPr>
          <a:xfrm>
            <a:off x="2057400" y="3063240"/>
            <a:ext cx="1463040" cy="731520"/>
          </a:xfrm>
          <a:prstGeom prst="rect">
            <a:avLst/>
          </a:prstGeom>
          <a:noFill/>
          <a:ln/>
        </p:spPr>
        <p:txBody>
          <a:bodyPr wrap="square" rtlCol="0" anchor="ctr"/>
          <a:lstStyle/>
          <a:p>
            <a:pPr algn="ctr" indent="0" marL="0">
              <a:buNone/>
            </a:pPr>
            <a:r>
              <a:rPr lang="en-US" sz="950" dirty="0">
                <a:solidFill>
                  <a:srgbClr val="4A6A80"/>
                </a:solidFill>
                <a:latin typeface="Calibri" pitchFamily="34" charset="0"/>
                <a:ea typeface="Calibri" pitchFamily="34" charset="-122"/>
                <a:cs typeface="Calibri" pitchFamily="34" charset="-120"/>
              </a:rPr>
              <a:t>JSON 파싱 코드 자동 생성</a:t>
            </a:r>
            <a:endParaRPr lang="en-US" sz="950" dirty="0"/>
          </a:p>
        </p:txBody>
      </p:sp>
      <p:sp>
        <p:nvSpPr>
          <p:cNvPr id="21" name="Text 19"/>
          <p:cNvSpPr/>
          <p:nvPr/>
        </p:nvSpPr>
        <p:spPr>
          <a:xfrm>
            <a:off x="3566160" y="2560320"/>
            <a:ext cx="182880" cy="320040"/>
          </a:xfrm>
          <a:prstGeom prst="rect">
            <a:avLst/>
          </a:prstGeom>
          <a:noFill/>
          <a:ln/>
        </p:spPr>
        <p:txBody>
          <a:bodyPr wrap="square" rtlCol="0" anchor="ctr"/>
          <a:lstStyle/>
          <a:p>
            <a:pPr algn="ctr" indent="0" marL="0">
              <a:buNone/>
            </a:pPr>
            <a:r>
              <a:rPr lang="en-US" sz="1600" dirty="0">
                <a:solidFill>
                  <a:srgbClr val="1A3D5C"/>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3749040" y="1097280"/>
            <a:ext cx="1554480" cy="3749040"/>
          </a:xfrm>
          <a:prstGeom prst="roundRect">
            <a:avLst>
              <a:gd name="adj" fmla="val 7059"/>
            </a:avLst>
          </a:prstGeom>
          <a:solidFill>
            <a:srgbClr val="F0F7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23" name="Shape 21"/>
          <p:cNvSpPr/>
          <p:nvPr/>
        </p:nvSpPr>
        <p:spPr>
          <a:xfrm>
            <a:off x="4297680" y="1188720"/>
            <a:ext cx="502920" cy="502920"/>
          </a:xfrm>
          <a:prstGeom prst="ellipse">
            <a:avLst/>
          </a:prstGeom>
          <a:solidFill>
            <a:srgbClr val="1A3D5C"/>
          </a:solidFill>
          <a:ln w="12700">
            <a:solidFill>
              <a:srgbClr val="1A3D5C"/>
            </a:solidFill>
            <a:prstDash val="solid"/>
          </a:ln>
        </p:spPr>
      </p:sp>
      <p:sp>
        <p:nvSpPr>
          <p:cNvPr id="24" name="Text 22"/>
          <p:cNvSpPr/>
          <p:nvPr/>
        </p:nvSpPr>
        <p:spPr>
          <a:xfrm>
            <a:off x="4297680" y="118872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5" name="Text 23"/>
          <p:cNvSpPr/>
          <p:nvPr/>
        </p:nvSpPr>
        <p:spPr>
          <a:xfrm>
            <a:off x="3794760" y="1783080"/>
            <a:ext cx="1463040" cy="502920"/>
          </a:xfrm>
          <a:prstGeom prst="rect">
            <a:avLst/>
          </a:prstGeom>
          <a:noFill/>
          <a:ln/>
        </p:spPr>
        <p:txBody>
          <a:bodyPr wrap="square" rtlCol="0" anchor="ctr"/>
          <a:lstStyle/>
          <a:p>
            <a:pPr algn="ctr" indent="0" marL="0">
              <a:buNone/>
            </a:pPr>
            <a:r>
              <a:rPr lang="en-US" sz="1100" b="1" dirty="0">
                <a:solidFill>
                  <a:srgbClr val="1A2B3C"/>
                </a:solidFill>
                <a:latin typeface="Calibri" pitchFamily="34" charset="0"/>
                <a:ea typeface="Calibri" pitchFamily="34" charset="-122"/>
                <a:cs typeface="Calibri" pitchFamily="34" charset="-120"/>
              </a:rPr>
              <a:t>비즈니스 로직</a:t>
            </a:r>
            <a:endParaRPr lang="en-US" sz="1100" dirty="0"/>
          </a:p>
        </p:txBody>
      </p:sp>
      <p:sp>
        <p:nvSpPr>
          <p:cNvPr id="26" name="Shape 24"/>
          <p:cNvSpPr/>
          <p:nvPr/>
        </p:nvSpPr>
        <p:spPr>
          <a:xfrm>
            <a:off x="3931920" y="2377440"/>
            <a:ext cx="1188720" cy="292608"/>
          </a:xfrm>
          <a:prstGeom prst="roundRect">
            <a:avLst>
              <a:gd name="adj" fmla="val 21875"/>
            </a:avLst>
          </a:prstGeom>
          <a:solidFill>
            <a:srgbClr val="1A3D5C">
              <a:alpha val="15000"/>
            </a:srgbClr>
          </a:solidFill>
          <a:ln w="12700">
            <a:solidFill>
              <a:srgbClr val="1A3D5C"/>
            </a:solidFill>
            <a:prstDash val="solid"/>
          </a:ln>
        </p:spPr>
      </p:sp>
      <p:sp>
        <p:nvSpPr>
          <p:cNvPr id="27" name="Text 25"/>
          <p:cNvSpPr/>
          <p:nvPr/>
        </p:nvSpPr>
        <p:spPr>
          <a:xfrm>
            <a:off x="3931920" y="2377440"/>
            <a:ext cx="1188720" cy="292608"/>
          </a:xfrm>
          <a:prstGeom prst="rect">
            <a:avLst/>
          </a:prstGeom>
          <a:noFill/>
          <a:ln/>
        </p:spPr>
        <p:txBody>
          <a:bodyPr wrap="square" rtlCol="0" anchor="ctr"/>
          <a:lstStyle/>
          <a:p>
            <a:pPr algn="ctr" indent="0" marL="0">
              <a:buNone/>
            </a:pPr>
            <a:r>
              <a:rPr lang="en-US" sz="1000" b="1" dirty="0">
                <a:solidFill>
                  <a:srgbClr val="1A3D5C"/>
                </a:solidFill>
                <a:latin typeface="Calibri" pitchFamily="34" charset="0"/>
                <a:ea typeface="Calibri" pitchFamily="34" charset="-122"/>
                <a:cs typeface="Calibri" pitchFamily="34" charset="-120"/>
              </a:rPr>
              <a:t>⏱ 25분</a:t>
            </a:r>
            <a:endParaRPr lang="en-US" sz="1000" dirty="0"/>
          </a:p>
        </p:txBody>
      </p:sp>
      <p:sp>
        <p:nvSpPr>
          <p:cNvPr id="28" name="Text 26"/>
          <p:cNvSpPr/>
          <p:nvPr/>
        </p:nvSpPr>
        <p:spPr>
          <a:xfrm>
            <a:off x="3822192" y="2788920"/>
            <a:ext cx="1408176" cy="256032"/>
          </a:xfrm>
          <a:prstGeom prst="rect">
            <a:avLst/>
          </a:prstGeom>
          <a:noFill/>
          <a:ln/>
        </p:spPr>
        <p:txBody>
          <a:bodyPr wrap="square"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AI 활용:</a:t>
            </a:r>
            <a:endParaRPr lang="en-US" sz="950" dirty="0"/>
          </a:p>
        </p:txBody>
      </p:sp>
      <p:sp>
        <p:nvSpPr>
          <p:cNvPr id="29" name="Text 27"/>
          <p:cNvSpPr/>
          <p:nvPr/>
        </p:nvSpPr>
        <p:spPr>
          <a:xfrm>
            <a:off x="3794760" y="3063240"/>
            <a:ext cx="1463040" cy="731520"/>
          </a:xfrm>
          <a:prstGeom prst="rect">
            <a:avLst/>
          </a:prstGeom>
          <a:noFill/>
          <a:ln/>
        </p:spPr>
        <p:txBody>
          <a:bodyPr wrap="square" rtlCol="0" anchor="ctr"/>
          <a:lstStyle/>
          <a:p>
            <a:pPr algn="ctr" indent="0" marL="0">
              <a:buNone/>
            </a:pPr>
            <a:r>
              <a:rPr lang="en-US" sz="950" dirty="0">
                <a:solidFill>
                  <a:srgbClr val="4A6A80"/>
                </a:solidFill>
                <a:latin typeface="Calibri" pitchFamily="34" charset="0"/>
                <a:ea typeface="Calibri" pitchFamily="34" charset="-122"/>
                <a:cs typeface="Calibri" pitchFamily="34" charset="-120"/>
              </a:rPr>
              <a:t>캐시 패턴 구현</a:t>
            </a:r>
            <a:endParaRPr lang="en-US" sz="950" dirty="0"/>
          </a:p>
        </p:txBody>
      </p:sp>
      <p:sp>
        <p:nvSpPr>
          <p:cNvPr id="30" name="Text 28"/>
          <p:cNvSpPr/>
          <p:nvPr/>
        </p:nvSpPr>
        <p:spPr>
          <a:xfrm>
            <a:off x="5303520" y="2560320"/>
            <a:ext cx="182880" cy="320040"/>
          </a:xfrm>
          <a:prstGeom prst="rect">
            <a:avLst/>
          </a:prstGeom>
          <a:noFill/>
          <a:ln/>
        </p:spPr>
        <p:txBody>
          <a:bodyPr wrap="square" rtlCol="0" anchor="ctr"/>
          <a:lstStyle/>
          <a:p>
            <a:pPr algn="ctr" indent="0" marL="0">
              <a:buNone/>
            </a:pPr>
            <a:r>
              <a:rPr lang="en-US" sz="1600" dirty="0">
                <a:solidFill>
                  <a:srgbClr val="1A3D5C"/>
                </a:solidFill>
                <a:latin typeface="Calibri" pitchFamily="34" charset="0"/>
                <a:ea typeface="Calibri" pitchFamily="34" charset="-122"/>
                <a:cs typeface="Calibri" pitchFamily="34" charset="-120"/>
              </a:rPr>
              <a:t>→</a:t>
            </a:r>
            <a:endParaRPr lang="en-US" sz="1600" dirty="0"/>
          </a:p>
        </p:txBody>
      </p:sp>
      <p:sp>
        <p:nvSpPr>
          <p:cNvPr id="31" name="Shape 29"/>
          <p:cNvSpPr/>
          <p:nvPr/>
        </p:nvSpPr>
        <p:spPr>
          <a:xfrm>
            <a:off x="5486400" y="1097280"/>
            <a:ext cx="1554480" cy="3749040"/>
          </a:xfrm>
          <a:prstGeom prst="roundRect">
            <a:avLst>
              <a:gd name="adj" fmla="val 7059"/>
            </a:avLst>
          </a:prstGeom>
          <a:solidFill>
            <a:srgbClr val="F0F7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32" name="Shape 30"/>
          <p:cNvSpPr/>
          <p:nvPr/>
        </p:nvSpPr>
        <p:spPr>
          <a:xfrm>
            <a:off x="6035040" y="1188720"/>
            <a:ext cx="502920" cy="502920"/>
          </a:xfrm>
          <a:prstGeom prst="ellipse">
            <a:avLst/>
          </a:prstGeom>
          <a:solidFill>
            <a:srgbClr val="1A3D5C"/>
          </a:solidFill>
          <a:ln w="12700">
            <a:solidFill>
              <a:srgbClr val="1A3D5C"/>
            </a:solidFill>
            <a:prstDash val="solid"/>
          </a:ln>
        </p:spPr>
      </p:sp>
      <p:sp>
        <p:nvSpPr>
          <p:cNvPr id="33" name="Text 31"/>
          <p:cNvSpPr/>
          <p:nvPr/>
        </p:nvSpPr>
        <p:spPr>
          <a:xfrm>
            <a:off x="6035040" y="118872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4" name="Text 32"/>
          <p:cNvSpPr/>
          <p:nvPr/>
        </p:nvSpPr>
        <p:spPr>
          <a:xfrm>
            <a:off x="5532120" y="1783080"/>
            <a:ext cx="1463040" cy="502920"/>
          </a:xfrm>
          <a:prstGeom prst="rect">
            <a:avLst/>
          </a:prstGeom>
          <a:noFill/>
          <a:ln/>
        </p:spPr>
        <p:txBody>
          <a:bodyPr wrap="square" rtlCol="0" anchor="ctr"/>
          <a:lstStyle/>
          <a:p>
            <a:pPr algn="ctr" indent="0" marL="0">
              <a:buNone/>
            </a:pPr>
            <a:r>
              <a:rPr lang="en-US" sz="1100" b="1" dirty="0">
                <a:solidFill>
                  <a:srgbClr val="1A2B3C"/>
                </a:solidFill>
                <a:latin typeface="Calibri" pitchFamily="34" charset="0"/>
                <a:ea typeface="Calibri" pitchFamily="34" charset="-122"/>
                <a:cs typeface="Calibri" pitchFamily="34" charset="-120"/>
              </a:rPr>
              <a:t>AI 기능 (Groq)</a:t>
            </a:r>
            <a:endParaRPr lang="en-US" sz="1100" dirty="0"/>
          </a:p>
        </p:txBody>
      </p:sp>
      <p:sp>
        <p:nvSpPr>
          <p:cNvPr id="35" name="Shape 33"/>
          <p:cNvSpPr/>
          <p:nvPr/>
        </p:nvSpPr>
        <p:spPr>
          <a:xfrm>
            <a:off x="5669280" y="2377440"/>
            <a:ext cx="1188720" cy="292608"/>
          </a:xfrm>
          <a:prstGeom prst="roundRect">
            <a:avLst>
              <a:gd name="adj" fmla="val 21875"/>
            </a:avLst>
          </a:prstGeom>
          <a:solidFill>
            <a:srgbClr val="1A3D5C">
              <a:alpha val="15000"/>
            </a:srgbClr>
          </a:solidFill>
          <a:ln w="12700">
            <a:solidFill>
              <a:srgbClr val="1A3D5C"/>
            </a:solidFill>
            <a:prstDash val="solid"/>
          </a:ln>
        </p:spPr>
      </p:sp>
      <p:sp>
        <p:nvSpPr>
          <p:cNvPr id="36" name="Text 34"/>
          <p:cNvSpPr/>
          <p:nvPr/>
        </p:nvSpPr>
        <p:spPr>
          <a:xfrm>
            <a:off x="5669280" y="2377440"/>
            <a:ext cx="1188720" cy="292608"/>
          </a:xfrm>
          <a:prstGeom prst="rect">
            <a:avLst/>
          </a:prstGeom>
          <a:noFill/>
          <a:ln/>
        </p:spPr>
        <p:txBody>
          <a:bodyPr wrap="square" rtlCol="0" anchor="ctr"/>
          <a:lstStyle/>
          <a:p>
            <a:pPr algn="ctr" indent="0" marL="0">
              <a:buNone/>
            </a:pPr>
            <a:r>
              <a:rPr lang="en-US" sz="1000" b="1" dirty="0">
                <a:solidFill>
                  <a:srgbClr val="1A3D5C"/>
                </a:solidFill>
                <a:latin typeface="Calibri" pitchFamily="34" charset="0"/>
                <a:ea typeface="Calibri" pitchFamily="34" charset="-122"/>
                <a:cs typeface="Calibri" pitchFamily="34" charset="-120"/>
              </a:rPr>
              <a:t>⏱ 20분</a:t>
            </a:r>
            <a:endParaRPr lang="en-US" sz="1000" dirty="0"/>
          </a:p>
        </p:txBody>
      </p:sp>
      <p:sp>
        <p:nvSpPr>
          <p:cNvPr id="37" name="Text 35"/>
          <p:cNvSpPr/>
          <p:nvPr/>
        </p:nvSpPr>
        <p:spPr>
          <a:xfrm>
            <a:off x="5559552" y="2788920"/>
            <a:ext cx="1408176" cy="256032"/>
          </a:xfrm>
          <a:prstGeom prst="rect">
            <a:avLst/>
          </a:prstGeom>
          <a:noFill/>
          <a:ln/>
        </p:spPr>
        <p:txBody>
          <a:bodyPr wrap="square"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AI 활용:</a:t>
            </a:r>
            <a:endParaRPr lang="en-US" sz="950" dirty="0"/>
          </a:p>
        </p:txBody>
      </p:sp>
      <p:sp>
        <p:nvSpPr>
          <p:cNvPr id="38" name="Text 36"/>
          <p:cNvSpPr/>
          <p:nvPr/>
        </p:nvSpPr>
        <p:spPr>
          <a:xfrm>
            <a:off x="5532120" y="3063240"/>
            <a:ext cx="1463040" cy="731520"/>
          </a:xfrm>
          <a:prstGeom prst="rect">
            <a:avLst/>
          </a:prstGeom>
          <a:noFill/>
          <a:ln/>
        </p:spPr>
        <p:txBody>
          <a:bodyPr wrap="square" rtlCol="0" anchor="ctr"/>
          <a:lstStyle/>
          <a:p>
            <a:pPr algn="ctr" indent="0" marL="0">
              <a:buNone/>
            </a:pPr>
            <a:r>
              <a:rPr lang="en-US" sz="950" dirty="0">
                <a:solidFill>
                  <a:srgbClr val="4A6A80"/>
                </a:solidFill>
                <a:latin typeface="Calibri" pitchFamily="34" charset="0"/>
                <a:ea typeface="Calibri" pitchFamily="34" charset="-122"/>
                <a:cs typeface="Calibri" pitchFamily="34" charset="-120"/>
              </a:rPr>
              <a:t>프롬프트 엔지니어링</a:t>
            </a:r>
            <a:endParaRPr lang="en-US" sz="950" dirty="0"/>
          </a:p>
        </p:txBody>
      </p:sp>
      <p:sp>
        <p:nvSpPr>
          <p:cNvPr id="39" name="Text 37"/>
          <p:cNvSpPr/>
          <p:nvPr/>
        </p:nvSpPr>
        <p:spPr>
          <a:xfrm>
            <a:off x="7040880" y="2560320"/>
            <a:ext cx="182880" cy="320040"/>
          </a:xfrm>
          <a:prstGeom prst="rect">
            <a:avLst/>
          </a:prstGeom>
          <a:noFill/>
          <a:ln/>
        </p:spPr>
        <p:txBody>
          <a:bodyPr wrap="square" rtlCol="0" anchor="ctr"/>
          <a:lstStyle/>
          <a:p>
            <a:pPr algn="ctr" indent="0" marL="0">
              <a:buNone/>
            </a:pPr>
            <a:r>
              <a:rPr lang="en-US" sz="1600" dirty="0">
                <a:solidFill>
                  <a:srgbClr val="1A3D5C"/>
                </a:solidFill>
                <a:latin typeface="Calibri" pitchFamily="34" charset="0"/>
                <a:ea typeface="Calibri" pitchFamily="34" charset="-122"/>
                <a:cs typeface="Calibri" pitchFamily="34" charset="-120"/>
              </a:rPr>
              <a:t>→</a:t>
            </a:r>
            <a:endParaRPr lang="en-US" sz="1600" dirty="0"/>
          </a:p>
        </p:txBody>
      </p:sp>
      <p:sp>
        <p:nvSpPr>
          <p:cNvPr id="40" name="Shape 38"/>
          <p:cNvSpPr/>
          <p:nvPr/>
        </p:nvSpPr>
        <p:spPr>
          <a:xfrm>
            <a:off x="7223760" y="1097280"/>
            <a:ext cx="1554480" cy="3749040"/>
          </a:xfrm>
          <a:prstGeom prst="roundRect">
            <a:avLst>
              <a:gd name="adj" fmla="val 7059"/>
            </a:avLst>
          </a:prstGeom>
          <a:solidFill>
            <a:srgbClr val="F0F7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41" name="Shape 39"/>
          <p:cNvSpPr/>
          <p:nvPr/>
        </p:nvSpPr>
        <p:spPr>
          <a:xfrm>
            <a:off x="7772400" y="1188720"/>
            <a:ext cx="502920" cy="502920"/>
          </a:xfrm>
          <a:prstGeom prst="ellipse">
            <a:avLst/>
          </a:prstGeom>
          <a:solidFill>
            <a:srgbClr val="1A3D5C"/>
          </a:solidFill>
          <a:ln w="12700">
            <a:solidFill>
              <a:srgbClr val="1A3D5C"/>
            </a:solidFill>
            <a:prstDash val="solid"/>
          </a:ln>
        </p:spPr>
      </p:sp>
      <p:sp>
        <p:nvSpPr>
          <p:cNvPr id="42" name="Text 40"/>
          <p:cNvSpPr/>
          <p:nvPr/>
        </p:nvSpPr>
        <p:spPr>
          <a:xfrm>
            <a:off x="7772400" y="1188720"/>
            <a:ext cx="502920" cy="50292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3" name="Text 41"/>
          <p:cNvSpPr/>
          <p:nvPr/>
        </p:nvSpPr>
        <p:spPr>
          <a:xfrm>
            <a:off x="7269480" y="1783080"/>
            <a:ext cx="1463040" cy="502920"/>
          </a:xfrm>
          <a:prstGeom prst="rect">
            <a:avLst/>
          </a:prstGeom>
          <a:noFill/>
          <a:ln/>
        </p:spPr>
        <p:txBody>
          <a:bodyPr wrap="square" rtlCol="0" anchor="ctr"/>
          <a:lstStyle/>
          <a:p>
            <a:pPr algn="ctr" indent="0" marL="0">
              <a:buNone/>
            </a:pPr>
            <a:r>
              <a:rPr lang="en-US" sz="1100" b="1" dirty="0">
                <a:solidFill>
                  <a:srgbClr val="1A2B3C"/>
                </a:solidFill>
                <a:latin typeface="Calibri" pitchFamily="34" charset="0"/>
                <a:ea typeface="Calibri" pitchFamily="34" charset="-122"/>
                <a:cs typeface="Calibri" pitchFamily="34" charset="-120"/>
              </a:rPr>
              <a:t>프론트엔드</a:t>
            </a:r>
            <a:endParaRPr lang="en-US" sz="1100" dirty="0"/>
          </a:p>
        </p:txBody>
      </p:sp>
      <p:sp>
        <p:nvSpPr>
          <p:cNvPr id="44" name="Shape 42"/>
          <p:cNvSpPr/>
          <p:nvPr/>
        </p:nvSpPr>
        <p:spPr>
          <a:xfrm>
            <a:off x="7406640" y="2377440"/>
            <a:ext cx="1188720" cy="292608"/>
          </a:xfrm>
          <a:prstGeom prst="roundRect">
            <a:avLst>
              <a:gd name="adj" fmla="val 21875"/>
            </a:avLst>
          </a:prstGeom>
          <a:solidFill>
            <a:srgbClr val="1A3D5C">
              <a:alpha val="15000"/>
            </a:srgbClr>
          </a:solidFill>
          <a:ln w="12700">
            <a:solidFill>
              <a:srgbClr val="1A3D5C"/>
            </a:solidFill>
            <a:prstDash val="solid"/>
          </a:ln>
        </p:spPr>
      </p:sp>
      <p:sp>
        <p:nvSpPr>
          <p:cNvPr id="45" name="Text 43"/>
          <p:cNvSpPr/>
          <p:nvPr/>
        </p:nvSpPr>
        <p:spPr>
          <a:xfrm>
            <a:off x="7406640" y="2377440"/>
            <a:ext cx="1188720" cy="292608"/>
          </a:xfrm>
          <a:prstGeom prst="rect">
            <a:avLst/>
          </a:prstGeom>
          <a:noFill/>
          <a:ln/>
        </p:spPr>
        <p:txBody>
          <a:bodyPr wrap="square" rtlCol="0" anchor="ctr"/>
          <a:lstStyle/>
          <a:p>
            <a:pPr algn="ctr" indent="0" marL="0">
              <a:buNone/>
            </a:pPr>
            <a:r>
              <a:rPr lang="en-US" sz="1000" b="1" dirty="0">
                <a:solidFill>
                  <a:srgbClr val="1A3D5C"/>
                </a:solidFill>
                <a:latin typeface="Calibri" pitchFamily="34" charset="0"/>
                <a:ea typeface="Calibri" pitchFamily="34" charset="-122"/>
                <a:cs typeface="Calibri" pitchFamily="34" charset="-120"/>
              </a:rPr>
              <a:t>⏱ 25분</a:t>
            </a:r>
            <a:endParaRPr lang="en-US" sz="1000" dirty="0"/>
          </a:p>
        </p:txBody>
      </p:sp>
      <p:sp>
        <p:nvSpPr>
          <p:cNvPr id="46" name="Text 44"/>
          <p:cNvSpPr/>
          <p:nvPr/>
        </p:nvSpPr>
        <p:spPr>
          <a:xfrm>
            <a:off x="7296912" y="2788920"/>
            <a:ext cx="1408176" cy="256032"/>
          </a:xfrm>
          <a:prstGeom prst="rect">
            <a:avLst/>
          </a:prstGeom>
          <a:noFill/>
          <a:ln/>
        </p:spPr>
        <p:txBody>
          <a:bodyPr wrap="square" rtlCol="0" anchor="ctr"/>
          <a:lstStyle/>
          <a:p>
            <a:pPr algn="ctr" indent="0" marL="0">
              <a:buNone/>
            </a:pPr>
            <a:r>
              <a:rPr lang="en-US" sz="950" b="1" dirty="0">
                <a:solidFill>
                  <a:srgbClr val="02C39A"/>
                </a:solidFill>
                <a:latin typeface="Calibri" pitchFamily="34" charset="0"/>
                <a:ea typeface="Calibri" pitchFamily="34" charset="-122"/>
                <a:cs typeface="Calibri" pitchFamily="34" charset="-120"/>
              </a:rPr>
              <a:t>AI 활용:</a:t>
            </a:r>
            <a:endParaRPr lang="en-US" sz="950" dirty="0"/>
          </a:p>
        </p:txBody>
      </p:sp>
      <p:sp>
        <p:nvSpPr>
          <p:cNvPr id="47" name="Text 45"/>
          <p:cNvSpPr/>
          <p:nvPr/>
        </p:nvSpPr>
        <p:spPr>
          <a:xfrm>
            <a:off x="7269480" y="3063240"/>
            <a:ext cx="1463040" cy="731520"/>
          </a:xfrm>
          <a:prstGeom prst="rect">
            <a:avLst/>
          </a:prstGeom>
          <a:noFill/>
          <a:ln/>
        </p:spPr>
        <p:txBody>
          <a:bodyPr wrap="square" rtlCol="0" anchor="ctr"/>
          <a:lstStyle/>
          <a:p>
            <a:pPr algn="ctr" indent="0" marL="0">
              <a:buNone/>
            </a:pPr>
            <a:r>
              <a:rPr lang="en-US" sz="950" dirty="0">
                <a:solidFill>
                  <a:srgbClr val="4A6A80"/>
                </a:solidFill>
                <a:latin typeface="Calibri" pitchFamily="34" charset="0"/>
                <a:ea typeface="Calibri" pitchFamily="34" charset="-122"/>
                <a:cs typeface="Calibri" pitchFamily="34" charset="-120"/>
              </a:rPr>
              <a:t>UI 컴포넌트 생성</a:t>
            </a:r>
            <a:endParaRPr lang="en-US" sz="950" dirty="0"/>
          </a:p>
        </p:txBody>
      </p:sp>
      <p:sp>
        <p:nvSpPr>
          <p:cNvPr id="48" name="Shape 46"/>
          <p:cNvSpPr/>
          <p:nvPr/>
        </p:nvSpPr>
        <p:spPr>
          <a:xfrm>
            <a:off x="274320" y="4754880"/>
            <a:ext cx="8595360" cy="274320"/>
          </a:xfrm>
          <a:prstGeom prst="roundRect">
            <a:avLst>
              <a:gd name="adj" fmla="val 20000"/>
            </a:avLst>
          </a:prstGeom>
          <a:solidFill>
            <a:srgbClr val="E8F7F4"/>
          </a:solidFill>
          <a:ln w="12700">
            <a:solidFill>
              <a:srgbClr val="02C39A"/>
            </a:solidFill>
            <a:prstDash val="solid"/>
          </a:ln>
        </p:spPr>
      </p:sp>
      <p:sp>
        <p:nvSpPr>
          <p:cNvPr id="49" name="Text 47"/>
          <p:cNvSpPr/>
          <p:nvPr/>
        </p:nvSpPr>
        <p:spPr>
          <a:xfrm>
            <a:off x="457200" y="4754880"/>
            <a:ext cx="8321040" cy="274320"/>
          </a:xfrm>
          <a:prstGeom prst="rect">
            <a:avLst/>
          </a:prstGeom>
          <a:noFill/>
          <a:ln/>
        </p:spPr>
        <p:txBody>
          <a:bodyPr wrap="square" rtlCol="0" anchor="ctr"/>
          <a:lstStyle/>
          <a:p>
            <a:pPr indent="0" marL="0">
              <a:buNone/>
            </a:pPr>
            <a:r>
              <a:rPr lang="en-US" sz="1050" b="1" dirty="0">
                <a:solidFill>
                  <a:srgbClr val="016A6A"/>
                </a:solidFill>
                <a:latin typeface="Calibri" pitchFamily="34" charset="0"/>
                <a:ea typeface="Calibri" pitchFamily="34" charset="-122"/>
                <a:cs typeface="Calibri" pitchFamily="34" charset="-120"/>
              </a:rPr>
              <a:t>설계가 잘 되어 있으면 구현은 빠르다 — 수자이 전체 구현에 3일 소요</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D5C"/>
          </a:solidFill>
          <a:ln w="12700">
            <a:solidFill>
              <a:srgbClr val="1A3D5C"/>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AI로 Spring Boot 프로젝트 빠르게 세팅하기</a:t>
            </a:r>
            <a:endParaRPr lang="en-US" sz="2000" dirty="0"/>
          </a:p>
        </p:txBody>
      </p:sp>
      <p:sp>
        <p:nvSpPr>
          <p:cNvPr id="4" name="Text 2"/>
          <p:cNvSpPr/>
          <p:nvPr/>
        </p:nvSpPr>
        <p:spPr>
          <a:xfrm>
            <a:off x="274320" y="987552"/>
            <a:ext cx="3931920" cy="274320"/>
          </a:xfrm>
          <a:prstGeom prst="rect">
            <a:avLst/>
          </a:prstGeom>
          <a:noFill/>
          <a:ln/>
        </p:spPr>
        <p:txBody>
          <a:bodyPr wrap="square" rtlCol="0" anchor="ctr"/>
          <a:lstStyle/>
          <a:p>
            <a:pPr indent="0" marL="0">
              <a:buNone/>
            </a:pPr>
            <a:r>
              <a:rPr lang="en-US" sz="1200" b="1" dirty="0">
                <a:solidFill>
                  <a:srgbClr val="1A3D5C"/>
                </a:solidFill>
                <a:latin typeface="Calibri" pitchFamily="34" charset="0"/>
                <a:ea typeface="Calibri" pitchFamily="34" charset="-122"/>
                <a:cs typeface="Calibri" pitchFamily="34" charset="-120"/>
              </a:rPr>
              <a:t>pom.xml 주요 의존성</a:t>
            </a:r>
            <a:endParaRPr lang="en-US" sz="1200" dirty="0"/>
          </a:p>
        </p:txBody>
      </p:sp>
      <p:sp>
        <p:nvSpPr>
          <p:cNvPr id="5" name="Shape 3"/>
          <p:cNvSpPr/>
          <p:nvPr/>
        </p:nvSpPr>
        <p:spPr>
          <a:xfrm>
            <a:off x="274320" y="1298448"/>
            <a:ext cx="4023360" cy="2651760"/>
          </a:xfrm>
          <a:prstGeom prst="roundRect">
            <a:avLst>
              <a:gd name="adj" fmla="val 3448"/>
            </a:avLst>
          </a:prstGeom>
          <a:solidFill>
            <a:srgbClr val="0D1F2D"/>
          </a:solidFill>
          <a:ln w="12700">
            <a:solidFill>
              <a:srgbClr val="1A3D5C"/>
            </a:solidFill>
            <a:prstDash val="solid"/>
          </a:ln>
        </p:spPr>
      </p:sp>
      <p:sp>
        <p:nvSpPr>
          <p:cNvPr id="6" name="Text 4"/>
          <p:cNvSpPr/>
          <p:nvPr/>
        </p:nvSpPr>
        <p:spPr>
          <a:xfrm>
            <a:off x="411480" y="1389888"/>
            <a:ext cx="3749040" cy="2468880"/>
          </a:xfrm>
          <a:prstGeom prst="rect">
            <a:avLst/>
          </a:prstGeom>
          <a:noFill/>
          <a:ln/>
        </p:spPr>
        <p:txBody>
          <a:bodyPr wrap="square" rtlCol="0" anchor="t"/>
          <a:lstStyle/>
          <a:p>
            <a:pPr indent="0" marL="0">
              <a:buNone/>
            </a:pPr>
            <a:r>
              <a:rPr lang="en-US" sz="1000" dirty="0">
                <a:solidFill>
                  <a:srgbClr val="A8D8E0"/>
                </a:solidFill>
                <a:latin typeface="Courier New" pitchFamily="34" charset="0"/>
                <a:ea typeface="Courier New" pitchFamily="34" charset="-122"/>
                <a:cs typeface="Courier New" pitchFamily="34" charset="-120"/>
              </a:rPr>
              <a:t>spring-boot-starter-web</a:t>
            </a:r>
            <a:endParaRPr lang="en-US" sz="1000" dirty="0"/>
          </a:p>
          <a:p>
            <a:pPr indent="0" marL="0">
              <a:buNone/>
            </a:pPr>
            <a:r>
              <a:rPr lang="en-US" sz="1000" dirty="0">
                <a:solidFill>
                  <a:srgbClr val="A8D8E0"/>
                </a:solidFill>
                <a:latin typeface="Courier New" pitchFamily="34" charset="0"/>
                <a:ea typeface="Courier New" pitchFamily="34" charset="-122"/>
                <a:cs typeface="Courier New" pitchFamily="34" charset="-120"/>
              </a:rPr>
              <a:t>spring-boot-starter-test</a:t>
            </a:r>
            <a:endParaRPr lang="en-US" sz="1000" dirty="0"/>
          </a:p>
          <a:p>
            <a:pPr indent="0" marL="0">
              <a:buNone/>
            </a:pPr>
            <a:r>
              <a:rPr lang="en-US" sz="1000" dirty="0">
                <a:solidFill>
                  <a:srgbClr val="A8D8E0"/>
                </a:solidFill>
                <a:latin typeface="Courier New" pitchFamily="34" charset="0"/>
                <a:ea typeface="Courier New" pitchFamily="34" charset="-122"/>
                <a:cs typeface="Courier New" pitchFamily="34" charset="-120"/>
              </a:rPr>
              <a:t>jackson-databind</a:t>
            </a:r>
            <a:endParaRPr lang="en-US" sz="1000" dirty="0"/>
          </a:p>
          <a:p>
            <a:pPr indent="0" marL="0">
              <a:buNone/>
            </a:pPr>
            <a:r>
              <a:rPr lang="en-US" sz="1000" dirty="0">
                <a:solidFill>
                  <a:srgbClr val="A8D8E0"/>
                </a:solidFill>
                <a:latin typeface="Courier New" pitchFamily="34" charset="0"/>
                <a:ea typeface="Courier New" pitchFamily="34" charset="-122"/>
                <a:cs typeface="Courier New" pitchFamily="34" charset="-120"/>
              </a:rPr>
              <a:t>lombok</a:t>
            </a:r>
            <a:endParaRPr lang="en-US" sz="1000" dirty="0"/>
          </a:p>
          <a:p>
            <a:pPr indent="0" marL="0">
              <a:buNone/>
            </a:pPr>
            <a:r>
              <a:rPr lang="en-US" sz="1000" dirty="0">
                <a:solidFill>
                  <a:srgbClr val="A8D8E0"/>
                </a:solidFill>
                <a:latin typeface="Courier New" pitchFamily="34" charset="0"/>
                <a:ea typeface="Courier New" pitchFamily="34" charset="-122"/>
                <a:cs typeface="Courier New" pitchFamily="34" charset="-120"/>
              </a:rPr>
              <a:t>spring-boot-devtools</a:t>
            </a:r>
            <a:endParaRPr lang="en-US" sz="1000" dirty="0"/>
          </a:p>
          <a:p>
            <a:pPr indent="0" marL="0">
              <a:buNone/>
            </a:pPr>
            <a:endParaRPr lang="en-US" sz="1000" dirty="0"/>
          </a:p>
          <a:p>
            <a:pPr indent="0" marL="0">
              <a:buNone/>
            </a:pPr>
            <a:r>
              <a:rPr lang="en-US" sz="1000" dirty="0">
                <a:solidFill>
                  <a:srgbClr val="A8D8E0"/>
                </a:solidFill>
                <a:latin typeface="Courier New" pitchFamily="34" charset="0"/>
                <a:ea typeface="Courier New" pitchFamily="34" charset="-122"/>
                <a:cs typeface="Courier New" pitchFamily="34" charset="-120"/>
              </a:rPr>
              <a:t>Java 17  |  Spring Boot 3.3</a:t>
            </a:r>
            <a:endParaRPr lang="en-US" sz="1000" dirty="0"/>
          </a:p>
          <a:p>
            <a:pPr indent="0" marL="0">
              <a:buNone/>
            </a:pPr>
            <a:r>
              <a:rPr lang="en-US" sz="1000" dirty="0">
                <a:solidFill>
                  <a:srgbClr val="A8D8E0"/>
                </a:solidFill>
                <a:latin typeface="Courier New" pitchFamily="34" charset="0"/>
                <a:ea typeface="Courier New" pitchFamily="34" charset="-122"/>
                <a:cs typeface="Courier New" pitchFamily="34" charset="-120"/>
              </a:rPr>
              <a:t>Maven  |  packaging: jar</a:t>
            </a:r>
            <a:endParaRPr lang="en-US" sz="1000" dirty="0"/>
          </a:p>
        </p:txBody>
      </p:sp>
      <p:sp>
        <p:nvSpPr>
          <p:cNvPr id="7" name="Text 5"/>
          <p:cNvSpPr/>
          <p:nvPr/>
        </p:nvSpPr>
        <p:spPr>
          <a:xfrm>
            <a:off x="4480560" y="987552"/>
            <a:ext cx="4389120" cy="274320"/>
          </a:xfrm>
          <a:prstGeom prst="rect">
            <a:avLst/>
          </a:prstGeom>
          <a:noFill/>
          <a:ln/>
        </p:spPr>
        <p:txBody>
          <a:bodyPr wrap="square" rtlCol="0" anchor="ctr"/>
          <a:lstStyle/>
          <a:p>
            <a:pPr indent="0" marL="0">
              <a:buNone/>
            </a:pPr>
            <a:r>
              <a:rPr lang="en-US" sz="1200" b="1" dirty="0">
                <a:solidFill>
                  <a:srgbClr val="1A3D5C"/>
                </a:solidFill>
                <a:latin typeface="Calibri" pitchFamily="34" charset="0"/>
                <a:ea typeface="Calibri" pitchFamily="34" charset="-122"/>
                <a:cs typeface="Calibri" pitchFamily="34" charset="-120"/>
              </a:rPr>
              <a:t>AI 프롬프트</a:t>
            </a:r>
            <a:endParaRPr lang="en-US" sz="1200" dirty="0"/>
          </a:p>
        </p:txBody>
      </p:sp>
      <p:sp>
        <p:nvSpPr>
          <p:cNvPr id="8" name="Shape 6"/>
          <p:cNvSpPr/>
          <p:nvPr/>
        </p:nvSpPr>
        <p:spPr>
          <a:xfrm>
            <a:off x="4480560" y="1298448"/>
            <a:ext cx="4389120" cy="2194560"/>
          </a:xfrm>
          <a:prstGeom prst="roundRect">
            <a:avLst>
              <a:gd name="adj" fmla="val 4167"/>
            </a:avLst>
          </a:prstGeom>
          <a:solidFill>
            <a:srgbClr val="E8F7F4"/>
          </a:solidFill>
          <a:ln w="12700">
            <a:solidFill>
              <a:srgbClr val="02C39A"/>
            </a:solidFill>
            <a:prstDash val="solid"/>
          </a:ln>
        </p:spPr>
      </p:sp>
      <p:sp>
        <p:nvSpPr>
          <p:cNvPr id="9" name="Text 7"/>
          <p:cNvSpPr/>
          <p:nvPr/>
        </p:nvSpPr>
        <p:spPr>
          <a:xfrm>
            <a:off x="4617720" y="1389888"/>
            <a:ext cx="4114800" cy="2011680"/>
          </a:xfrm>
          <a:prstGeom prst="rect">
            <a:avLst/>
          </a:prstGeom>
          <a:noFill/>
          <a:ln/>
        </p:spPr>
        <p:txBody>
          <a:bodyPr wrap="square" rtlCol="0" anchor="t"/>
          <a:lstStyle/>
          <a:p>
            <a:pPr indent="0" marL="0">
              <a:buNone/>
            </a:pPr>
            <a:r>
              <a:rPr lang="en-US" sz="1000" i="1" dirty="0">
                <a:solidFill>
                  <a:srgbClr val="016A6A"/>
                </a:solidFill>
                <a:latin typeface="Calibri" pitchFamily="34" charset="0"/>
                <a:ea typeface="Calibri" pitchFamily="34" charset="-122"/>
                <a:cs typeface="Calibri" pitchFamily="34" charset="-120"/>
              </a:rPr>
              <a:t>Spring Boot 3.3, Java 17로 수질 모니터링</a:t>
            </a:r>
            <a:endParaRPr lang="en-US" sz="1000" dirty="0"/>
          </a:p>
          <a:p>
            <a:pPr indent="0" marL="0">
              <a:buNone/>
            </a:pPr>
            <a:r>
              <a:rPr lang="en-US" sz="1000" i="1" dirty="0">
                <a:solidFill>
                  <a:srgbClr val="016A6A"/>
                </a:solidFill>
                <a:latin typeface="Calibri" pitchFamily="34" charset="0"/>
                <a:ea typeface="Calibri" pitchFamily="34" charset="-122"/>
                <a:cs typeface="Calibri" pitchFamily="34" charset="-120"/>
              </a:rPr>
              <a:t>대시보드를 만들 거야.</a:t>
            </a:r>
            <a:endParaRPr lang="en-US" sz="1000" dirty="0"/>
          </a:p>
          <a:p>
            <a:pPr indent="0" marL="0">
              <a:buNone/>
            </a:pPr>
            <a:endParaRPr lang="en-US" sz="1000" dirty="0"/>
          </a:p>
          <a:p>
            <a:pPr indent="0" marL="0">
              <a:buNone/>
            </a:pPr>
            <a:r>
              <a:rPr lang="en-US" sz="1000" i="1" dirty="0">
                <a:solidFill>
                  <a:srgbClr val="016A6A"/>
                </a:solidFill>
                <a:latin typeface="Calibri" pitchFamily="34" charset="0"/>
                <a:ea typeface="Calibri" pitchFamily="34" charset="-122"/>
                <a:cs typeface="Calibri" pitchFamily="34" charset="-120"/>
              </a:rPr>
              <a:t>엔드포인트:</a:t>
            </a:r>
            <a:endParaRPr lang="en-US" sz="1000" dirty="0"/>
          </a:p>
          <a:p>
            <a:pPr indent="0" marL="0">
              <a:buNone/>
            </a:pPr>
            <a:r>
              <a:rPr lang="en-US" sz="1000" i="1" dirty="0">
                <a:solidFill>
                  <a:srgbClr val="016A6A"/>
                </a:solidFill>
                <a:latin typeface="Calibri" pitchFamily="34" charset="0"/>
                <a:ea typeface="Calibri" pitchFamily="34" charset="-122"/>
                <a:cs typeface="Calibri" pitchFamily="34" charset="-120"/>
              </a:rPr>
              <a:t>• /api/facilities</a:t>
            </a:r>
            <a:endParaRPr lang="en-US" sz="1000" dirty="0"/>
          </a:p>
          <a:p>
            <a:pPr indent="0" marL="0">
              <a:buNone/>
            </a:pPr>
            <a:r>
              <a:rPr lang="en-US" sz="1000" i="1" dirty="0">
                <a:solidFill>
                  <a:srgbClr val="016A6A"/>
                </a:solidFill>
                <a:latin typeface="Calibri" pitchFamily="34" charset="0"/>
                <a:ea typeface="Calibri" pitchFamily="34" charset="-122"/>
                <a:cs typeface="Calibri" pitchFamily="34" charset="-120"/>
              </a:rPr>
              <a:t>• /api/waterQuality</a:t>
            </a:r>
            <a:endParaRPr lang="en-US" sz="1000" dirty="0"/>
          </a:p>
          <a:p>
            <a:pPr indent="0" marL="0">
              <a:buNone/>
            </a:pPr>
            <a:r>
              <a:rPr lang="en-US" sz="1000" i="1" dirty="0">
                <a:solidFill>
                  <a:srgbClr val="016A6A"/>
                </a:solidFill>
                <a:latin typeface="Calibri" pitchFamily="34" charset="0"/>
                <a:ea typeface="Calibri" pitchFamily="34" charset="-122"/>
                <a:cs typeface="Calibri" pitchFamily="34" charset="-120"/>
              </a:rPr>
              <a:t>• /api/waterFlow</a:t>
            </a:r>
            <a:endParaRPr lang="en-US" sz="1000" dirty="0"/>
          </a:p>
          <a:p>
            <a:pPr indent="0" marL="0">
              <a:buNone/>
            </a:pPr>
            <a:r>
              <a:rPr lang="en-US" sz="1000" i="1" dirty="0">
                <a:solidFill>
                  <a:srgbClr val="016A6A"/>
                </a:solidFill>
                <a:latin typeface="Calibri" pitchFamily="34" charset="0"/>
                <a:ea typeface="Calibri" pitchFamily="34" charset="-122"/>
                <a:cs typeface="Calibri" pitchFamily="34" charset="-120"/>
              </a:rPr>
              <a:t>• /api/analysis</a:t>
            </a:r>
            <a:endParaRPr lang="en-US" sz="1000" dirty="0"/>
          </a:p>
          <a:p>
            <a:pPr indent="0" marL="0">
              <a:buNone/>
            </a:pPr>
            <a:r>
              <a:rPr lang="en-US" sz="1000" i="1" dirty="0">
                <a:solidFill>
                  <a:srgbClr val="016A6A"/>
                </a:solidFill>
                <a:latin typeface="Calibri" pitchFamily="34" charset="0"/>
                <a:ea typeface="Calibri" pitchFamily="34" charset="-122"/>
                <a:cs typeface="Calibri" pitchFamily="34" charset="-120"/>
              </a:rPr>
              <a:t>• /api/news</a:t>
            </a:r>
            <a:endParaRPr lang="en-US" sz="1000" dirty="0"/>
          </a:p>
          <a:p>
            <a:pPr indent="0" marL="0">
              <a:buNone/>
            </a:pPr>
            <a:endParaRPr lang="en-US" sz="1000" dirty="0"/>
          </a:p>
          <a:p>
            <a:pPr indent="0" marL="0">
              <a:buNone/>
            </a:pPr>
            <a:r>
              <a:rPr lang="en-US" sz="1000" i="1" dirty="0">
                <a:solidFill>
                  <a:srgbClr val="016A6A"/>
                </a:solidFill>
                <a:latin typeface="Calibri" pitchFamily="34" charset="0"/>
                <a:ea typeface="Calibri" pitchFamily="34" charset="-122"/>
                <a:cs typeface="Calibri" pitchFamily="34" charset="-120"/>
              </a:rPr>
              <a:t>Service와 ApiClient 계층 분리(1:1 대응).</a:t>
            </a:r>
            <a:endParaRPr lang="en-US" sz="1000" dirty="0"/>
          </a:p>
          <a:p>
            <a:pPr indent="0" marL="0">
              <a:buNone/>
            </a:pPr>
            <a:r>
              <a:rPr lang="en-US" sz="1000" i="1" dirty="0">
                <a:solidFill>
                  <a:srgbClr val="016A6A"/>
                </a:solidFill>
                <a:latin typeface="Calibri" pitchFamily="34" charset="0"/>
                <a:ea typeface="Calibri" pitchFamily="34" charset="-122"/>
                <a:cs typeface="Calibri" pitchFamily="34" charset="-120"/>
              </a:rPr>
              <a:t>패키지 구조와 각 클래스의 역할을 설명해줘</a:t>
            </a:r>
            <a:endParaRPr lang="en-US" sz="1000" dirty="0"/>
          </a:p>
        </p:txBody>
      </p:sp>
      <p:sp>
        <p:nvSpPr>
          <p:cNvPr id="10" name="Shape 8"/>
          <p:cNvSpPr/>
          <p:nvPr/>
        </p:nvSpPr>
        <p:spPr>
          <a:xfrm>
            <a:off x="4480560" y="3611880"/>
            <a:ext cx="4389120" cy="777240"/>
          </a:xfrm>
          <a:prstGeom prst="roundRect">
            <a:avLst>
              <a:gd name="adj" fmla="val 9412"/>
            </a:avLst>
          </a:prstGeom>
          <a:solidFill>
            <a:srgbClr val="F0F7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11" name="Text 9"/>
          <p:cNvSpPr/>
          <p:nvPr/>
        </p:nvSpPr>
        <p:spPr>
          <a:xfrm>
            <a:off x="4617720" y="3657600"/>
            <a:ext cx="4114800" cy="256032"/>
          </a:xfrm>
          <a:prstGeom prst="rect">
            <a:avLst/>
          </a:prstGeom>
          <a:noFill/>
          <a:ln/>
        </p:spPr>
        <p:txBody>
          <a:bodyPr wrap="square" rtlCol="0" anchor="ctr"/>
          <a:lstStyle/>
          <a:p>
            <a:pPr indent="0" marL="0">
              <a:buNone/>
            </a:pPr>
            <a:r>
              <a:rPr lang="en-US" sz="1100" b="1" dirty="0">
                <a:solidFill>
                  <a:srgbClr val="1A3D5C"/>
                </a:solidFill>
                <a:latin typeface="Calibri" pitchFamily="34" charset="0"/>
                <a:ea typeface="Calibri" pitchFamily="34" charset="-122"/>
                <a:cs typeface="Calibri" pitchFamily="34" charset="-120"/>
              </a:rPr>
              <a:t>AppConfig 팁: RestTemplate timeout 설정</a:t>
            </a:r>
            <a:endParaRPr lang="en-US" sz="1100" dirty="0"/>
          </a:p>
        </p:txBody>
      </p:sp>
      <p:sp>
        <p:nvSpPr>
          <p:cNvPr id="12" name="Text 10"/>
          <p:cNvSpPr/>
          <p:nvPr/>
        </p:nvSpPr>
        <p:spPr>
          <a:xfrm>
            <a:off x="4617720" y="3913632"/>
            <a:ext cx="4114800" cy="411480"/>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connectTimeout: 5,000ms  |  readTimeout: 25,000ms</a:t>
            </a:r>
            <a:endParaRPr lang="en-US" sz="1000" dirty="0"/>
          </a:p>
          <a:p>
            <a:pPr indent="0" marL="0">
              <a:buNone/>
            </a:pPr>
            <a:r>
              <a:rPr lang="en-US" sz="1000" dirty="0">
                <a:solidFill>
                  <a:srgbClr val="4A6A80"/>
                </a:solidFill>
                <a:latin typeface="Calibri" pitchFamily="34" charset="0"/>
                <a:ea typeface="Calibri" pitchFamily="34" charset="-122"/>
                <a:cs typeface="Calibri" pitchFamily="34" charset="-120"/>
              </a:rPr>
              <a:t>K-water API 기본 응답 지연(44초) 방어</a:t>
            </a:r>
            <a:endParaRPr lang="en-US" sz="1000" dirty="0"/>
          </a:p>
        </p:txBody>
      </p:sp>
      <p:sp>
        <p:nvSpPr>
          <p:cNvPr id="13" name="Shape 11"/>
          <p:cNvSpPr/>
          <p:nvPr/>
        </p:nvSpPr>
        <p:spPr>
          <a:xfrm>
            <a:off x="274320" y="4041648"/>
            <a:ext cx="4023360" cy="969264"/>
          </a:xfrm>
          <a:prstGeom prst="roundRect">
            <a:avLst>
              <a:gd name="adj" fmla="val 7547"/>
            </a:avLst>
          </a:prstGeom>
          <a:solidFill>
            <a:srgbClr val="E8F4F8"/>
          </a:solidFill>
          <a:ln w="12700">
            <a:solidFill>
              <a:srgbClr val="C0D8E8"/>
            </a:solidFill>
            <a:prstDash val="solid"/>
          </a:ln>
        </p:spPr>
      </p:sp>
      <p:sp>
        <p:nvSpPr>
          <p:cNvPr id="14" name="Text 12"/>
          <p:cNvSpPr/>
          <p:nvPr/>
        </p:nvSpPr>
        <p:spPr>
          <a:xfrm>
            <a:off x="411480" y="4078224"/>
            <a:ext cx="3749040" cy="256032"/>
          </a:xfrm>
          <a:prstGeom prst="rect">
            <a:avLst/>
          </a:prstGeom>
          <a:noFill/>
          <a:ln/>
        </p:spPr>
        <p:txBody>
          <a:bodyPr wrap="square" rtlCol="0" anchor="ctr"/>
          <a:lstStyle/>
          <a:p>
            <a:pPr indent="0" marL="0">
              <a:buNone/>
            </a:pPr>
            <a:r>
              <a:rPr lang="en-US" sz="1100" b="1" dirty="0">
                <a:solidFill>
                  <a:srgbClr val="1A3D5C"/>
                </a:solidFill>
                <a:latin typeface="Calibri" pitchFamily="34" charset="0"/>
                <a:ea typeface="Calibri" pitchFamily="34" charset="-122"/>
                <a:cs typeface="Calibri" pitchFamily="34" charset="-120"/>
              </a:rPr>
              <a:t>AI가 생성하는 것</a:t>
            </a:r>
            <a:endParaRPr lang="en-US" sz="1100" dirty="0"/>
          </a:p>
        </p:txBody>
      </p:sp>
      <p:sp>
        <p:nvSpPr>
          <p:cNvPr id="15" name="Text 13"/>
          <p:cNvSpPr/>
          <p:nvPr/>
        </p:nvSpPr>
        <p:spPr>
          <a:xfrm>
            <a:off x="411480" y="4334256"/>
            <a:ext cx="3749040" cy="64008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 패키지 구조 (controller/service/client/model)</a:t>
            </a:r>
            <a:endParaRPr lang="en-US" sz="1000" dirty="0"/>
          </a:p>
          <a:p>
            <a:pPr indent="0" marL="0">
              <a:buNone/>
            </a:pPr>
            <a:r>
              <a:rPr lang="en-US" sz="1000" dirty="0">
                <a:solidFill>
                  <a:srgbClr val="1A2B3C"/>
                </a:solidFill>
                <a:latin typeface="Calibri" pitchFamily="34" charset="0"/>
                <a:ea typeface="Calibri" pitchFamily="34" charset="-122"/>
                <a:cs typeface="Calibri" pitchFamily="34" charset="-120"/>
              </a:rPr>
              <a:t>• 각 클래스 스켈레톤 + 역할 주석</a:t>
            </a:r>
            <a:endParaRPr lang="en-US" sz="1000" dirty="0"/>
          </a:p>
          <a:p>
            <a:pPr indent="0" marL="0">
              <a:buNone/>
            </a:pPr>
            <a:r>
              <a:rPr lang="en-US" sz="1000" dirty="0">
                <a:solidFill>
                  <a:srgbClr val="1A2B3C"/>
                </a:solidFill>
                <a:latin typeface="Calibri" pitchFamily="34" charset="0"/>
                <a:ea typeface="Calibri" pitchFamily="34" charset="-122"/>
                <a:cs typeface="Calibri" pitchFamily="34" charset="-120"/>
              </a:rPr>
              <a:t>• AppConfig, application.properties 예시</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D5C"/>
          </a:solidFill>
          <a:ln w="12700">
            <a:solidFill>
              <a:srgbClr val="1A3D5C"/>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공공 API 연동 — 핵심 포인트</a:t>
            </a:r>
            <a:endParaRPr lang="en-US" sz="2200" dirty="0"/>
          </a:p>
        </p:txBody>
      </p:sp>
      <p:sp>
        <p:nvSpPr>
          <p:cNvPr id="4" name="Text 2"/>
          <p:cNvSpPr/>
          <p:nvPr/>
        </p:nvSpPr>
        <p:spPr>
          <a:xfrm>
            <a:off x="274320" y="987552"/>
            <a:ext cx="3931920" cy="274320"/>
          </a:xfrm>
          <a:prstGeom prst="rect">
            <a:avLst/>
          </a:prstGeom>
          <a:noFill/>
          <a:ln/>
        </p:spPr>
        <p:txBody>
          <a:bodyPr wrap="square" rtlCol="0" anchor="ctr"/>
          <a:lstStyle/>
          <a:p>
            <a:pPr indent="0" marL="0">
              <a:buNone/>
            </a:pPr>
            <a:r>
              <a:rPr lang="en-US" sz="1200" b="1" dirty="0">
                <a:solidFill>
                  <a:srgbClr val="1A3D5C"/>
                </a:solidFill>
                <a:latin typeface="Calibri" pitchFamily="34" charset="0"/>
                <a:ea typeface="Calibri" pitchFamily="34" charset="-122"/>
                <a:cs typeface="Calibri" pitchFamily="34" charset="-120"/>
              </a:rPr>
              <a:t>K-water API 응답 구조</a:t>
            </a:r>
            <a:endParaRPr lang="en-US" sz="1200" dirty="0"/>
          </a:p>
        </p:txBody>
      </p:sp>
      <p:sp>
        <p:nvSpPr>
          <p:cNvPr id="5" name="Shape 3"/>
          <p:cNvSpPr/>
          <p:nvPr/>
        </p:nvSpPr>
        <p:spPr>
          <a:xfrm>
            <a:off x="274320" y="1325880"/>
            <a:ext cx="4023360" cy="402336"/>
          </a:xfrm>
          <a:prstGeom prst="roundRect">
            <a:avLst>
              <a:gd name="adj" fmla="val 15909"/>
            </a:avLst>
          </a:prstGeom>
          <a:solidFill>
            <a:srgbClr val="1A3D5C">
              <a:alpha val="12000"/>
            </a:srgbClr>
          </a:solidFill>
          <a:ln w="12700">
            <a:solidFill>
              <a:srgbClr val="1A3D5C"/>
            </a:solidFill>
            <a:prstDash val="solid"/>
          </a:ln>
        </p:spPr>
      </p:sp>
      <p:sp>
        <p:nvSpPr>
          <p:cNvPr id="6" name="Text 4"/>
          <p:cNvSpPr/>
          <p:nvPr/>
        </p:nvSpPr>
        <p:spPr>
          <a:xfrm>
            <a:off x="411480" y="1344168"/>
            <a:ext cx="3749040" cy="365760"/>
          </a:xfrm>
          <a:prstGeom prst="rect">
            <a:avLst/>
          </a:prstGeom>
          <a:noFill/>
          <a:ln/>
        </p:spPr>
        <p:txBody>
          <a:bodyPr wrap="square" rtlCol="0" anchor="ctr"/>
          <a:lstStyle/>
          <a:p>
            <a:pPr indent="0" marL="0">
              <a:buNone/>
            </a:pPr>
            <a:r>
              <a:rPr lang="en-US" sz="1100" b="1" dirty="0">
                <a:solidFill>
                  <a:srgbClr val="1A3D5C"/>
                </a:solidFill>
                <a:latin typeface="Courier New" pitchFamily="34" charset="0"/>
                <a:ea typeface="Courier New" pitchFamily="34" charset="-122"/>
                <a:cs typeface="Courier New" pitchFamily="34" charset="-120"/>
              </a:rPr>
              <a:t>response</a:t>
            </a:r>
            <a:endParaRPr lang="en-US" sz="1100" dirty="0"/>
          </a:p>
        </p:txBody>
      </p:sp>
      <p:sp>
        <p:nvSpPr>
          <p:cNvPr id="7" name="Shape 5"/>
          <p:cNvSpPr/>
          <p:nvPr/>
        </p:nvSpPr>
        <p:spPr>
          <a:xfrm>
            <a:off x="411480" y="1801368"/>
            <a:ext cx="3886200" cy="402336"/>
          </a:xfrm>
          <a:prstGeom prst="roundRect">
            <a:avLst>
              <a:gd name="adj" fmla="val 15909"/>
            </a:avLst>
          </a:prstGeom>
          <a:solidFill>
            <a:srgbClr val="0369A1">
              <a:alpha val="12000"/>
            </a:srgbClr>
          </a:solidFill>
          <a:ln w="12700">
            <a:solidFill>
              <a:srgbClr val="0369A1"/>
            </a:solidFill>
            <a:prstDash val="solid"/>
          </a:ln>
        </p:spPr>
      </p:sp>
      <p:sp>
        <p:nvSpPr>
          <p:cNvPr id="8" name="Text 6"/>
          <p:cNvSpPr/>
          <p:nvPr/>
        </p:nvSpPr>
        <p:spPr>
          <a:xfrm>
            <a:off x="548640" y="1819656"/>
            <a:ext cx="3749040" cy="365760"/>
          </a:xfrm>
          <a:prstGeom prst="rect">
            <a:avLst/>
          </a:prstGeom>
          <a:noFill/>
          <a:ln/>
        </p:spPr>
        <p:txBody>
          <a:bodyPr wrap="square" rtlCol="0" anchor="ctr"/>
          <a:lstStyle/>
          <a:p>
            <a:pPr indent="0" marL="0">
              <a:buNone/>
            </a:pPr>
            <a:r>
              <a:rPr lang="en-US" sz="1100" b="1" dirty="0">
                <a:solidFill>
                  <a:srgbClr val="0369A1"/>
                </a:solidFill>
                <a:latin typeface="Courier New" pitchFamily="34" charset="0"/>
                <a:ea typeface="Courier New" pitchFamily="34" charset="-122"/>
                <a:cs typeface="Courier New" pitchFamily="34" charset="-120"/>
              </a:rPr>
              <a:t>  └ body</a:t>
            </a:r>
            <a:endParaRPr lang="en-US" sz="1100" dirty="0"/>
          </a:p>
        </p:txBody>
      </p:sp>
      <p:sp>
        <p:nvSpPr>
          <p:cNvPr id="9" name="Shape 7"/>
          <p:cNvSpPr/>
          <p:nvPr/>
        </p:nvSpPr>
        <p:spPr>
          <a:xfrm>
            <a:off x="548640" y="2276856"/>
            <a:ext cx="3749040" cy="402336"/>
          </a:xfrm>
          <a:prstGeom prst="roundRect">
            <a:avLst>
              <a:gd name="adj" fmla="val 15909"/>
            </a:avLst>
          </a:prstGeom>
          <a:solidFill>
            <a:srgbClr val="7C3AED">
              <a:alpha val="12000"/>
            </a:srgbClr>
          </a:solidFill>
          <a:ln w="12700">
            <a:solidFill>
              <a:srgbClr val="7C3AED"/>
            </a:solidFill>
            <a:prstDash val="solid"/>
          </a:ln>
        </p:spPr>
      </p:sp>
      <p:sp>
        <p:nvSpPr>
          <p:cNvPr id="10" name="Text 8"/>
          <p:cNvSpPr/>
          <p:nvPr/>
        </p:nvSpPr>
        <p:spPr>
          <a:xfrm>
            <a:off x="685800" y="2295144"/>
            <a:ext cx="3749040" cy="365760"/>
          </a:xfrm>
          <a:prstGeom prst="rect">
            <a:avLst/>
          </a:prstGeom>
          <a:noFill/>
          <a:ln/>
        </p:spPr>
        <p:txBody>
          <a:bodyPr wrap="square" rtlCol="0" anchor="ctr"/>
          <a:lstStyle/>
          <a:p>
            <a:pPr indent="0" marL="0">
              <a:buNone/>
            </a:pPr>
            <a:r>
              <a:rPr lang="en-US" sz="1100" b="1" dirty="0">
                <a:solidFill>
                  <a:srgbClr val="7C3AED"/>
                </a:solidFill>
                <a:latin typeface="Courier New" pitchFamily="34" charset="0"/>
                <a:ea typeface="Courier New" pitchFamily="34" charset="-122"/>
                <a:cs typeface="Courier New" pitchFamily="34" charset="-120"/>
              </a:rPr>
              <a:t>      └ items</a:t>
            </a:r>
            <a:endParaRPr lang="en-US" sz="1100" dirty="0"/>
          </a:p>
        </p:txBody>
      </p:sp>
      <p:sp>
        <p:nvSpPr>
          <p:cNvPr id="11" name="Shape 9"/>
          <p:cNvSpPr/>
          <p:nvPr/>
        </p:nvSpPr>
        <p:spPr>
          <a:xfrm>
            <a:off x="685800" y="2752344"/>
            <a:ext cx="3611880" cy="402336"/>
          </a:xfrm>
          <a:prstGeom prst="roundRect">
            <a:avLst>
              <a:gd name="adj" fmla="val 15909"/>
            </a:avLst>
          </a:prstGeom>
          <a:solidFill>
            <a:srgbClr val="B45309">
              <a:alpha val="12000"/>
            </a:srgbClr>
          </a:solidFill>
          <a:ln w="12700">
            <a:solidFill>
              <a:srgbClr val="B45309"/>
            </a:solidFill>
            <a:prstDash val="solid"/>
          </a:ln>
        </p:spPr>
      </p:sp>
      <p:sp>
        <p:nvSpPr>
          <p:cNvPr id="12" name="Text 10"/>
          <p:cNvSpPr/>
          <p:nvPr/>
        </p:nvSpPr>
        <p:spPr>
          <a:xfrm>
            <a:off x="822960" y="2770632"/>
            <a:ext cx="3749040" cy="365760"/>
          </a:xfrm>
          <a:prstGeom prst="rect">
            <a:avLst/>
          </a:prstGeom>
          <a:noFill/>
          <a:ln/>
        </p:spPr>
        <p:txBody>
          <a:bodyPr wrap="square" rtlCol="0" anchor="ctr"/>
          <a:lstStyle/>
          <a:p>
            <a:pPr indent="0" marL="0">
              <a:buNone/>
            </a:pPr>
            <a:r>
              <a:rPr lang="en-US" sz="1100" b="1" dirty="0">
                <a:solidFill>
                  <a:srgbClr val="B45309"/>
                </a:solidFill>
                <a:latin typeface="Courier New" pitchFamily="34" charset="0"/>
                <a:ea typeface="Courier New" pitchFamily="34" charset="-122"/>
                <a:cs typeface="Courier New" pitchFamily="34" charset="-120"/>
              </a:rPr>
              <a:t>            └ item  [ {...}, {...} ]</a:t>
            </a:r>
            <a:endParaRPr lang="en-US" sz="1100" dirty="0"/>
          </a:p>
        </p:txBody>
      </p:sp>
      <p:sp>
        <p:nvSpPr>
          <p:cNvPr id="13" name="Text 11"/>
          <p:cNvSpPr/>
          <p:nvPr/>
        </p:nvSpPr>
        <p:spPr>
          <a:xfrm>
            <a:off x="4572000" y="987552"/>
            <a:ext cx="4206240" cy="274320"/>
          </a:xfrm>
          <a:prstGeom prst="rect">
            <a:avLst/>
          </a:prstGeom>
          <a:noFill/>
          <a:ln/>
        </p:spPr>
        <p:txBody>
          <a:bodyPr wrap="square" rtlCol="0" anchor="ctr"/>
          <a:lstStyle/>
          <a:p>
            <a:pPr indent="0" marL="0">
              <a:buNone/>
            </a:pPr>
            <a:r>
              <a:rPr lang="en-US" sz="1200" b="1" dirty="0">
                <a:solidFill>
                  <a:srgbClr val="1A3D5C"/>
                </a:solidFill>
                <a:latin typeface="Calibri" pitchFamily="34" charset="0"/>
                <a:ea typeface="Calibri" pitchFamily="34" charset="-122"/>
                <a:cs typeface="Calibri" pitchFamily="34" charset="-120"/>
              </a:rPr>
              <a:t>4가지 주의 포인트</a:t>
            </a:r>
            <a:endParaRPr lang="en-US" sz="1200" dirty="0"/>
          </a:p>
        </p:txBody>
      </p:sp>
      <p:sp>
        <p:nvSpPr>
          <p:cNvPr id="14" name="Shape 12"/>
          <p:cNvSpPr/>
          <p:nvPr/>
        </p:nvSpPr>
        <p:spPr>
          <a:xfrm>
            <a:off x="4572000" y="1325880"/>
            <a:ext cx="4206240" cy="777240"/>
          </a:xfrm>
          <a:prstGeom prst="roundRect">
            <a:avLst>
              <a:gd name="adj" fmla="val 10588"/>
            </a:avLst>
          </a:prstGeom>
          <a:solidFill>
            <a:srgbClr val="F0F7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15" name="Shape 13"/>
          <p:cNvSpPr/>
          <p:nvPr/>
        </p:nvSpPr>
        <p:spPr>
          <a:xfrm>
            <a:off x="4663440" y="1417320"/>
            <a:ext cx="365760" cy="365760"/>
          </a:xfrm>
          <a:prstGeom prst="ellipse">
            <a:avLst/>
          </a:prstGeom>
          <a:solidFill>
            <a:srgbClr val="1A3D5C"/>
          </a:solidFill>
          <a:ln w="12700">
            <a:solidFill>
              <a:srgbClr val="1A3D5C"/>
            </a:solidFill>
            <a:prstDash val="solid"/>
          </a:ln>
        </p:spPr>
      </p:sp>
      <p:sp>
        <p:nvSpPr>
          <p:cNvPr id="16" name="Text 14"/>
          <p:cNvSpPr/>
          <p:nvPr/>
        </p:nvSpPr>
        <p:spPr>
          <a:xfrm>
            <a:off x="4663440" y="1417320"/>
            <a:ext cx="365760" cy="3657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17" name="Text 15"/>
          <p:cNvSpPr/>
          <p:nvPr/>
        </p:nvSpPr>
        <p:spPr>
          <a:xfrm>
            <a:off x="5120640" y="1371600"/>
            <a:ext cx="3520440" cy="292608"/>
          </a:xfrm>
          <a:prstGeom prst="rect">
            <a:avLst/>
          </a:prstGeom>
          <a:noFill/>
          <a:ln/>
        </p:spPr>
        <p:txBody>
          <a:bodyPr wrap="square" rtlCol="0" anchor="ctr"/>
          <a:lstStyle/>
          <a:p>
            <a:pPr indent="0" marL="0">
              <a:buNone/>
            </a:pPr>
            <a:r>
              <a:rPr lang="en-US" sz="1100" b="1" dirty="0">
                <a:solidFill>
                  <a:srgbClr val="1A2B3C"/>
                </a:solidFill>
                <a:latin typeface="Calibri" pitchFamily="34" charset="0"/>
                <a:ea typeface="Calibri" pitchFamily="34" charset="-122"/>
                <a:cs typeface="Calibri" pitchFamily="34" charset="-120"/>
              </a:rPr>
              <a:t>중첩 JSON 파싱</a:t>
            </a:r>
            <a:endParaRPr lang="en-US" sz="1100" dirty="0"/>
          </a:p>
        </p:txBody>
      </p:sp>
      <p:sp>
        <p:nvSpPr>
          <p:cNvPr id="18" name="Text 16"/>
          <p:cNvSpPr/>
          <p:nvPr/>
        </p:nvSpPr>
        <p:spPr>
          <a:xfrm>
            <a:off x="5120640" y="1664208"/>
            <a:ext cx="3520440" cy="384048"/>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response.body.items.item 경로로 4단계 파싱</a:t>
            </a:r>
            <a:endParaRPr lang="en-US" sz="1000" dirty="0"/>
          </a:p>
        </p:txBody>
      </p:sp>
      <p:sp>
        <p:nvSpPr>
          <p:cNvPr id="19" name="Shape 17"/>
          <p:cNvSpPr/>
          <p:nvPr/>
        </p:nvSpPr>
        <p:spPr>
          <a:xfrm>
            <a:off x="4572000" y="2240280"/>
            <a:ext cx="4206240" cy="777240"/>
          </a:xfrm>
          <a:prstGeom prst="roundRect">
            <a:avLst>
              <a:gd name="adj" fmla="val 10588"/>
            </a:avLst>
          </a:prstGeom>
          <a:solidFill>
            <a:srgbClr val="E8F4F8"/>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20" name="Shape 18"/>
          <p:cNvSpPr/>
          <p:nvPr/>
        </p:nvSpPr>
        <p:spPr>
          <a:xfrm>
            <a:off x="4663440" y="2331720"/>
            <a:ext cx="365760" cy="365760"/>
          </a:xfrm>
          <a:prstGeom prst="ellipse">
            <a:avLst/>
          </a:prstGeom>
          <a:solidFill>
            <a:srgbClr val="1A3D5C"/>
          </a:solidFill>
          <a:ln w="12700">
            <a:solidFill>
              <a:srgbClr val="1A3D5C"/>
            </a:solidFill>
            <a:prstDash val="solid"/>
          </a:ln>
        </p:spPr>
      </p:sp>
      <p:sp>
        <p:nvSpPr>
          <p:cNvPr id="21" name="Text 19"/>
          <p:cNvSpPr/>
          <p:nvPr/>
        </p:nvSpPr>
        <p:spPr>
          <a:xfrm>
            <a:off x="4663440" y="2331720"/>
            <a:ext cx="365760" cy="3657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22" name="Text 20"/>
          <p:cNvSpPr/>
          <p:nvPr/>
        </p:nvSpPr>
        <p:spPr>
          <a:xfrm>
            <a:off x="5120640" y="2286000"/>
            <a:ext cx="3520440" cy="292608"/>
          </a:xfrm>
          <a:prstGeom prst="rect">
            <a:avLst/>
          </a:prstGeom>
          <a:noFill/>
          <a:ln/>
        </p:spPr>
        <p:txBody>
          <a:bodyPr wrap="square" rtlCol="0" anchor="ctr"/>
          <a:lstStyle/>
          <a:p>
            <a:pPr indent="0" marL="0">
              <a:buNone/>
            </a:pPr>
            <a:r>
              <a:rPr lang="en-US" sz="1100" b="1" dirty="0">
                <a:solidFill>
                  <a:srgbClr val="1A2B3C"/>
                </a:solidFill>
                <a:latin typeface="Calibri" pitchFamily="34" charset="0"/>
                <a:ea typeface="Calibri" pitchFamily="34" charset="-122"/>
                <a:cs typeface="Calibri" pitchFamily="34" charset="-120"/>
              </a:rPr>
              <a:t>단건 vs 복수 불일치</a:t>
            </a:r>
            <a:endParaRPr lang="en-US" sz="1100" dirty="0"/>
          </a:p>
        </p:txBody>
      </p:sp>
      <p:sp>
        <p:nvSpPr>
          <p:cNvPr id="23" name="Text 21"/>
          <p:cNvSpPr/>
          <p:nvPr/>
        </p:nvSpPr>
        <p:spPr>
          <a:xfrm>
            <a:off x="5120640" y="2578608"/>
            <a:ext cx="3520440" cy="384048"/>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결과 1건: Map, 복수: List — instanceof 체크 필요</a:t>
            </a:r>
            <a:endParaRPr lang="en-US" sz="1000" dirty="0"/>
          </a:p>
        </p:txBody>
      </p:sp>
      <p:sp>
        <p:nvSpPr>
          <p:cNvPr id="24" name="Shape 22"/>
          <p:cNvSpPr/>
          <p:nvPr/>
        </p:nvSpPr>
        <p:spPr>
          <a:xfrm>
            <a:off x="4572000" y="3154680"/>
            <a:ext cx="4206240" cy="777240"/>
          </a:xfrm>
          <a:prstGeom prst="roundRect">
            <a:avLst>
              <a:gd name="adj" fmla="val 10588"/>
            </a:avLst>
          </a:prstGeom>
          <a:solidFill>
            <a:srgbClr val="F0F7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25" name="Shape 23"/>
          <p:cNvSpPr/>
          <p:nvPr/>
        </p:nvSpPr>
        <p:spPr>
          <a:xfrm>
            <a:off x="4663440" y="3246120"/>
            <a:ext cx="365760" cy="365760"/>
          </a:xfrm>
          <a:prstGeom prst="ellipse">
            <a:avLst/>
          </a:prstGeom>
          <a:solidFill>
            <a:srgbClr val="1A3D5C"/>
          </a:solidFill>
          <a:ln w="12700">
            <a:solidFill>
              <a:srgbClr val="1A3D5C"/>
            </a:solidFill>
            <a:prstDash val="solid"/>
          </a:ln>
        </p:spPr>
      </p:sp>
      <p:sp>
        <p:nvSpPr>
          <p:cNvPr id="26" name="Text 24"/>
          <p:cNvSpPr/>
          <p:nvPr/>
        </p:nvSpPr>
        <p:spPr>
          <a:xfrm>
            <a:off x="4663440" y="3246120"/>
            <a:ext cx="365760" cy="3657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27" name="Text 25"/>
          <p:cNvSpPr/>
          <p:nvPr/>
        </p:nvSpPr>
        <p:spPr>
          <a:xfrm>
            <a:off x="5120640" y="3200400"/>
            <a:ext cx="3520440" cy="292608"/>
          </a:xfrm>
          <a:prstGeom prst="rect">
            <a:avLst/>
          </a:prstGeom>
          <a:noFill/>
          <a:ln/>
        </p:spPr>
        <p:txBody>
          <a:bodyPr wrap="square" rtlCol="0" anchor="ctr"/>
          <a:lstStyle/>
          <a:p>
            <a:pPr indent="0" marL="0">
              <a:buNone/>
            </a:pPr>
            <a:r>
              <a:rPr lang="en-US" sz="1100" b="1" dirty="0">
                <a:solidFill>
                  <a:srgbClr val="1A2B3C"/>
                </a:solidFill>
                <a:latin typeface="Calibri" pitchFamily="34" charset="0"/>
                <a:ea typeface="Calibri" pitchFamily="34" charset="-122"/>
                <a:cs typeface="Calibri" pitchFamily="34" charset="-120"/>
              </a:rPr>
              <a:t>items 빈 문자열</a:t>
            </a:r>
            <a:endParaRPr lang="en-US" sz="1100" dirty="0"/>
          </a:p>
        </p:txBody>
      </p:sp>
      <p:sp>
        <p:nvSpPr>
          <p:cNvPr id="28" name="Text 26"/>
          <p:cNvSpPr/>
          <p:nvPr/>
        </p:nvSpPr>
        <p:spPr>
          <a:xfrm>
            <a:off x="5120640" y="3493008"/>
            <a:ext cx="3520440" cy="384048"/>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데이터 없을 때 items가 null 아닌 빈 문자열로 반환</a:t>
            </a:r>
            <a:endParaRPr lang="en-US" sz="1000" dirty="0"/>
          </a:p>
        </p:txBody>
      </p:sp>
      <p:sp>
        <p:nvSpPr>
          <p:cNvPr id="29" name="Shape 27"/>
          <p:cNvSpPr/>
          <p:nvPr/>
        </p:nvSpPr>
        <p:spPr>
          <a:xfrm>
            <a:off x="4572000" y="4069080"/>
            <a:ext cx="4206240" cy="777240"/>
          </a:xfrm>
          <a:prstGeom prst="roundRect">
            <a:avLst>
              <a:gd name="adj" fmla="val 10588"/>
            </a:avLst>
          </a:prstGeom>
          <a:solidFill>
            <a:srgbClr val="E8F4F8"/>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30" name="Shape 28"/>
          <p:cNvSpPr/>
          <p:nvPr/>
        </p:nvSpPr>
        <p:spPr>
          <a:xfrm>
            <a:off x="4663440" y="4160520"/>
            <a:ext cx="365760" cy="365760"/>
          </a:xfrm>
          <a:prstGeom prst="ellipse">
            <a:avLst/>
          </a:prstGeom>
          <a:solidFill>
            <a:srgbClr val="1A3D5C"/>
          </a:solidFill>
          <a:ln w="12700">
            <a:solidFill>
              <a:srgbClr val="1A3D5C"/>
            </a:solidFill>
            <a:prstDash val="solid"/>
          </a:ln>
        </p:spPr>
      </p:sp>
      <p:sp>
        <p:nvSpPr>
          <p:cNvPr id="31" name="Text 29"/>
          <p:cNvSpPr/>
          <p:nvPr/>
        </p:nvSpPr>
        <p:spPr>
          <a:xfrm>
            <a:off x="4663440" y="4160520"/>
            <a:ext cx="365760" cy="36576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32" name="Text 30"/>
          <p:cNvSpPr/>
          <p:nvPr/>
        </p:nvSpPr>
        <p:spPr>
          <a:xfrm>
            <a:off x="5120640" y="4114800"/>
            <a:ext cx="3520440" cy="292608"/>
          </a:xfrm>
          <a:prstGeom prst="rect">
            <a:avLst/>
          </a:prstGeom>
          <a:noFill/>
          <a:ln/>
        </p:spPr>
        <p:txBody>
          <a:bodyPr wrap="square" rtlCol="0" anchor="ctr"/>
          <a:lstStyle/>
          <a:p>
            <a:pPr indent="0" marL="0">
              <a:buNone/>
            </a:pPr>
            <a:r>
              <a:rPr lang="en-US" sz="1100" b="1" dirty="0">
                <a:solidFill>
                  <a:srgbClr val="1A2B3C"/>
                </a:solidFill>
                <a:latin typeface="Calibri" pitchFamily="34" charset="0"/>
                <a:ea typeface="Calibri" pitchFamily="34" charset="-122"/>
                <a:cs typeface="Calibri" pitchFamily="34" charset="-120"/>
              </a:rPr>
              <a:t>sujCode 미입력 시 44초</a:t>
            </a:r>
            <a:endParaRPr lang="en-US" sz="1100" dirty="0"/>
          </a:p>
        </p:txBody>
      </p:sp>
      <p:sp>
        <p:nvSpPr>
          <p:cNvPr id="33" name="Text 31"/>
          <p:cNvSpPr/>
          <p:nvPr/>
        </p:nvSpPr>
        <p:spPr>
          <a:xfrm>
            <a:off x="5120640" y="4407408"/>
            <a:ext cx="3520440" cy="384048"/>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정수장 코드 없이 호출하면 전체 조회로 응답 지연</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D5C"/>
          </a:solidFill>
          <a:ln w="12700">
            <a:solidFill>
              <a:srgbClr val="1A3D5C"/>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AI에게 JSON 붙여넣기 → 파싱 코드 자동 생성</a:t>
            </a:r>
            <a:endParaRPr lang="en-US" sz="2000" dirty="0"/>
          </a:p>
        </p:txBody>
      </p:sp>
      <p:sp>
        <p:nvSpPr>
          <p:cNvPr id="4" name="Shape 2"/>
          <p:cNvSpPr/>
          <p:nvPr/>
        </p:nvSpPr>
        <p:spPr>
          <a:xfrm>
            <a:off x="274320" y="1024128"/>
            <a:ext cx="8595360" cy="1051560"/>
          </a:xfrm>
          <a:prstGeom prst="roundRect">
            <a:avLst>
              <a:gd name="adj" fmla="val 8696"/>
            </a:avLst>
          </a:prstGeom>
          <a:solidFill>
            <a:srgbClr val="FFFF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5" name="Shape 3"/>
          <p:cNvSpPr/>
          <p:nvPr/>
        </p:nvSpPr>
        <p:spPr>
          <a:xfrm>
            <a:off x="384048" y="1115568"/>
            <a:ext cx="548640" cy="548640"/>
          </a:xfrm>
          <a:prstGeom prst="ellipse">
            <a:avLst/>
          </a:prstGeom>
          <a:solidFill>
            <a:srgbClr val="7C3AED"/>
          </a:solidFill>
          <a:ln w="12700">
            <a:solidFill>
              <a:srgbClr val="7C3AED"/>
            </a:solidFill>
            <a:prstDash val="solid"/>
          </a:ln>
        </p:spPr>
      </p:sp>
      <p:sp>
        <p:nvSpPr>
          <p:cNvPr id="6" name="Text 4"/>
          <p:cNvSpPr/>
          <p:nvPr/>
        </p:nvSpPr>
        <p:spPr>
          <a:xfrm>
            <a:off x="384048" y="1115568"/>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051560" y="1051560"/>
            <a:ext cx="7680960" cy="347472"/>
          </a:xfrm>
          <a:prstGeom prst="rect">
            <a:avLst/>
          </a:prstGeom>
          <a:noFill/>
          <a:ln/>
        </p:spPr>
        <p:txBody>
          <a:bodyPr wrap="square" rtlCol="0" anchor="ctr"/>
          <a:lstStyle/>
          <a:p>
            <a:pPr indent="0" marL="0">
              <a:buNone/>
            </a:pPr>
            <a:r>
              <a:rPr lang="en-US" sz="1300" b="1" dirty="0">
                <a:solidFill>
                  <a:srgbClr val="1A2B3C"/>
                </a:solidFill>
                <a:latin typeface="Calibri" pitchFamily="34" charset="0"/>
                <a:ea typeface="Calibri" pitchFamily="34" charset="-122"/>
                <a:cs typeface="Calibri" pitchFamily="34" charset="-120"/>
              </a:rPr>
              <a:t>Postman으로 실제 API 호출</a:t>
            </a:r>
            <a:endParaRPr lang="en-US" sz="1300" dirty="0"/>
          </a:p>
        </p:txBody>
      </p:sp>
      <p:sp>
        <p:nvSpPr>
          <p:cNvPr id="8" name="Text 6"/>
          <p:cNvSpPr/>
          <p:nvPr/>
        </p:nvSpPr>
        <p:spPr>
          <a:xfrm>
            <a:off x="1051560" y="1399032"/>
            <a:ext cx="7680960" cy="594360"/>
          </a:xfrm>
          <a:prstGeom prst="rect">
            <a:avLst/>
          </a:prstGeom>
          <a:noFill/>
          <a:ln/>
        </p:spPr>
        <p:txBody>
          <a:bodyPr wrap="square" rtlCol="0" anchor="ctr"/>
          <a:lstStyle/>
          <a:p>
            <a:pPr indent="0" marL="0">
              <a:buNone/>
            </a:pPr>
            <a:r>
              <a:rPr lang="en-US" sz="1100" dirty="0">
                <a:solidFill>
                  <a:srgbClr val="4A6A80"/>
                </a:solidFill>
                <a:latin typeface="Calibri" pitchFamily="34" charset="0"/>
                <a:ea typeface="Calibri" pitchFamily="34" charset="-122"/>
                <a:cs typeface="Calibri" pitchFamily="34" charset="-120"/>
              </a:rPr>
              <a:t>공공데이터포털에서 인증키 발급 → Postman으로 실제 JSON 응답 확인 및 복사</a:t>
            </a:r>
            <a:endParaRPr lang="en-US" sz="1100" dirty="0"/>
          </a:p>
        </p:txBody>
      </p:sp>
      <p:sp>
        <p:nvSpPr>
          <p:cNvPr id="9" name="Shape 7"/>
          <p:cNvSpPr/>
          <p:nvPr/>
        </p:nvSpPr>
        <p:spPr>
          <a:xfrm>
            <a:off x="274320" y="2212848"/>
            <a:ext cx="8595360" cy="1051560"/>
          </a:xfrm>
          <a:prstGeom prst="roundRect">
            <a:avLst>
              <a:gd name="adj" fmla="val 8696"/>
            </a:avLst>
          </a:prstGeom>
          <a:solidFill>
            <a:srgbClr val="FFFF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10" name="Shape 8"/>
          <p:cNvSpPr/>
          <p:nvPr/>
        </p:nvSpPr>
        <p:spPr>
          <a:xfrm>
            <a:off x="384048" y="2304288"/>
            <a:ext cx="548640" cy="548640"/>
          </a:xfrm>
          <a:prstGeom prst="ellipse">
            <a:avLst/>
          </a:prstGeom>
          <a:solidFill>
            <a:srgbClr val="1A3D5C"/>
          </a:solidFill>
          <a:ln w="12700">
            <a:solidFill>
              <a:srgbClr val="1A3D5C"/>
            </a:solidFill>
            <a:prstDash val="solid"/>
          </a:ln>
        </p:spPr>
      </p:sp>
      <p:sp>
        <p:nvSpPr>
          <p:cNvPr id="11" name="Text 9"/>
          <p:cNvSpPr/>
          <p:nvPr/>
        </p:nvSpPr>
        <p:spPr>
          <a:xfrm>
            <a:off x="384048" y="2304288"/>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051560" y="2240280"/>
            <a:ext cx="7680960" cy="347472"/>
          </a:xfrm>
          <a:prstGeom prst="rect">
            <a:avLst/>
          </a:prstGeom>
          <a:noFill/>
          <a:ln/>
        </p:spPr>
        <p:txBody>
          <a:bodyPr wrap="square" rtlCol="0" anchor="ctr"/>
          <a:lstStyle/>
          <a:p>
            <a:pPr indent="0" marL="0">
              <a:buNone/>
            </a:pPr>
            <a:r>
              <a:rPr lang="en-US" sz="1300" b="1" dirty="0">
                <a:solidFill>
                  <a:srgbClr val="1A2B3C"/>
                </a:solidFill>
                <a:latin typeface="Calibri" pitchFamily="34" charset="0"/>
                <a:ea typeface="Calibri" pitchFamily="34" charset="-122"/>
                <a:cs typeface="Calibri" pitchFamily="34" charset="-120"/>
              </a:rPr>
              <a:t>AI에게 붙여넣기 + 요청</a:t>
            </a:r>
            <a:endParaRPr lang="en-US" sz="1300" dirty="0"/>
          </a:p>
        </p:txBody>
      </p:sp>
      <p:sp>
        <p:nvSpPr>
          <p:cNvPr id="13" name="Text 11"/>
          <p:cNvSpPr/>
          <p:nvPr/>
        </p:nvSpPr>
        <p:spPr>
          <a:xfrm>
            <a:off x="1051560" y="2587752"/>
            <a:ext cx="7680960" cy="594360"/>
          </a:xfrm>
          <a:prstGeom prst="rect">
            <a:avLst/>
          </a:prstGeom>
          <a:noFill/>
          <a:ln/>
        </p:spPr>
        <p:txBody>
          <a:bodyPr wrap="square" rtlCol="0" anchor="ctr"/>
          <a:lstStyle/>
          <a:p>
            <a:pPr indent="0" marL="0">
              <a:buNone/>
            </a:pPr>
            <a:r>
              <a:rPr lang="en-US" sz="1100" dirty="0">
                <a:solidFill>
                  <a:srgbClr val="4A6A80"/>
                </a:solidFill>
                <a:latin typeface="Calibri" pitchFamily="34" charset="0"/>
                <a:ea typeface="Calibri" pitchFamily="34" charset="-122"/>
                <a:cs typeface="Calibri" pitchFamily="34" charset="-120"/>
              </a:rPr>
              <a:t>"이 JSON을 Java List&lt;QualityRecord&gt;로 파싱하는 코드를 만들어줘"</a:t>
            </a:r>
            <a:endParaRPr lang="en-US" sz="1100" dirty="0"/>
          </a:p>
          <a:p>
            <a:pPr indent="0" marL="0">
              <a:buNone/>
            </a:pPr>
            <a:r>
              <a:rPr lang="en-US" sz="1100" dirty="0">
                <a:solidFill>
                  <a:srgbClr val="4A6A80"/>
                </a:solidFill>
                <a:latin typeface="Calibri" pitchFamily="34" charset="0"/>
                <a:ea typeface="Calibri" pitchFamily="34" charset="-122"/>
                <a:cs typeface="Calibri" pitchFamily="34" charset="-120"/>
              </a:rPr>
              <a:t>ApiClient.java 클래스도 함께 요청 가능</a:t>
            </a:r>
            <a:endParaRPr lang="en-US" sz="1100" dirty="0"/>
          </a:p>
        </p:txBody>
      </p:sp>
      <p:sp>
        <p:nvSpPr>
          <p:cNvPr id="14" name="Shape 12"/>
          <p:cNvSpPr/>
          <p:nvPr/>
        </p:nvSpPr>
        <p:spPr>
          <a:xfrm>
            <a:off x="274320" y="3401568"/>
            <a:ext cx="8595360" cy="1051560"/>
          </a:xfrm>
          <a:prstGeom prst="roundRect">
            <a:avLst>
              <a:gd name="adj" fmla="val 8696"/>
            </a:avLst>
          </a:prstGeom>
          <a:solidFill>
            <a:srgbClr val="FFFF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15" name="Shape 13"/>
          <p:cNvSpPr/>
          <p:nvPr/>
        </p:nvSpPr>
        <p:spPr>
          <a:xfrm>
            <a:off x="384048" y="3493008"/>
            <a:ext cx="548640" cy="548640"/>
          </a:xfrm>
          <a:prstGeom prst="ellipse">
            <a:avLst/>
          </a:prstGeom>
          <a:solidFill>
            <a:srgbClr val="B45309"/>
          </a:solidFill>
          <a:ln w="12700">
            <a:solidFill>
              <a:srgbClr val="B45309"/>
            </a:solidFill>
            <a:prstDash val="solid"/>
          </a:ln>
        </p:spPr>
      </p:sp>
      <p:sp>
        <p:nvSpPr>
          <p:cNvPr id="16" name="Text 14"/>
          <p:cNvSpPr/>
          <p:nvPr/>
        </p:nvSpPr>
        <p:spPr>
          <a:xfrm>
            <a:off x="384048" y="3493008"/>
            <a:ext cx="54864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051560" y="3429000"/>
            <a:ext cx="7680960" cy="347472"/>
          </a:xfrm>
          <a:prstGeom prst="rect">
            <a:avLst/>
          </a:prstGeom>
          <a:noFill/>
          <a:ln/>
        </p:spPr>
        <p:txBody>
          <a:bodyPr wrap="square" rtlCol="0" anchor="ctr"/>
          <a:lstStyle/>
          <a:p>
            <a:pPr indent="0" marL="0">
              <a:buNone/>
            </a:pPr>
            <a:r>
              <a:rPr lang="en-US" sz="1300" b="1" dirty="0">
                <a:solidFill>
                  <a:srgbClr val="1A2B3C"/>
                </a:solidFill>
                <a:latin typeface="Calibri" pitchFamily="34" charset="0"/>
                <a:ea typeface="Calibri" pitchFamily="34" charset="-122"/>
                <a:cs typeface="Calibri" pitchFamily="34" charset="-120"/>
              </a:rPr>
              <a:t>AI가 자동 처리하는 것들</a:t>
            </a:r>
            <a:endParaRPr lang="en-US" sz="1300" dirty="0"/>
          </a:p>
        </p:txBody>
      </p:sp>
      <p:sp>
        <p:nvSpPr>
          <p:cNvPr id="18" name="Text 16"/>
          <p:cNvSpPr/>
          <p:nvPr/>
        </p:nvSpPr>
        <p:spPr>
          <a:xfrm>
            <a:off x="1051560" y="3776472"/>
            <a:ext cx="7680960" cy="594360"/>
          </a:xfrm>
          <a:prstGeom prst="rect">
            <a:avLst/>
          </a:prstGeom>
          <a:noFill/>
          <a:ln/>
        </p:spPr>
        <p:txBody>
          <a:bodyPr wrap="square" rtlCol="0" anchor="ctr"/>
          <a:lstStyle/>
          <a:p>
            <a:pPr indent="0" marL="0">
              <a:buNone/>
            </a:pPr>
            <a:r>
              <a:rPr lang="en-US" sz="1100" dirty="0">
                <a:solidFill>
                  <a:srgbClr val="4A6A80"/>
                </a:solidFill>
                <a:latin typeface="Calibri" pitchFamily="34" charset="0"/>
                <a:ea typeface="Calibri" pitchFamily="34" charset="-122"/>
                <a:cs typeface="Calibri" pitchFamily="34" charset="-120"/>
              </a:rPr>
              <a:t>Map 타입 처리 / 단건-복수 통일 / 날짜 변환 / null 체크 / 빈 문자열 방어</a:t>
            </a:r>
            <a:endParaRPr lang="en-US" sz="1100" dirty="0"/>
          </a:p>
        </p:txBody>
      </p:sp>
      <p:sp>
        <p:nvSpPr>
          <p:cNvPr id="19" name="Shape 17"/>
          <p:cNvSpPr/>
          <p:nvPr/>
        </p:nvSpPr>
        <p:spPr>
          <a:xfrm>
            <a:off x="274320" y="4572000"/>
            <a:ext cx="8595360" cy="475488"/>
          </a:xfrm>
          <a:prstGeom prst="roundRect">
            <a:avLst>
              <a:gd name="adj" fmla="val 13462"/>
            </a:avLst>
          </a:prstGeom>
          <a:solidFill>
            <a:srgbClr val="FFF3E0"/>
          </a:solidFill>
          <a:ln w="12700">
            <a:solidFill>
              <a:srgbClr val="FF8C00"/>
            </a:solidFill>
            <a:prstDash val="solid"/>
          </a:ln>
        </p:spPr>
      </p:sp>
      <p:sp>
        <p:nvSpPr>
          <p:cNvPr id="20" name="Text 18"/>
          <p:cNvSpPr/>
          <p:nvPr/>
        </p:nvSpPr>
        <p:spPr>
          <a:xfrm>
            <a:off x="411480" y="4572000"/>
            <a:ext cx="8321040" cy="475488"/>
          </a:xfrm>
          <a:prstGeom prst="rect">
            <a:avLst/>
          </a:prstGeom>
          <a:noFill/>
          <a:ln/>
        </p:spPr>
        <p:txBody>
          <a:bodyPr wrap="square" rtlCol="0" anchor="ctr"/>
          <a:lstStyle/>
          <a:p>
            <a:pPr indent="0" marL="0">
              <a:buNone/>
            </a:pPr>
            <a:r>
              <a:rPr lang="en-US" sz="1100" b="1" dirty="0">
                <a:solidFill>
                  <a:srgbClr val="CC5500"/>
                </a:solidFill>
                <a:latin typeface="Calibri" pitchFamily="34" charset="0"/>
                <a:ea typeface="Calibri" pitchFamily="34" charset="-122"/>
                <a:cs typeface="Calibri" pitchFamily="34" charset="-120"/>
              </a:rPr>
              <a:t>날짜 변환 예시: occrrncDt  "2026052322"  →  "2026-05-23 22시"  (AI가 자동 변환 코드 생성)</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D5C"/>
          </a:solidFill>
          <a:ln w="12700">
            <a:solidFill>
              <a:srgbClr val="1A3D5C"/>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Groq AI API 연동 — GroqApiClient</a:t>
            </a:r>
            <a:endParaRPr lang="en-US" sz="2200" dirty="0"/>
          </a:p>
        </p:txBody>
      </p:sp>
      <p:sp>
        <p:nvSpPr>
          <p:cNvPr id="4" name="Shape 2"/>
          <p:cNvSpPr/>
          <p:nvPr/>
        </p:nvSpPr>
        <p:spPr>
          <a:xfrm>
            <a:off x="274320" y="1005840"/>
            <a:ext cx="4114800" cy="2926080"/>
          </a:xfrm>
          <a:prstGeom prst="roundRect">
            <a:avLst>
              <a:gd name="adj" fmla="val 3750"/>
            </a:avLst>
          </a:prstGeom>
          <a:solidFill>
            <a:srgbClr val="F0F7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5" name="Text 3"/>
          <p:cNvSpPr/>
          <p:nvPr/>
        </p:nvSpPr>
        <p:spPr>
          <a:xfrm>
            <a:off x="457200" y="1078992"/>
            <a:ext cx="3749040" cy="292608"/>
          </a:xfrm>
          <a:prstGeom prst="rect">
            <a:avLst/>
          </a:prstGeom>
          <a:noFill/>
          <a:ln/>
        </p:spPr>
        <p:txBody>
          <a:bodyPr wrap="square" rtlCol="0" anchor="ctr"/>
          <a:lstStyle/>
          <a:p>
            <a:pPr indent="0" marL="0">
              <a:buNone/>
            </a:pPr>
            <a:r>
              <a:rPr lang="en-US" sz="1300" b="1" dirty="0">
                <a:solidFill>
                  <a:srgbClr val="1A3D5C"/>
                </a:solidFill>
                <a:latin typeface="Calibri" pitchFamily="34" charset="0"/>
                <a:ea typeface="Calibri" pitchFamily="34" charset="-122"/>
                <a:cs typeface="Calibri" pitchFamily="34" charset="-120"/>
              </a:rPr>
              <a:t>API 기본 정보</a:t>
            </a:r>
            <a:endParaRPr lang="en-US" sz="1300" dirty="0"/>
          </a:p>
        </p:txBody>
      </p:sp>
      <p:sp>
        <p:nvSpPr>
          <p:cNvPr id="6" name="Text 4"/>
          <p:cNvSpPr/>
          <p:nvPr/>
        </p:nvSpPr>
        <p:spPr>
          <a:xfrm>
            <a:off x="411480" y="1444752"/>
            <a:ext cx="1188720" cy="384048"/>
          </a:xfrm>
          <a:prstGeom prst="rect">
            <a:avLst/>
          </a:prstGeom>
          <a:noFill/>
          <a:ln/>
        </p:spPr>
        <p:txBody>
          <a:bodyPr wrap="square" rtlCol="0" anchor="ctr"/>
          <a:lstStyle/>
          <a:p>
            <a:pPr indent="0" marL="0">
              <a:buNone/>
            </a:pPr>
            <a:r>
              <a:rPr lang="en-US" sz="1000" b="1" dirty="0">
                <a:solidFill>
                  <a:srgbClr val="4A6A80"/>
                </a:solidFill>
                <a:latin typeface="Calibri" pitchFamily="34" charset="0"/>
                <a:ea typeface="Calibri" pitchFamily="34" charset="-122"/>
                <a:cs typeface="Calibri" pitchFamily="34" charset="-120"/>
              </a:rPr>
              <a:t>엔드포인트:</a:t>
            </a:r>
            <a:endParaRPr lang="en-US" sz="1000" dirty="0"/>
          </a:p>
        </p:txBody>
      </p:sp>
      <p:sp>
        <p:nvSpPr>
          <p:cNvPr id="7" name="Text 5"/>
          <p:cNvSpPr/>
          <p:nvPr/>
        </p:nvSpPr>
        <p:spPr>
          <a:xfrm>
            <a:off x="1600200" y="1444752"/>
            <a:ext cx="2651760" cy="384048"/>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api.groq.com/openai/v1/chat/completions</a:t>
            </a:r>
            <a:endParaRPr lang="en-US" sz="1000" dirty="0"/>
          </a:p>
        </p:txBody>
      </p:sp>
      <p:sp>
        <p:nvSpPr>
          <p:cNvPr id="8" name="Text 6"/>
          <p:cNvSpPr/>
          <p:nvPr/>
        </p:nvSpPr>
        <p:spPr>
          <a:xfrm>
            <a:off x="411480" y="1901952"/>
            <a:ext cx="1188720" cy="384048"/>
          </a:xfrm>
          <a:prstGeom prst="rect">
            <a:avLst/>
          </a:prstGeom>
          <a:noFill/>
          <a:ln/>
        </p:spPr>
        <p:txBody>
          <a:bodyPr wrap="square" rtlCol="0" anchor="ctr"/>
          <a:lstStyle/>
          <a:p>
            <a:pPr indent="0" marL="0">
              <a:buNone/>
            </a:pPr>
            <a:r>
              <a:rPr lang="en-US" sz="1000" b="1" dirty="0">
                <a:solidFill>
                  <a:srgbClr val="4A6A80"/>
                </a:solidFill>
                <a:latin typeface="Calibri" pitchFamily="34" charset="0"/>
                <a:ea typeface="Calibri" pitchFamily="34" charset="-122"/>
                <a:cs typeface="Calibri" pitchFamily="34" charset="-120"/>
              </a:rPr>
              <a:t>모델:</a:t>
            </a:r>
            <a:endParaRPr lang="en-US" sz="1000" dirty="0"/>
          </a:p>
        </p:txBody>
      </p:sp>
      <p:sp>
        <p:nvSpPr>
          <p:cNvPr id="9" name="Text 7"/>
          <p:cNvSpPr/>
          <p:nvPr/>
        </p:nvSpPr>
        <p:spPr>
          <a:xfrm>
            <a:off x="1600200" y="1901952"/>
            <a:ext cx="2651760" cy="384048"/>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llama-3.3-70b-versatile</a:t>
            </a:r>
            <a:endParaRPr lang="en-US" sz="1000" dirty="0"/>
          </a:p>
        </p:txBody>
      </p:sp>
      <p:sp>
        <p:nvSpPr>
          <p:cNvPr id="10" name="Text 8"/>
          <p:cNvSpPr/>
          <p:nvPr/>
        </p:nvSpPr>
        <p:spPr>
          <a:xfrm>
            <a:off x="411480" y="2359152"/>
            <a:ext cx="1188720" cy="384048"/>
          </a:xfrm>
          <a:prstGeom prst="rect">
            <a:avLst/>
          </a:prstGeom>
          <a:noFill/>
          <a:ln/>
        </p:spPr>
        <p:txBody>
          <a:bodyPr wrap="square" rtlCol="0" anchor="ctr"/>
          <a:lstStyle/>
          <a:p>
            <a:pPr indent="0" marL="0">
              <a:buNone/>
            </a:pPr>
            <a:r>
              <a:rPr lang="en-US" sz="1000" b="1" dirty="0">
                <a:solidFill>
                  <a:srgbClr val="4A6A80"/>
                </a:solidFill>
                <a:latin typeface="Calibri" pitchFamily="34" charset="0"/>
                <a:ea typeface="Calibri" pitchFamily="34" charset="-122"/>
                <a:cs typeface="Calibri" pitchFamily="34" charset="-120"/>
              </a:rPr>
              <a:t>인증:</a:t>
            </a:r>
            <a:endParaRPr lang="en-US" sz="1000" dirty="0"/>
          </a:p>
        </p:txBody>
      </p:sp>
      <p:sp>
        <p:nvSpPr>
          <p:cNvPr id="11" name="Text 9"/>
          <p:cNvSpPr/>
          <p:nvPr/>
        </p:nvSpPr>
        <p:spPr>
          <a:xfrm>
            <a:off x="1600200" y="2359152"/>
            <a:ext cx="2651760" cy="384048"/>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Authorization: Bearer {GROQ_API_KEY}</a:t>
            </a:r>
            <a:endParaRPr lang="en-US" sz="1000" dirty="0"/>
          </a:p>
        </p:txBody>
      </p:sp>
      <p:sp>
        <p:nvSpPr>
          <p:cNvPr id="12" name="Text 10"/>
          <p:cNvSpPr/>
          <p:nvPr/>
        </p:nvSpPr>
        <p:spPr>
          <a:xfrm>
            <a:off x="411480" y="2816352"/>
            <a:ext cx="1188720" cy="384048"/>
          </a:xfrm>
          <a:prstGeom prst="rect">
            <a:avLst/>
          </a:prstGeom>
          <a:noFill/>
          <a:ln/>
        </p:spPr>
        <p:txBody>
          <a:bodyPr wrap="square" rtlCol="0" anchor="ctr"/>
          <a:lstStyle/>
          <a:p>
            <a:pPr indent="0" marL="0">
              <a:buNone/>
            </a:pPr>
            <a:r>
              <a:rPr lang="en-US" sz="1000" b="1" dirty="0">
                <a:solidFill>
                  <a:srgbClr val="4A6A80"/>
                </a:solidFill>
                <a:latin typeface="Calibri" pitchFamily="34" charset="0"/>
                <a:ea typeface="Calibri" pitchFamily="34" charset="-122"/>
                <a:cs typeface="Calibri" pitchFamily="34" charset="-120"/>
              </a:rPr>
              <a:t>형식:</a:t>
            </a:r>
            <a:endParaRPr lang="en-US" sz="1000" dirty="0"/>
          </a:p>
        </p:txBody>
      </p:sp>
      <p:sp>
        <p:nvSpPr>
          <p:cNvPr id="13" name="Text 11"/>
          <p:cNvSpPr/>
          <p:nvPr/>
        </p:nvSpPr>
        <p:spPr>
          <a:xfrm>
            <a:off x="1600200" y="2816352"/>
            <a:ext cx="2651760" cy="384048"/>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OpenAI 호환 (SDK 불필요)</a:t>
            </a:r>
            <a:endParaRPr lang="en-US" sz="1000" dirty="0"/>
          </a:p>
        </p:txBody>
      </p:sp>
      <p:sp>
        <p:nvSpPr>
          <p:cNvPr id="14" name="Text 12"/>
          <p:cNvSpPr/>
          <p:nvPr/>
        </p:nvSpPr>
        <p:spPr>
          <a:xfrm>
            <a:off x="411480" y="3273552"/>
            <a:ext cx="1188720" cy="384048"/>
          </a:xfrm>
          <a:prstGeom prst="rect">
            <a:avLst/>
          </a:prstGeom>
          <a:noFill/>
          <a:ln/>
        </p:spPr>
        <p:txBody>
          <a:bodyPr wrap="square" rtlCol="0" anchor="ctr"/>
          <a:lstStyle/>
          <a:p>
            <a:pPr indent="0" marL="0">
              <a:buNone/>
            </a:pPr>
            <a:r>
              <a:rPr lang="en-US" sz="1000" b="1" dirty="0">
                <a:solidFill>
                  <a:srgbClr val="4A6A80"/>
                </a:solidFill>
                <a:latin typeface="Calibri" pitchFamily="34" charset="0"/>
                <a:ea typeface="Calibri" pitchFamily="34" charset="-122"/>
                <a:cs typeface="Calibri" pitchFamily="34" charset="-120"/>
              </a:rPr>
              <a:t>max_tokens:</a:t>
            </a:r>
            <a:endParaRPr lang="en-US" sz="1000" dirty="0"/>
          </a:p>
        </p:txBody>
      </p:sp>
      <p:sp>
        <p:nvSpPr>
          <p:cNvPr id="15" name="Text 13"/>
          <p:cNvSpPr/>
          <p:nvPr/>
        </p:nvSpPr>
        <p:spPr>
          <a:xfrm>
            <a:off x="1600200" y="3273552"/>
            <a:ext cx="2651760" cy="384048"/>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2048</a:t>
            </a:r>
            <a:endParaRPr lang="en-US" sz="1000" dirty="0"/>
          </a:p>
        </p:txBody>
      </p:sp>
      <p:sp>
        <p:nvSpPr>
          <p:cNvPr id="16" name="Shape 14"/>
          <p:cNvSpPr/>
          <p:nvPr/>
        </p:nvSpPr>
        <p:spPr>
          <a:xfrm>
            <a:off x="4663440" y="1005840"/>
            <a:ext cx="4206240" cy="2926080"/>
          </a:xfrm>
          <a:prstGeom prst="roundRect">
            <a:avLst>
              <a:gd name="adj" fmla="val 3750"/>
            </a:avLst>
          </a:prstGeom>
          <a:solidFill>
            <a:srgbClr val="0D1F2D"/>
          </a:solidFill>
          <a:ln w="12700">
            <a:solidFill>
              <a:srgbClr val="1A3D5C"/>
            </a:solidFill>
            <a:prstDash val="solid"/>
          </a:ln>
          <a:effectLst>
            <a:outerShdw sx="100000" sy="100000" kx="0" ky="0" algn="bl" rotWithShape="0" blurRad="101600" dist="25400" dir="2700000">
              <a:srgbClr val="000000">
                <a:alpha val="10000"/>
              </a:srgbClr>
            </a:outerShdw>
          </a:effectLst>
        </p:spPr>
      </p:sp>
      <p:sp>
        <p:nvSpPr>
          <p:cNvPr id="17" name="Text 15"/>
          <p:cNvSpPr/>
          <p:nvPr/>
        </p:nvSpPr>
        <p:spPr>
          <a:xfrm>
            <a:off x="4800600" y="1078992"/>
            <a:ext cx="3931920" cy="274320"/>
          </a:xfrm>
          <a:prstGeom prst="rect">
            <a:avLst/>
          </a:prstGeom>
          <a:noFill/>
          <a:ln/>
        </p:spPr>
        <p:txBody>
          <a:bodyPr wrap="square" rtlCol="0" anchor="ctr"/>
          <a:lstStyle/>
          <a:p>
            <a:pPr indent="0" marL="0">
              <a:buNone/>
            </a:pPr>
            <a:r>
              <a:rPr lang="en-US" sz="1100" b="1" dirty="0">
                <a:solidFill>
                  <a:srgbClr val="A8C8D8"/>
                </a:solidFill>
                <a:latin typeface="Calibri" pitchFamily="34" charset="0"/>
                <a:ea typeface="Calibri" pitchFamily="34" charset="-122"/>
                <a:cs typeface="Calibri" pitchFamily="34" charset="-120"/>
              </a:rPr>
              <a:t>요청 구조 (Java pseudo)</a:t>
            </a:r>
            <a:endParaRPr lang="en-US" sz="1100" dirty="0"/>
          </a:p>
        </p:txBody>
      </p:sp>
      <p:sp>
        <p:nvSpPr>
          <p:cNvPr id="18" name="Text 16"/>
          <p:cNvSpPr/>
          <p:nvPr/>
        </p:nvSpPr>
        <p:spPr>
          <a:xfrm>
            <a:off x="4800600" y="1417320"/>
            <a:ext cx="3931920" cy="2377440"/>
          </a:xfrm>
          <a:prstGeom prst="rect">
            <a:avLst/>
          </a:prstGeom>
          <a:noFill/>
          <a:ln/>
        </p:spPr>
        <p:txBody>
          <a:bodyPr wrap="square" rtlCol="0" anchor="t"/>
          <a:lstStyle/>
          <a:p>
            <a:pPr indent="0" marL="0">
              <a:buNone/>
            </a:pPr>
            <a:r>
              <a:rPr lang="en-US" sz="1000" dirty="0">
                <a:solidFill>
                  <a:srgbClr val="A8D8E0"/>
                </a:solidFill>
                <a:latin typeface="Courier New" pitchFamily="34" charset="0"/>
                <a:ea typeface="Courier New" pitchFamily="34" charset="-122"/>
                <a:cs typeface="Courier New" pitchFamily="34" charset="-120"/>
              </a:rPr>
              <a:t>messages: [</a:t>
            </a:r>
            <a:endParaRPr lang="en-US" sz="1000" dirty="0"/>
          </a:p>
          <a:p>
            <a:pPr indent="0" marL="0">
              <a:buNone/>
            </a:pPr>
            <a:r>
              <a:rPr lang="en-US" sz="1000" dirty="0">
                <a:solidFill>
                  <a:srgbClr val="A8D8E0"/>
                </a:solidFill>
                <a:latin typeface="Courier New" pitchFamily="34" charset="0"/>
                <a:ea typeface="Courier New" pitchFamily="34" charset="-122"/>
                <a:cs typeface="Courier New" pitchFamily="34" charset="-120"/>
              </a:rPr>
              <a:t>  { role: "system",</a:t>
            </a:r>
            <a:endParaRPr lang="en-US" sz="1000" dirty="0"/>
          </a:p>
          <a:p>
            <a:pPr indent="0" marL="0">
              <a:buNone/>
            </a:pPr>
            <a:r>
              <a:rPr lang="en-US" sz="1000" dirty="0">
                <a:solidFill>
                  <a:srgbClr val="A8D8E0"/>
                </a:solidFill>
                <a:latin typeface="Courier New" pitchFamily="34" charset="0"/>
                <a:ea typeface="Courier New" pitchFamily="34" charset="-122"/>
                <a:cs typeface="Courier New" pitchFamily="34" charset="-120"/>
              </a:rPr>
              <a:t>    content: systemPrompt },</a:t>
            </a:r>
            <a:endParaRPr lang="en-US" sz="1000" dirty="0"/>
          </a:p>
          <a:p>
            <a:pPr indent="0" marL="0">
              <a:buNone/>
            </a:pPr>
            <a:r>
              <a:rPr lang="en-US" sz="1000" dirty="0">
                <a:solidFill>
                  <a:srgbClr val="A8D8E0"/>
                </a:solidFill>
                <a:latin typeface="Courier New" pitchFamily="34" charset="0"/>
                <a:ea typeface="Courier New" pitchFamily="34" charset="-122"/>
                <a:cs typeface="Courier New" pitchFamily="34" charset="-120"/>
              </a:rPr>
              <a:t>  { role: "user",</a:t>
            </a:r>
            <a:endParaRPr lang="en-US" sz="1000" dirty="0"/>
          </a:p>
          <a:p>
            <a:pPr indent="0" marL="0">
              <a:buNone/>
            </a:pPr>
            <a:r>
              <a:rPr lang="en-US" sz="1000" dirty="0">
                <a:solidFill>
                  <a:srgbClr val="A8D8E0"/>
                </a:solidFill>
                <a:latin typeface="Courier New" pitchFamily="34" charset="0"/>
                <a:ea typeface="Courier New" pitchFamily="34" charset="-122"/>
                <a:cs typeface="Courier New" pitchFamily="34" charset="-120"/>
              </a:rPr>
              <a:t>    content: dataPrompt }</a:t>
            </a:r>
            <a:endParaRPr lang="en-US" sz="1000" dirty="0"/>
          </a:p>
          <a:p>
            <a:pPr indent="0" marL="0">
              <a:buNone/>
            </a:pPr>
            <a:r>
              <a:rPr lang="en-US" sz="1000" dirty="0">
                <a:solidFill>
                  <a:srgbClr val="A8D8E0"/>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A8D8E0"/>
                </a:solidFill>
                <a:latin typeface="Courier New" pitchFamily="34" charset="0"/>
                <a:ea typeface="Courier New" pitchFamily="34" charset="-122"/>
                <a:cs typeface="Courier New" pitchFamily="34" charset="-120"/>
              </a:rPr>
              <a:t>model: "llama-3.3-70b-versatile"</a:t>
            </a:r>
            <a:endParaRPr lang="en-US" sz="1000" dirty="0"/>
          </a:p>
          <a:p>
            <a:pPr indent="0" marL="0">
              <a:buNone/>
            </a:pPr>
            <a:r>
              <a:rPr lang="en-US" sz="1000" dirty="0">
                <a:solidFill>
                  <a:srgbClr val="A8D8E0"/>
                </a:solidFill>
                <a:latin typeface="Courier New" pitchFamily="34" charset="0"/>
                <a:ea typeface="Courier New" pitchFamily="34" charset="-122"/>
                <a:cs typeface="Courier New" pitchFamily="34" charset="-120"/>
              </a:rPr>
              <a:t>max_tokens: 2048</a:t>
            </a:r>
            <a:endParaRPr lang="en-US" sz="1000" dirty="0"/>
          </a:p>
        </p:txBody>
      </p:sp>
      <p:sp>
        <p:nvSpPr>
          <p:cNvPr id="19" name="Shape 17"/>
          <p:cNvSpPr/>
          <p:nvPr/>
        </p:nvSpPr>
        <p:spPr>
          <a:xfrm>
            <a:off x="274320" y="4041648"/>
            <a:ext cx="8595360" cy="804672"/>
          </a:xfrm>
          <a:prstGeom prst="roundRect">
            <a:avLst>
              <a:gd name="adj" fmla="val 11364"/>
            </a:avLst>
          </a:prstGeom>
          <a:solidFill>
            <a:srgbClr val="E8F7F4"/>
          </a:solidFill>
          <a:ln w="12700">
            <a:solidFill>
              <a:srgbClr val="02C39A"/>
            </a:solidFill>
            <a:prstDash val="solid"/>
          </a:ln>
        </p:spPr>
      </p:sp>
      <p:sp>
        <p:nvSpPr>
          <p:cNvPr id="20" name="Text 18"/>
          <p:cNvSpPr/>
          <p:nvPr/>
        </p:nvSpPr>
        <p:spPr>
          <a:xfrm>
            <a:off x="411480" y="4078224"/>
            <a:ext cx="2743200" cy="256032"/>
          </a:xfrm>
          <a:prstGeom prst="rect">
            <a:avLst/>
          </a:prstGeom>
          <a:noFill/>
          <a:ln/>
        </p:spPr>
        <p:txBody>
          <a:bodyPr wrap="square" rtlCol="0" anchor="ctr"/>
          <a:lstStyle/>
          <a:p>
            <a:pPr indent="0" marL="0">
              <a:buNone/>
            </a:pPr>
            <a:r>
              <a:rPr lang="en-US" sz="1100" b="1" dirty="0">
                <a:solidFill>
                  <a:srgbClr val="1A3D5C"/>
                </a:solidFill>
                <a:latin typeface="Calibri" pitchFamily="34" charset="0"/>
                <a:ea typeface="Calibri" pitchFamily="34" charset="-122"/>
                <a:cs typeface="Calibri" pitchFamily="34" charset="-120"/>
              </a:rPr>
              <a:t>시스템 프롬프트 핵심 내용</a:t>
            </a:r>
            <a:endParaRPr lang="en-US" sz="1100" dirty="0"/>
          </a:p>
        </p:txBody>
      </p:sp>
      <p:sp>
        <p:nvSpPr>
          <p:cNvPr id="21" name="Text 19"/>
          <p:cNvSpPr/>
          <p:nvPr/>
        </p:nvSpPr>
        <p:spPr>
          <a:xfrm>
            <a:off x="411480" y="4334256"/>
            <a:ext cx="8229600" cy="457200"/>
          </a:xfrm>
          <a:prstGeom prst="rect">
            <a:avLst/>
          </a:prstGeom>
          <a:noFill/>
          <a:ln/>
        </p:spPr>
        <p:txBody>
          <a:bodyPr wrap="square" rtlCol="0" anchor="ctr"/>
          <a:lstStyle/>
          <a:p>
            <a:pPr indent="0" marL="0">
              <a:buNone/>
            </a:pPr>
            <a:r>
              <a:rPr lang="en-US" sz="1050" dirty="0">
                <a:solidFill>
                  <a:srgbClr val="1A2B3C"/>
                </a:solidFill>
                <a:latin typeface="Calibri" pitchFamily="34" charset="0"/>
                <a:ea typeface="Calibri" pitchFamily="34" charset="-122"/>
                <a:cs typeface="Calibri" pitchFamily="34" charset="-120"/>
              </a:rPr>
              <a:t>한국어로만 답변 / 한자 사용 금지 / 수질 전문가 역할 / 구조화된 분석 출력 (1.전체현황 2.이상징후 3.권고사항)</a:t>
            </a:r>
            <a:endParaRPr lang="en-US" sz="1050" dirty="0"/>
          </a:p>
        </p:txBody>
      </p:sp>
      <p:sp>
        <p:nvSpPr>
          <p:cNvPr id="22" name="Shape 20"/>
          <p:cNvSpPr/>
          <p:nvPr/>
        </p:nvSpPr>
        <p:spPr>
          <a:xfrm>
            <a:off x="274320" y="4919472"/>
            <a:ext cx="8595360" cy="164592"/>
          </a:xfrm>
          <a:prstGeom prst="roundRect">
            <a:avLst>
              <a:gd name="adj" fmla="val 22222"/>
            </a:avLst>
          </a:prstGeom>
          <a:solidFill>
            <a:srgbClr val="E8F4F8"/>
          </a:solidFill>
          <a:ln w="12700">
            <a:solidFill>
              <a:srgbClr val="C0D8E8"/>
            </a:solidFill>
            <a:prstDash val="solid"/>
          </a:ln>
        </p:spPr>
      </p:sp>
      <p:sp>
        <p:nvSpPr>
          <p:cNvPr id="23" name="Text 21"/>
          <p:cNvSpPr/>
          <p:nvPr/>
        </p:nvSpPr>
        <p:spPr>
          <a:xfrm>
            <a:off x="411480" y="4919472"/>
            <a:ext cx="8321040" cy="164592"/>
          </a:xfrm>
          <a:prstGeom prst="rect">
            <a:avLst/>
          </a:prstGeom>
          <a:noFill/>
          <a:ln/>
        </p:spPr>
        <p:txBody>
          <a:bodyPr wrap="square" rtlCol="0" anchor="ctr"/>
          <a:lstStyle/>
          <a:p>
            <a:pPr indent="0" marL="0">
              <a:buNone/>
            </a:pPr>
            <a:r>
              <a:rPr lang="en-US" sz="950" dirty="0">
                <a:solidFill>
                  <a:srgbClr val="4A6A80"/>
                </a:solidFill>
                <a:latin typeface="Calibri" pitchFamily="34" charset="0"/>
                <a:ea typeface="Calibri" pitchFamily="34" charset="-122"/>
                <a:cs typeface="Calibri" pitchFamily="34" charset="-120"/>
              </a:rPr>
              <a:t>OpenAI 호환 형식이라 SDK 없이 RestTemplate으로 바로 호출 가능</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D5C"/>
          </a:solidFill>
          <a:ln w="12700">
            <a:solidFill>
              <a:srgbClr val="1A3D5C"/>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AI 분석 품질을 높이는 프롬프트 설계</a:t>
            </a:r>
            <a:endParaRPr lang="en-US" sz="2000" dirty="0"/>
          </a:p>
        </p:txBody>
      </p:sp>
      <p:sp>
        <p:nvSpPr>
          <p:cNvPr id="4" name="Shape 2"/>
          <p:cNvSpPr/>
          <p:nvPr/>
        </p:nvSpPr>
        <p:spPr>
          <a:xfrm>
            <a:off x="274320" y="1005840"/>
            <a:ext cx="3931920" cy="1645920"/>
          </a:xfrm>
          <a:prstGeom prst="roundRect">
            <a:avLst>
              <a:gd name="adj" fmla="val 5556"/>
            </a:avLst>
          </a:prstGeom>
          <a:solidFill>
            <a:srgbClr val="F0F7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5" name="Text 3"/>
          <p:cNvSpPr/>
          <p:nvPr/>
        </p:nvSpPr>
        <p:spPr>
          <a:xfrm>
            <a:off x="411480" y="1051560"/>
            <a:ext cx="3657600" cy="274320"/>
          </a:xfrm>
          <a:prstGeom prst="rect">
            <a:avLst/>
          </a:prstGeom>
          <a:noFill/>
          <a:ln/>
        </p:spPr>
        <p:txBody>
          <a:bodyPr wrap="square" rtlCol="0" anchor="ctr"/>
          <a:lstStyle/>
          <a:p>
            <a:pPr indent="0" marL="0">
              <a:buNone/>
            </a:pPr>
            <a:r>
              <a:rPr lang="en-US" sz="1200" b="1" dirty="0">
                <a:solidFill>
                  <a:srgbClr val="1A3D5C"/>
                </a:solidFill>
                <a:latin typeface="Calibri" pitchFamily="34" charset="0"/>
                <a:ea typeface="Calibri" pitchFamily="34" charset="-122"/>
                <a:cs typeface="Calibri" pitchFamily="34" charset="-120"/>
              </a:rPr>
              <a:t>데이터 준비 전략</a:t>
            </a:r>
            <a:endParaRPr lang="en-US" sz="1200" dirty="0"/>
          </a:p>
        </p:txBody>
      </p:sp>
      <p:sp>
        <p:nvSpPr>
          <p:cNvPr id="6" name="Text 4"/>
          <p:cNvSpPr/>
          <p:nvPr/>
        </p:nvSpPr>
        <p:spPr>
          <a:xfrm>
            <a:off x="411480" y="1371600"/>
            <a:ext cx="3657600" cy="1188720"/>
          </a:xfrm>
          <a:prstGeom prst="rect">
            <a:avLst/>
          </a:prstGeom>
          <a:noFill/>
          <a:ln/>
        </p:spPr>
        <p:txBody>
          <a:bodyPr wrap="square" rtlCol="0" anchor="ctr"/>
          <a:lstStyle/>
          <a:p>
            <a:pPr indent="0" marL="0">
              <a:buNone/>
            </a:pPr>
            <a:r>
              <a:rPr lang="en-US" sz="1050" dirty="0">
                <a:solidFill>
                  <a:srgbClr val="1A2B3C"/>
                </a:solidFill>
                <a:latin typeface="Calibri" pitchFamily="34" charset="0"/>
                <a:ea typeface="Calibri" pitchFamily="34" charset="-122"/>
                <a:cs typeface="Calibri" pitchFamily="34" charset="-120"/>
              </a:rPr>
              <a:t>fcltyMngNo (시설관리번호)를 기준으로</a:t>
            </a:r>
            <a:endParaRPr lang="en-US" sz="1050" dirty="0"/>
          </a:p>
          <a:p>
            <a:pPr indent="0" marL="0">
              <a:buNone/>
            </a:pPr>
            <a:r>
              <a:rPr lang="en-US" sz="1050" dirty="0">
                <a:solidFill>
                  <a:srgbClr val="1A2B3C"/>
                </a:solidFill>
                <a:latin typeface="Calibri" pitchFamily="34" charset="0"/>
                <a:ea typeface="Calibri" pitchFamily="34" charset="-122"/>
                <a:cs typeface="Calibri" pitchFamily="34" charset="-120"/>
              </a:rPr>
              <a:t>수질 데이터 + 유량 데이터 JOIN</a:t>
            </a:r>
            <a:endParaRPr lang="en-US" sz="1050" dirty="0"/>
          </a:p>
          <a:p>
            <a:pPr indent="0" marL="0">
              <a:buNone/>
            </a:pPr>
            <a:endParaRPr lang="en-US" sz="1050" dirty="0"/>
          </a:p>
          <a:p>
            <a:pPr indent="0" marL="0">
              <a:buNone/>
            </a:pPr>
            <a:r>
              <a:rPr lang="en-US" sz="1050" dirty="0">
                <a:solidFill>
                  <a:srgbClr val="1A2B3C"/>
                </a:solidFill>
                <a:latin typeface="Calibri" pitchFamily="34" charset="0"/>
                <a:ea typeface="Calibri" pitchFamily="34" charset="-122"/>
                <a:cs typeface="Calibri" pitchFamily="34" charset="-120"/>
              </a:rPr>
              <a:t>통합 / 수질만 / 유량만 → 3개 섹션으로 분리</a:t>
            </a:r>
            <a:endParaRPr lang="en-US" sz="1050" dirty="0"/>
          </a:p>
          <a:p>
            <a:pPr indent="0" marL="0">
              <a:buNone/>
            </a:pPr>
            <a:r>
              <a:rPr lang="en-US" sz="1050" dirty="0">
                <a:solidFill>
                  <a:srgbClr val="1A2B3C"/>
                </a:solidFill>
                <a:latin typeface="Calibri" pitchFamily="34" charset="0"/>
                <a:ea typeface="Calibri" pitchFamily="34" charset="-122"/>
                <a:cs typeface="Calibri" pitchFamily="34" charset="-120"/>
              </a:rPr>
              <a:t>→ AI에게 각각 전달</a:t>
            </a:r>
            <a:endParaRPr lang="en-US" sz="1050" dirty="0"/>
          </a:p>
        </p:txBody>
      </p:sp>
      <p:sp>
        <p:nvSpPr>
          <p:cNvPr id="7" name="Shape 5"/>
          <p:cNvSpPr/>
          <p:nvPr/>
        </p:nvSpPr>
        <p:spPr>
          <a:xfrm>
            <a:off x="4434840" y="1005840"/>
            <a:ext cx="4389120" cy="1645920"/>
          </a:xfrm>
          <a:prstGeom prst="roundRect">
            <a:avLst>
              <a:gd name="adj" fmla="val 5556"/>
            </a:avLst>
          </a:prstGeom>
          <a:solidFill>
            <a:srgbClr val="E8F7F4"/>
          </a:solidFill>
          <a:ln w="12700">
            <a:solidFill>
              <a:srgbClr val="02C39A"/>
            </a:solidFill>
            <a:prstDash val="solid"/>
          </a:ln>
          <a:effectLst>
            <a:outerShdw sx="100000" sy="100000" kx="0" ky="0" algn="bl" rotWithShape="0" blurRad="101600" dist="25400" dir="2700000">
              <a:srgbClr val="000000">
                <a:alpha val="10000"/>
              </a:srgbClr>
            </a:outerShdw>
          </a:effectLst>
        </p:spPr>
      </p:sp>
      <p:sp>
        <p:nvSpPr>
          <p:cNvPr id="8" name="Text 6"/>
          <p:cNvSpPr/>
          <p:nvPr/>
        </p:nvSpPr>
        <p:spPr>
          <a:xfrm>
            <a:off x="4572000" y="1051560"/>
            <a:ext cx="4114800" cy="274320"/>
          </a:xfrm>
          <a:prstGeom prst="rect">
            <a:avLst/>
          </a:prstGeom>
          <a:noFill/>
          <a:ln/>
        </p:spPr>
        <p:txBody>
          <a:bodyPr wrap="square" rtlCol="0" anchor="ctr"/>
          <a:lstStyle/>
          <a:p>
            <a:pPr indent="0" marL="0">
              <a:buNone/>
            </a:pPr>
            <a:r>
              <a:rPr lang="en-US" sz="1200" b="1" dirty="0">
                <a:solidFill>
                  <a:srgbClr val="1A3D5C"/>
                </a:solidFill>
                <a:latin typeface="Calibri" pitchFamily="34" charset="0"/>
                <a:ea typeface="Calibri" pitchFamily="34" charset="-122"/>
                <a:cs typeface="Calibri" pitchFamily="34" charset="-120"/>
              </a:rPr>
              <a:t>출력 구조 강제</a:t>
            </a:r>
            <a:endParaRPr lang="en-US" sz="1200" dirty="0"/>
          </a:p>
        </p:txBody>
      </p:sp>
      <p:sp>
        <p:nvSpPr>
          <p:cNvPr id="9" name="Text 7"/>
          <p:cNvSpPr/>
          <p:nvPr/>
        </p:nvSpPr>
        <p:spPr>
          <a:xfrm>
            <a:off x="4572000" y="1371600"/>
            <a:ext cx="4114800" cy="1188720"/>
          </a:xfrm>
          <a:prstGeom prst="rect">
            <a:avLst/>
          </a:prstGeom>
          <a:noFill/>
          <a:ln/>
        </p:spPr>
        <p:txBody>
          <a:bodyPr wrap="square" rtlCol="0" anchor="ctr"/>
          <a:lstStyle/>
          <a:p>
            <a:pPr indent="0" marL="0">
              <a:buNone/>
            </a:pPr>
            <a:r>
              <a:rPr lang="en-US" sz="1050" dirty="0">
                <a:solidFill>
                  <a:srgbClr val="1A2B3C"/>
                </a:solidFill>
                <a:latin typeface="Calibri" pitchFamily="34" charset="0"/>
                <a:ea typeface="Calibri" pitchFamily="34" charset="-122"/>
                <a:cs typeface="Calibri" pitchFamily="34" charset="-120"/>
              </a:rPr>
              <a:t>1. 전체현황: 수질/유량 종합 요약</a:t>
            </a:r>
            <a:endParaRPr lang="en-US" sz="1050" dirty="0"/>
          </a:p>
          <a:p>
            <a:pPr indent="0" marL="0">
              <a:buNone/>
            </a:pPr>
            <a:r>
              <a:rPr lang="en-US" sz="1050" dirty="0">
                <a:solidFill>
                  <a:srgbClr val="1A2B3C"/>
                </a:solidFill>
                <a:latin typeface="Calibri" pitchFamily="34" charset="0"/>
                <a:ea typeface="Calibri" pitchFamily="34" charset="-122"/>
                <a:cs typeface="Calibri" pitchFamily="34" charset="-120"/>
              </a:rPr>
              <a:t>2. 이상징후: 기준 초과 항목 목록</a:t>
            </a:r>
            <a:endParaRPr lang="en-US" sz="1050" dirty="0"/>
          </a:p>
          <a:p>
            <a:pPr indent="0" marL="0">
              <a:buNone/>
            </a:pPr>
            <a:r>
              <a:rPr lang="en-US" sz="1050" dirty="0">
                <a:solidFill>
                  <a:srgbClr val="1A2B3C"/>
                </a:solidFill>
                <a:latin typeface="Calibri" pitchFamily="34" charset="0"/>
                <a:ea typeface="Calibri" pitchFamily="34" charset="-122"/>
                <a:cs typeface="Calibri" pitchFamily="34" charset="-120"/>
              </a:rPr>
              <a:t>3. 권고사항: 구체적 조치 방법</a:t>
            </a:r>
            <a:endParaRPr lang="en-US" sz="1050" dirty="0"/>
          </a:p>
          <a:p>
            <a:pPr indent="0" marL="0">
              <a:buNone/>
            </a:pPr>
            <a:endParaRPr lang="en-US" sz="1050" dirty="0"/>
          </a:p>
          <a:p>
            <a:pPr indent="0" marL="0">
              <a:buNone/>
            </a:pPr>
            <a:r>
              <a:rPr lang="en-US" sz="1050" dirty="0">
                <a:solidFill>
                  <a:srgbClr val="1A2B3C"/>
                </a:solidFill>
                <a:latin typeface="Calibri" pitchFamily="34" charset="0"/>
                <a:ea typeface="Calibri" pitchFamily="34" charset="-122"/>
                <a:cs typeface="Calibri" pitchFamily="34" charset="-120"/>
              </a:rPr>
              <a:t>→ JSON 출력 형식 지정으로 파싱 용이</a:t>
            </a:r>
            <a:endParaRPr lang="en-US" sz="1050" dirty="0"/>
          </a:p>
        </p:txBody>
      </p:sp>
      <p:sp>
        <p:nvSpPr>
          <p:cNvPr id="10" name="Text 8"/>
          <p:cNvSpPr/>
          <p:nvPr/>
        </p:nvSpPr>
        <p:spPr>
          <a:xfrm>
            <a:off x="274320" y="2788920"/>
            <a:ext cx="4572000" cy="274320"/>
          </a:xfrm>
          <a:prstGeom prst="rect">
            <a:avLst/>
          </a:prstGeom>
          <a:noFill/>
          <a:ln/>
        </p:spPr>
        <p:txBody>
          <a:bodyPr wrap="square" rtlCol="0" anchor="ctr"/>
          <a:lstStyle/>
          <a:p>
            <a:pPr indent="0" marL="0">
              <a:buNone/>
            </a:pPr>
            <a:r>
              <a:rPr lang="en-US" sz="1200" b="1" dirty="0">
                <a:solidFill>
                  <a:srgbClr val="1A3D5C"/>
                </a:solidFill>
                <a:latin typeface="Calibri" pitchFamily="34" charset="0"/>
                <a:ea typeface="Calibri" pitchFamily="34" charset="-122"/>
                <a:cs typeface="Calibri" pitchFamily="34" charset="-120"/>
              </a:rPr>
              <a:t>프롬프트 반복 개선 과정</a:t>
            </a:r>
            <a:endParaRPr lang="en-US" sz="1200" dirty="0"/>
          </a:p>
        </p:txBody>
      </p:sp>
      <p:sp>
        <p:nvSpPr>
          <p:cNvPr id="11" name="Shape 9"/>
          <p:cNvSpPr/>
          <p:nvPr/>
        </p:nvSpPr>
        <p:spPr>
          <a:xfrm>
            <a:off x="274320" y="3127248"/>
            <a:ext cx="2743200" cy="1554480"/>
          </a:xfrm>
          <a:prstGeom prst="roundRect">
            <a:avLst>
              <a:gd name="adj" fmla="val 5882"/>
            </a:avLst>
          </a:prstGeom>
          <a:solidFill>
            <a:srgbClr val="FFF5F5"/>
          </a:solidFill>
          <a:ln w="12700">
            <a:solidFill>
              <a:srgbClr val="E53E3E"/>
            </a:solidFill>
            <a:prstDash val="solid"/>
          </a:ln>
          <a:effectLst>
            <a:outerShdw sx="100000" sy="100000" kx="0" ky="0" algn="bl" rotWithShape="0" blurRad="101600" dist="25400" dir="2700000">
              <a:srgbClr val="000000">
                <a:alpha val="10000"/>
              </a:srgbClr>
            </a:outerShdw>
          </a:effectLst>
        </p:spPr>
      </p:sp>
      <p:sp>
        <p:nvSpPr>
          <p:cNvPr id="12" name="Shape 10"/>
          <p:cNvSpPr/>
          <p:nvPr/>
        </p:nvSpPr>
        <p:spPr>
          <a:xfrm>
            <a:off x="384048" y="3218688"/>
            <a:ext cx="438912" cy="438912"/>
          </a:xfrm>
          <a:prstGeom prst="ellipse">
            <a:avLst/>
          </a:prstGeom>
          <a:solidFill>
            <a:srgbClr val="E53E3E"/>
          </a:solidFill>
          <a:ln w="12700">
            <a:solidFill>
              <a:srgbClr val="E53E3E"/>
            </a:solidFill>
            <a:prstDash val="solid"/>
          </a:ln>
        </p:spPr>
      </p:sp>
      <p:sp>
        <p:nvSpPr>
          <p:cNvPr id="13" name="Text 11"/>
          <p:cNvSpPr/>
          <p:nvPr/>
        </p:nvSpPr>
        <p:spPr>
          <a:xfrm>
            <a:off x="384048" y="3218688"/>
            <a:ext cx="438912" cy="43891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v1</a:t>
            </a:r>
            <a:endParaRPr lang="en-US" sz="1200" dirty="0"/>
          </a:p>
        </p:txBody>
      </p:sp>
      <p:sp>
        <p:nvSpPr>
          <p:cNvPr id="14" name="Text 12"/>
          <p:cNvSpPr/>
          <p:nvPr/>
        </p:nvSpPr>
        <p:spPr>
          <a:xfrm>
            <a:off x="914400" y="3218688"/>
            <a:ext cx="2011680" cy="438912"/>
          </a:xfrm>
          <a:prstGeom prst="rect">
            <a:avLst/>
          </a:prstGeom>
          <a:noFill/>
          <a:ln/>
        </p:spPr>
        <p:txBody>
          <a:bodyPr wrap="square"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단순 데이터 전달</a:t>
            </a:r>
            <a:endParaRPr lang="en-US" sz="1000" dirty="0"/>
          </a:p>
        </p:txBody>
      </p:sp>
      <p:sp>
        <p:nvSpPr>
          <p:cNvPr id="15" name="Text 13"/>
          <p:cNvSpPr/>
          <p:nvPr/>
        </p:nvSpPr>
        <p:spPr>
          <a:xfrm>
            <a:off x="384048" y="3730752"/>
            <a:ext cx="2514600" cy="822960"/>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결과: 비구조화된 응답, 한자 포함</a:t>
            </a:r>
            <a:endParaRPr lang="en-US" sz="1000" dirty="0"/>
          </a:p>
        </p:txBody>
      </p:sp>
      <p:sp>
        <p:nvSpPr>
          <p:cNvPr id="16" name="Shape 14"/>
          <p:cNvSpPr/>
          <p:nvPr/>
        </p:nvSpPr>
        <p:spPr>
          <a:xfrm>
            <a:off x="3200400" y="3127248"/>
            <a:ext cx="2743200" cy="1554480"/>
          </a:xfrm>
          <a:prstGeom prst="roundRect">
            <a:avLst>
              <a:gd name="adj" fmla="val 5882"/>
            </a:avLst>
          </a:prstGeom>
          <a:solidFill>
            <a:srgbClr val="FFF5F5"/>
          </a:solidFill>
          <a:ln w="12700">
            <a:solidFill>
              <a:srgbClr val="DD6B20"/>
            </a:solidFill>
            <a:prstDash val="solid"/>
          </a:ln>
          <a:effectLst>
            <a:outerShdw sx="100000" sy="100000" kx="0" ky="0" algn="bl" rotWithShape="0" blurRad="101600" dist="25400" dir="2700000">
              <a:srgbClr val="000000">
                <a:alpha val="10000"/>
              </a:srgbClr>
            </a:outerShdw>
          </a:effectLst>
        </p:spPr>
      </p:sp>
      <p:sp>
        <p:nvSpPr>
          <p:cNvPr id="17" name="Shape 15"/>
          <p:cNvSpPr/>
          <p:nvPr/>
        </p:nvSpPr>
        <p:spPr>
          <a:xfrm>
            <a:off x="3310128" y="3218688"/>
            <a:ext cx="438912" cy="438912"/>
          </a:xfrm>
          <a:prstGeom prst="ellipse">
            <a:avLst/>
          </a:prstGeom>
          <a:solidFill>
            <a:srgbClr val="DD6B20"/>
          </a:solidFill>
          <a:ln w="12700">
            <a:solidFill>
              <a:srgbClr val="DD6B20"/>
            </a:solidFill>
            <a:prstDash val="solid"/>
          </a:ln>
        </p:spPr>
      </p:sp>
      <p:sp>
        <p:nvSpPr>
          <p:cNvPr id="18" name="Text 16"/>
          <p:cNvSpPr/>
          <p:nvPr/>
        </p:nvSpPr>
        <p:spPr>
          <a:xfrm>
            <a:off x="3310128" y="3218688"/>
            <a:ext cx="438912" cy="43891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v2</a:t>
            </a:r>
            <a:endParaRPr lang="en-US" sz="1200" dirty="0"/>
          </a:p>
        </p:txBody>
      </p:sp>
      <p:sp>
        <p:nvSpPr>
          <p:cNvPr id="19" name="Text 17"/>
          <p:cNvSpPr/>
          <p:nvPr/>
        </p:nvSpPr>
        <p:spPr>
          <a:xfrm>
            <a:off x="3840480" y="3218688"/>
            <a:ext cx="2011680" cy="438912"/>
          </a:xfrm>
          <a:prstGeom prst="rect">
            <a:avLst/>
          </a:prstGeom>
          <a:noFill/>
          <a:ln/>
        </p:spPr>
        <p:txBody>
          <a:bodyPr wrap="square"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출력 구조 지정 추가</a:t>
            </a:r>
            <a:endParaRPr lang="en-US" sz="1000" dirty="0"/>
          </a:p>
        </p:txBody>
      </p:sp>
      <p:sp>
        <p:nvSpPr>
          <p:cNvPr id="20" name="Text 18"/>
          <p:cNvSpPr/>
          <p:nvPr/>
        </p:nvSpPr>
        <p:spPr>
          <a:xfrm>
            <a:off x="3310128" y="3730752"/>
            <a:ext cx="2514600" cy="822960"/>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결과: 구조화 성공, 한자 여전히 포함</a:t>
            </a:r>
            <a:endParaRPr lang="en-US" sz="1000" dirty="0"/>
          </a:p>
        </p:txBody>
      </p:sp>
      <p:sp>
        <p:nvSpPr>
          <p:cNvPr id="21" name="Shape 19"/>
          <p:cNvSpPr/>
          <p:nvPr/>
        </p:nvSpPr>
        <p:spPr>
          <a:xfrm>
            <a:off x="6126480" y="3127248"/>
            <a:ext cx="2743200" cy="1554480"/>
          </a:xfrm>
          <a:prstGeom prst="roundRect">
            <a:avLst>
              <a:gd name="adj" fmla="val 5882"/>
            </a:avLst>
          </a:prstGeom>
          <a:solidFill>
            <a:srgbClr val="F0FFF4"/>
          </a:solidFill>
          <a:ln w="12700">
            <a:solidFill>
              <a:srgbClr val="38A169"/>
            </a:solidFill>
            <a:prstDash val="solid"/>
          </a:ln>
          <a:effectLst>
            <a:outerShdw sx="100000" sy="100000" kx="0" ky="0" algn="bl" rotWithShape="0" blurRad="101600" dist="25400" dir="2700000">
              <a:srgbClr val="000000">
                <a:alpha val="10000"/>
              </a:srgbClr>
            </a:outerShdw>
          </a:effectLst>
        </p:spPr>
      </p:sp>
      <p:sp>
        <p:nvSpPr>
          <p:cNvPr id="22" name="Shape 20"/>
          <p:cNvSpPr/>
          <p:nvPr/>
        </p:nvSpPr>
        <p:spPr>
          <a:xfrm>
            <a:off x="6236208" y="3218688"/>
            <a:ext cx="438912" cy="438912"/>
          </a:xfrm>
          <a:prstGeom prst="ellipse">
            <a:avLst/>
          </a:prstGeom>
          <a:solidFill>
            <a:srgbClr val="38A169"/>
          </a:solidFill>
          <a:ln w="12700">
            <a:solidFill>
              <a:srgbClr val="38A169"/>
            </a:solidFill>
            <a:prstDash val="solid"/>
          </a:ln>
        </p:spPr>
      </p:sp>
      <p:sp>
        <p:nvSpPr>
          <p:cNvPr id="23" name="Text 21"/>
          <p:cNvSpPr/>
          <p:nvPr/>
        </p:nvSpPr>
        <p:spPr>
          <a:xfrm>
            <a:off x="6236208" y="3218688"/>
            <a:ext cx="438912" cy="43891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v3</a:t>
            </a:r>
            <a:endParaRPr lang="en-US" sz="1200" dirty="0"/>
          </a:p>
        </p:txBody>
      </p:sp>
      <p:sp>
        <p:nvSpPr>
          <p:cNvPr id="24" name="Text 22"/>
          <p:cNvSpPr/>
          <p:nvPr/>
        </p:nvSpPr>
        <p:spPr>
          <a:xfrm>
            <a:off x="6766560" y="3218688"/>
            <a:ext cx="2011680" cy="438912"/>
          </a:xfrm>
          <a:prstGeom prst="rect">
            <a:avLst/>
          </a:prstGeom>
          <a:noFill/>
          <a:ln/>
        </p:spPr>
        <p:txBody>
          <a:bodyPr wrap="square" rtlCol="0" anchor="ctr"/>
          <a:lstStyle/>
          <a:p>
            <a:pPr indent="0" marL="0">
              <a:buNone/>
            </a:pPr>
            <a:r>
              <a:rPr lang="en-US" sz="1000" b="1" dirty="0">
                <a:solidFill>
                  <a:srgbClr val="1A2B3C"/>
                </a:solidFill>
                <a:latin typeface="Calibri" pitchFamily="34" charset="0"/>
                <a:ea typeface="Calibri" pitchFamily="34" charset="-122"/>
                <a:cs typeface="Calibri" pitchFamily="34" charset="-120"/>
              </a:rPr>
              <a:t>한국어 전용 + 한자 금지 명시</a:t>
            </a:r>
            <a:endParaRPr lang="en-US" sz="1000" dirty="0"/>
          </a:p>
        </p:txBody>
      </p:sp>
      <p:sp>
        <p:nvSpPr>
          <p:cNvPr id="25" name="Text 23"/>
          <p:cNvSpPr/>
          <p:nvPr/>
        </p:nvSpPr>
        <p:spPr>
          <a:xfrm>
            <a:off x="6236208" y="3730752"/>
            <a:ext cx="2514600" cy="822960"/>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결과: 완벽한 한국어 구조화 출력</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D5C"/>
          </a:solidFill>
          <a:ln w="12700">
            <a:solidFill>
              <a:srgbClr val="1A3D5C"/>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ConcurrentHashMap으로 인메모리 캐시 구현</a:t>
            </a:r>
            <a:endParaRPr lang="en-US" sz="2000" dirty="0"/>
          </a:p>
        </p:txBody>
      </p:sp>
      <p:sp>
        <p:nvSpPr>
          <p:cNvPr id="4" name="Shape 2"/>
          <p:cNvSpPr/>
          <p:nvPr/>
        </p:nvSpPr>
        <p:spPr>
          <a:xfrm>
            <a:off x="228600" y="1051560"/>
            <a:ext cx="1115568" cy="502920"/>
          </a:xfrm>
          <a:prstGeom prst="roundRect">
            <a:avLst>
              <a:gd name="adj" fmla="val 14545"/>
            </a:avLst>
          </a:prstGeom>
          <a:solidFill>
            <a:srgbClr val="1A3D5C">
              <a:alpha val="15000"/>
            </a:srgbClr>
          </a:solidFill>
          <a:ln w="12700">
            <a:solidFill>
              <a:srgbClr val="1A3D5C"/>
            </a:solidFill>
            <a:prstDash val="solid"/>
          </a:ln>
        </p:spPr>
      </p:sp>
      <p:sp>
        <p:nvSpPr>
          <p:cNvPr id="5" name="Text 3"/>
          <p:cNvSpPr/>
          <p:nvPr/>
        </p:nvSpPr>
        <p:spPr>
          <a:xfrm>
            <a:off x="228600" y="1051560"/>
            <a:ext cx="1115568" cy="502920"/>
          </a:xfrm>
          <a:prstGeom prst="rect">
            <a:avLst/>
          </a:prstGeom>
          <a:noFill/>
          <a:ln/>
        </p:spPr>
        <p:txBody>
          <a:bodyPr wrap="square" rtlCol="0" anchor="ctr"/>
          <a:lstStyle/>
          <a:p>
            <a:pPr algn="ctr" indent="0" marL="0">
              <a:buNone/>
            </a:pPr>
            <a:r>
              <a:rPr lang="en-US" sz="900" b="1" dirty="0">
                <a:solidFill>
                  <a:srgbClr val="1A3D5C"/>
                </a:solidFill>
                <a:latin typeface="Calibri" pitchFamily="34" charset="0"/>
                <a:ea typeface="Calibri" pitchFamily="34" charset="-122"/>
                <a:cs typeface="Calibri" pitchFamily="34" charset="-120"/>
              </a:rPr>
              <a:t>요청 수신</a:t>
            </a:r>
            <a:endParaRPr lang="en-US" sz="900" dirty="0"/>
          </a:p>
        </p:txBody>
      </p:sp>
      <p:sp>
        <p:nvSpPr>
          <p:cNvPr id="6" name="Text 4"/>
          <p:cNvSpPr/>
          <p:nvPr/>
        </p:nvSpPr>
        <p:spPr>
          <a:xfrm>
            <a:off x="1261872" y="1143000"/>
            <a:ext cx="182880" cy="320040"/>
          </a:xfrm>
          <a:prstGeom prst="rect">
            <a:avLst/>
          </a:prstGeom>
          <a:noFill/>
          <a:ln/>
        </p:spPr>
        <p:txBody>
          <a:bodyPr wrap="square" rtlCol="0" anchor="ctr"/>
          <a:lstStyle/>
          <a:p>
            <a:pPr algn="ctr" indent="0" marL="0">
              <a:buNone/>
            </a:pPr>
            <a:r>
              <a:rPr lang="en-US" sz="1300" dirty="0">
                <a:solidFill>
                  <a:srgbClr val="4A6A80"/>
                </a:solidFill>
                <a:latin typeface="Calibri" pitchFamily="34" charset="0"/>
                <a:ea typeface="Calibri" pitchFamily="34" charset="-122"/>
                <a:cs typeface="Calibri" pitchFamily="34" charset="-120"/>
              </a:rPr>
              <a:t>→</a:t>
            </a:r>
            <a:endParaRPr lang="en-US" sz="1300" dirty="0"/>
          </a:p>
        </p:txBody>
      </p:sp>
      <p:sp>
        <p:nvSpPr>
          <p:cNvPr id="7" name="Shape 5"/>
          <p:cNvSpPr/>
          <p:nvPr/>
        </p:nvSpPr>
        <p:spPr>
          <a:xfrm>
            <a:off x="1472184" y="1051560"/>
            <a:ext cx="1115568" cy="502920"/>
          </a:xfrm>
          <a:prstGeom prst="roundRect">
            <a:avLst>
              <a:gd name="adj" fmla="val 14545"/>
            </a:avLst>
          </a:prstGeom>
          <a:solidFill>
            <a:srgbClr val="0369A1">
              <a:alpha val="15000"/>
            </a:srgbClr>
          </a:solidFill>
          <a:ln w="12700">
            <a:solidFill>
              <a:srgbClr val="0369A1"/>
            </a:solidFill>
            <a:prstDash val="solid"/>
          </a:ln>
        </p:spPr>
      </p:sp>
      <p:sp>
        <p:nvSpPr>
          <p:cNvPr id="8" name="Text 6"/>
          <p:cNvSpPr/>
          <p:nvPr/>
        </p:nvSpPr>
        <p:spPr>
          <a:xfrm>
            <a:off x="1472184" y="1051560"/>
            <a:ext cx="1115568" cy="502920"/>
          </a:xfrm>
          <a:prstGeom prst="rect">
            <a:avLst/>
          </a:prstGeom>
          <a:noFill/>
          <a:ln/>
        </p:spPr>
        <p:txBody>
          <a:bodyPr wrap="square" rtlCol="0" anchor="ctr"/>
          <a:lstStyle/>
          <a:p>
            <a:pPr algn="ctr" indent="0" marL="0">
              <a:buNone/>
            </a:pPr>
            <a:r>
              <a:rPr lang="en-US" sz="900" b="1" dirty="0">
                <a:solidFill>
                  <a:srgbClr val="0369A1"/>
                </a:solidFill>
                <a:latin typeface="Calibri" pitchFamily="34" charset="0"/>
                <a:ea typeface="Calibri" pitchFamily="34" charset="-122"/>
                <a:cs typeface="Calibri" pitchFamily="34" charset="-120"/>
              </a:rPr>
              <a:t>캐시 키 생성</a:t>
            </a:r>
            <a:endParaRPr lang="en-US" sz="900" dirty="0"/>
          </a:p>
        </p:txBody>
      </p:sp>
      <p:sp>
        <p:nvSpPr>
          <p:cNvPr id="9" name="Text 7"/>
          <p:cNvSpPr/>
          <p:nvPr/>
        </p:nvSpPr>
        <p:spPr>
          <a:xfrm>
            <a:off x="2505456" y="1143000"/>
            <a:ext cx="182880" cy="320040"/>
          </a:xfrm>
          <a:prstGeom prst="rect">
            <a:avLst/>
          </a:prstGeom>
          <a:noFill/>
          <a:ln/>
        </p:spPr>
        <p:txBody>
          <a:bodyPr wrap="square" rtlCol="0" anchor="ctr"/>
          <a:lstStyle/>
          <a:p>
            <a:pPr algn="ctr" indent="0" marL="0">
              <a:buNone/>
            </a:pPr>
            <a:r>
              <a:rPr lang="en-US" sz="1300" dirty="0">
                <a:solidFill>
                  <a:srgbClr val="4A6A80"/>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2715768" y="1051560"/>
            <a:ext cx="1115568" cy="502920"/>
          </a:xfrm>
          <a:prstGeom prst="roundRect">
            <a:avLst>
              <a:gd name="adj" fmla="val 14545"/>
            </a:avLst>
          </a:prstGeom>
          <a:solidFill>
            <a:srgbClr val="7C3AED">
              <a:alpha val="15000"/>
            </a:srgbClr>
          </a:solidFill>
          <a:ln w="12700">
            <a:solidFill>
              <a:srgbClr val="7C3AED"/>
            </a:solidFill>
            <a:prstDash val="solid"/>
          </a:ln>
        </p:spPr>
      </p:sp>
      <p:sp>
        <p:nvSpPr>
          <p:cNvPr id="11" name="Text 9"/>
          <p:cNvSpPr/>
          <p:nvPr/>
        </p:nvSpPr>
        <p:spPr>
          <a:xfrm>
            <a:off x="2715768" y="1051560"/>
            <a:ext cx="1115568" cy="502920"/>
          </a:xfrm>
          <a:prstGeom prst="rect">
            <a:avLst/>
          </a:prstGeom>
          <a:noFill/>
          <a:ln/>
        </p:spPr>
        <p:txBody>
          <a:bodyPr wrap="square" rtlCol="0" anchor="ctr"/>
          <a:lstStyle/>
          <a:p>
            <a:pPr algn="ctr" indent="0" marL="0">
              <a:buNone/>
            </a:pPr>
            <a:r>
              <a:rPr lang="en-US" sz="900" b="1" dirty="0">
                <a:solidFill>
                  <a:srgbClr val="7C3AED"/>
                </a:solidFill>
                <a:latin typeface="Calibri" pitchFamily="34" charset="0"/>
                <a:ea typeface="Calibri" pitchFamily="34" charset="-122"/>
                <a:cs typeface="Calibri" pitchFamily="34" charset="-120"/>
              </a:rPr>
              <a:t>캐시에 있나?</a:t>
            </a:r>
            <a:endParaRPr lang="en-US" sz="900" dirty="0"/>
          </a:p>
        </p:txBody>
      </p:sp>
      <p:sp>
        <p:nvSpPr>
          <p:cNvPr id="12" name="Text 10"/>
          <p:cNvSpPr/>
          <p:nvPr/>
        </p:nvSpPr>
        <p:spPr>
          <a:xfrm>
            <a:off x="3749040" y="1143000"/>
            <a:ext cx="182880" cy="320040"/>
          </a:xfrm>
          <a:prstGeom prst="rect">
            <a:avLst/>
          </a:prstGeom>
          <a:noFill/>
          <a:ln/>
        </p:spPr>
        <p:txBody>
          <a:bodyPr wrap="square" rtlCol="0" anchor="ctr"/>
          <a:lstStyle/>
          <a:p>
            <a:pPr algn="ctr" indent="0" marL="0">
              <a:buNone/>
            </a:pPr>
            <a:r>
              <a:rPr lang="en-US" sz="1300" dirty="0">
                <a:solidFill>
                  <a:srgbClr val="4A6A80"/>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3959352" y="1051560"/>
            <a:ext cx="1115568" cy="502920"/>
          </a:xfrm>
          <a:prstGeom prst="roundRect">
            <a:avLst>
              <a:gd name="adj" fmla="val 14545"/>
            </a:avLst>
          </a:prstGeom>
          <a:solidFill>
            <a:srgbClr val="7C3AED">
              <a:alpha val="15000"/>
            </a:srgbClr>
          </a:solidFill>
          <a:ln w="12700">
            <a:solidFill>
              <a:srgbClr val="7C3AED"/>
            </a:solidFill>
            <a:prstDash val="solid"/>
          </a:ln>
        </p:spPr>
      </p:sp>
      <p:sp>
        <p:nvSpPr>
          <p:cNvPr id="14" name="Text 12"/>
          <p:cNvSpPr/>
          <p:nvPr/>
        </p:nvSpPr>
        <p:spPr>
          <a:xfrm>
            <a:off x="3959352" y="1051560"/>
            <a:ext cx="1115568" cy="502920"/>
          </a:xfrm>
          <a:prstGeom prst="rect">
            <a:avLst/>
          </a:prstGeom>
          <a:noFill/>
          <a:ln/>
        </p:spPr>
        <p:txBody>
          <a:bodyPr wrap="square" rtlCol="0" anchor="ctr"/>
          <a:lstStyle/>
          <a:p>
            <a:pPr algn="ctr" indent="0" marL="0">
              <a:buNone/>
            </a:pPr>
            <a:r>
              <a:rPr lang="en-US" sz="900" b="1" dirty="0">
                <a:solidFill>
                  <a:srgbClr val="7C3AED"/>
                </a:solidFill>
                <a:latin typeface="Calibri" pitchFamily="34" charset="0"/>
                <a:ea typeface="Calibri" pitchFamily="34" charset="-122"/>
                <a:cs typeface="Calibri" pitchFamily="34" charset="-120"/>
              </a:rPr>
              <a:t>TTL 만료?</a:t>
            </a:r>
            <a:endParaRPr lang="en-US" sz="900" dirty="0"/>
          </a:p>
        </p:txBody>
      </p:sp>
      <p:sp>
        <p:nvSpPr>
          <p:cNvPr id="15" name="Text 13"/>
          <p:cNvSpPr/>
          <p:nvPr/>
        </p:nvSpPr>
        <p:spPr>
          <a:xfrm>
            <a:off x="4992624" y="1143000"/>
            <a:ext cx="182880" cy="320040"/>
          </a:xfrm>
          <a:prstGeom prst="rect">
            <a:avLst/>
          </a:prstGeom>
          <a:noFill/>
          <a:ln/>
        </p:spPr>
        <p:txBody>
          <a:bodyPr wrap="square" rtlCol="0" anchor="ctr"/>
          <a:lstStyle/>
          <a:p>
            <a:pPr algn="ctr" indent="0" marL="0">
              <a:buNone/>
            </a:pPr>
            <a:r>
              <a:rPr lang="en-US" sz="1300" dirty="0">
                <a:solidFill>
                  <a:srgbClr val="4A6A80"/>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5202936" y="1051560"/>
            <a:ext cx="1115568" cy="502920"/>
          </a:xfrm>
          <a:prstGeom prst="roundRect">
            <a:avLst>
              <a:gd name="adj" fmla="val 14545"/>
            </a:avLst>
          </a:prstGeom>
          <a:solidFill>
            <a:srgbClr val="B45309">
              <a:alpha val="15000"/>
            </a:srgbClr>
          </a:solidFill>
          <a:ln w="12700">
            <a:solidFill>
              <a:srgbClr val="B45309"/>
            </a:solidFill>
            <a:prstDash val="solid"/>
          </a:ln>
        </p:spPr>
      </p:sp>
      <p:sp>
        <p:nvSpPr>
          <p:cNvPr id="17" name="Text 15"/>
          <p:cNvSpPr/>
          <p:nvPr/>
        </p:nvSpPr>
        <p:spPr>
          <a:xfrm>
            <a:off x="5202936" y="1051560"/>
            <a:ext cx="1115568" cy="502920"/>
          </a:xfrm>
          <a:prstGeom prst="rect">
            <a:avLst/>
          </a:prstGeom>
          <a:noFill/>
          <a:ln/>
        </p:spPr>
        <p:txBody>
          <a:bodyPr wrap="square" rtlCol="0" anchor="ctr"/>
          <a:lstStyle/>
          <a:p>
            <a:pPr algn="ctr" indent="0" marL="0">
              <a:buNone/>
            </a:pPr>
            <a:r>
              <a:rPr lang="en-US" sz="900" b="1" dirty="0">
                <a:solidFill>
                  <a:srgbClr val="B45309"/>
                </a:solidFill>
                <a:latin typeface="Calibri" pitchFamily="34" charset="0"/>
                <a:ea typeface="Calibri" pitchFamily="34" charset="-122"/>
                <a:cs typeface="Calibri" pitchFamily="34" charset="-120"/>
              </a:rPr>
              <a:t>API 호출</a:t>
            </a:r>
            <a:endParaRPr lang="en-US" sz="900" dirty="0"/>
          </a:p>
        </p:txBody>
      </p:sp>
      <p:sp>
        <p:nvSpPr>
          <p:cNvPr id="18" name="Text 16"/>
          <p:cNvSpPr/>
          <p:nvPr/>
        </p:nvSpPr>
        <p:spPr>
          <a:xfrm>
            <a:off x="6236208" y="1143000"/>
            <a:ext cx="182880" cy="320040"/>
          </a:xfrm>
          <a:prstGeom prst="rect">
            <a:avLst/>
          </a:prstGeom>
          <a:noFill/>
          <a:ln/>
        </p:spPr>
        <p:txBody>
          <a:bodyPr wrap="square" rtlCol="0" anchor="ctr"/>
          <a:lstStyle/>
          <a:p>
            <a:pPr algn="ctr" indent="0" marL="0">
              <a:buNone/>
            </a:pPr>
            <a:r>
              <a:rPr lang="en-US" sz="1300" dirty="0">
                <a:solidFill>
                  <a:srgbClr val="4A6A80"/>
                </a:solidFill>
                <a:latin typeface="Calibri" pitchFamily="34" charset="0"/>
                <a:ea typeface="Calibri" pitchFamily="34" charset="-122"/>
                <a:cs typeface="Calibri" pitchFamily="34" charset="-120"/>
              </a:rPr>
              <a:t>→</a:t>
            </a:r>
            <a:endParaRPr lang="en-US" sz="1300" dirty="0"/>
          </a:p>
        </p:txBody>
      </p:sp>
      <p:sp>
        <p:nvSpPr>
          <p:cNvPr id="19" name="Shape 17"/>
          <p:cNvSpPr/>
          <p:nvPr/>
        </p:nvSpPr>
        <p:spPr>
          <a:xfrm>
            <a:off x="6446520" y="1051560"/>
            <a:ext cx="1115568" cy="502920"/>
          </a:xfrm>
          <a:prstGeom prst="roundRect">
            <a:avLst>
              <a:gd name="adj" fmla="val 14545"/>
            </a:avLst>
          </a:prstGeom>
          <a:solidFill>
            <a:srgbClr val="B45309">
              <a:alpha val="15000"/>
            </a:srgbClr>
          </a:solidFill>
          <a:ln w="12700">
            <a:solidFill>
              <a:srgbClr val="B45309"/>
            </a:solidFill>
            <a:prstDash val="solid"/>
          </a:ln>
        </p:spPr>
      </p:sp>
      <p:sp>
        <p:nvSpPr>
          <p:cNvPr id="20" name="Text 18"/>
          <p:cNvSpPr/>
          <p:nvPr/>
        </p:nvSpPr>
        <p:spPr>
          <a:xfrm>
            <a:off x="6446520" y="1051560"/>
            <a:ext cx="1115568" cy="502920"/>
          </a:xfrm>
          <a:prstGeom prst="rect">
            <a:avLst/>
          </a:prstGeom>
          <a:noFill/>
          <a:ln/>
        </p:spPr>
        <p:txBody>
          <a:bodyPr wrap="square" rtlCol="0" anchor="ctr"/>
          <a:lstStyle/>
          <a:p>
            <a:pPr algn="ctr" indent="0" marL="0">
              <a:buNone/>
            </a:pPr>
            <a:r>
              <a:rPr lang="en-US" sz="900" b="1" dirty="0">
                <a:solidFill>
                  <a:srgbClr val="B45309"/>
                </a:solidFill>
                <a:latin typeface="Calibri" pitchFamily="34" charset="0"/>
                <a:ea typeface="Calibri" pitchFamily="34" charset="-122"/>
                <a:cs typeface="Calibri" pitchFamily="34" charset="-120"/>
              </a:rPr>
              <a:t>캐시 저장</a:t>
            </a:r>
            <a:endParaRPr lang="en-US" sz="900" dirty="0"/>
          </a:p>
        </p:txBody>
      </p:sp>
      <p:sp>
        <p:nvSpPr>
          <p:cNvPr id="21" name="Text 19"/>
          <p:cNvSpPr/>
          <p:nvPr/>
        </p:nvSpPr>
        <p:spPr>
          <a:xfrm>
            <a:off x="7479792" y="1143000"/>
            <a:ext cx="182880" cy="320040"/>
          </a:xfrm>
          <a:prstGeom prst="rect">
            <a:avLst/>
          </a:prstGeom>
          <a:noFill/>
          <a:ln/>
        </p:spPr>
        <p:txBody>
          <a:bodyPr wrap="square" rtlCol="0" anchor="ctr"/>
          <a:lstStyle/>
          <a:p>
            <a:pPr algn="ctr" indent="0" marL="0">
              <a:buNone/>
            </a:pPr>
            <a:r>
              <a:rPr lang="en-US" sz="1300" dirty="0">
                <a:solidFill>
                  <a:srgbClr val="4A6A80"/>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7690104" y="1051560"/>
            <a:ext cx="1115568" cy="502920"/>
          </a:xfrm>
          <a:prstGeom prst="roundRect">
            <a:avLst>
              <a:gd name="adj" fmla="val 14545"/>
            </a:avLst>
          </a:prstGeom>
          <a:solidFill>
            <a:srgbClr val="38A169">
              <a:alpha val="15000"/>
            </a:srgbClr>
          </a:solidFill>
          <a:ln w="12700">
            <a:solidFill>
              <a:srgbClr val="38A169"/>
            </a:solidFill>
            <a:prstDash val="solid"/>
          </a:ln>
        </p:spPr>
      </p:sp>
      <p:sp>
        <p:nvSpPr>
          <p:cNvPr id="23" name="Text 21"/>
          <p:cNvSpPr/>
          <p:nvPr/>
        </p:nvSpPr>
        <p:spPr>
          <a:xfrm>
            <a:off x="7690104" y="1051560"/>
            <a:ext cx="1115568" cy="502920"/>
          </a:xfrm>
          <a:prstGeom prst="rect">
            <a:avLst/>
          </a:prstGeom>
          <a:noFill/>
          <a:ln/>
        </p:spPr>
        <p:txBody>
          <a:bodyPr wrap="square" rtlCol="0" anchor="ctr"/>
          <a:lstStyle/>
          <a:p>
            <a:pPr algn="ctr" indent="0" marL="0">
              <a:buNone/>
            </a:pPr>
            <a:r>
              <a:rPr lang="en-US" sz="900" b="1" dirty="0">
                <a:solidFill>
                  <a:srgbClr val="38A169"/>
                </a:solidFill>
                <a:latin typeface="Calibri" pitchFamily="34" charset="0"/>
                <a:ea typeface="Calibri" pitchFamily="34" charset="-122"/>
                <a:cs typeface="Calibri" pitchFamily="34" charset="-120"/>
              </a:rPr>
              <a:t>데이터 반환</a:t>
            </a:r>
            <a:endParaRPr lang="en-US" sz="900" dirty="0"/>
          </a:p>
        </p:txBody>
      </p:sp>
      <p:sp>
        <p:nvSpPr>
          <p:cNvPr id="24" name="Shape 22"/>
          <p:cNvSpPr/>
          <p:nvPr/>
        </p:nvSpPr>
        <p:spPr>
          <a:xfrm>
            <a:off x="274320" y="1737360"/>
            <a:ext cx="4572000" cy="1143000"/>
          </a:xfrm>
          <a:prstGeom prst="roundRect">
            <a:avLst>
              <a:gd name="adj" fmla="val 8000"/>
            </a:avLst>
          </a:prstGeom>
          <a:solidFill>
            <a:srgbClr val="0D1F2D"/>
          </a:solidFill>
          <a:ln w="12700">
            <a:solidFill>
              <a:srgbClr val="1A3D5C"/>
            </a:solidFill>
            <a:prstDash val="solid"/>
          </a:ln>
        </p:spPr>
      </p:sp>
      <p:sp>
        <p:nvSpPr>
          <p:cNvPr id="25" name="Text 23"/>
          <p:cNvSpPr/>
          <p:nvPr/>
        </p:nvSpPr>
        <p:spPr>
          <a:xfrm>
            <a:off x="411480" y="1783080"/>
            <a:ext cx="4297680" cy="256032"/>
          </a:xfrm>
          <a:prstGeom prst="rect">
            <a:avLst/>
          </a:prstGeom>
          <a:noFill/>
          <a:ln/>
        </p:spPr>
        <p:txBody>
          <a:bodyPr wrap="square" rtlCol="0" anchor="ctr"/>
          <a:lstStyle/>
          <a:p>
            <a:pPr indent="0" marL="0">
              <a:buNone/>
            </a:pPr>
            <a:r>
              <a:rPr lang="en-US" sz="1100" b="1" dirty="0">
                <a:solidFill>
                  <a:srgbClr val="A8C8D8"/>
                </a:solidFill>
                <a:latin typeface="Calibri" pitchFamily="34" charset="0"/>
                <a:ea typeface="Calibri" pitchFamily="34" charset="-122"/>
                <a:cs typeface="Calibri" pitchFamily="34" charset="-120"/>
              </a:rPr>
              <a:t>캐시 키 설계</a:t>
            </a:r>
            <a:endParaRPr lang="en-US" sz="1100" dirty="0"/>
          </a:p>
        </p:txBody>
      </p:sp>
      <p:sp>
        <p:nvSpPr>
          <p:cNvPr id="26" name="Text 24"/>
          <p:cNvSpPr/>
          <p:nvPr/>
        </p:nvSpPr>
        <p:spPr>
          <a:xfrm>
            <a:off x="411480" y="2084832"/>
            <a:ext cx="4297680" cy="713232"/>
          </a:xfrm>
          <a:prstGeom prst="rect">
            <a:avLst/>
          </a:prstGeom>
          <a:noFill/>
          <a:ln/>
        </p:spPr>
        <p:txBody>
          <a:bodyPr wrap="square" rtlCol="0" anchor="ctr"/>
          <a:lstStyle/>
          <a:p>
            <a:pPr indent="0" marL="0">
              <a:buNone/>
            </a:pPr>
            <a:r>
              <a:rPr lang="en-US" sz="1050" dirty="0">
                <a:solidFill>
                  <a:srgbClr val="A8D8E0"/>
                </a:solidFill>
                <a:latin typeface="Courier New" pitchFamily="34" charset="0"/>
                <a:ea typeface="Courier New" pitchFamily="34" charset="-122"/>
                <a:cs typeface="Courier New" pitchFamily="34" charset="-120"/>
              </a:rPr>
              <a:t>String key = sujCode + "|" + startDate + "|" + endDate;</a:t>
            </a:r>
            <a:endParaRPr lang="en-US" sz="1050" dirty="0"/>
          </a:p>
          <a:p>
            <a:pPr indent="0" marL="0">
              <a:buNone/>
            </a:pPr>
            <a:r>
              <a:rPr lang="en-US" sz="1050" dirty="0">
                <a:solidFill>
                  <a:srgbClr val="A8D8E0"/>
                </a:solidFill>
                <a:latin typeface="Courier New" pitchFamily="34" charset="0"/>
                <a:ea typeface="Courier New" pitchFamily="34" charset="-122"/>
                <a:cs typeface="Courier New" pitchFamily="34" charset="-120"/>
              </a:rPr>
              <a:t>// 예: "KW001|2026-05-01|2026-05-31"</a:t>
            </a:r>
            <a:endParaRPr lang="en-US" sz="1050" dirty="0"/>
          </a:p>
        </p:txBody>
      </p:sp>
      <p:sp>
        <p:nvSpPr>
          <p:cNvPr id="27" name="Shape 25"/>
          <p:cNvSpPr/>
          <p:nvPr/>
        </p:nvSpPr>
        <p:spPr>
          <a:xfrm>
            <a:off x="5120640" y="1737360"/>
            <a:ext cx="3749040" cy="1143000"/>
          </a:xfrm>
          <a:prstGeom prst="roundRect">
            <a:avLst>
              <a:gd name="adj" fmla="val 8000"/>
            </a:avLst>
          </a:prstGeom>
          <a:solidFill>
            <a:srgbClr val="F0F7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28" name="Text 26"/>
          <p:cNvSpPr/>
          <p:nvPr/>
        </p:nvSpPr>
        <p:spPr>
          <a:xfrm>
            <a:off x="5257800" y="1783080"/>
            <a:ext cx="3474720" cy="292608"/>
          </a:xfrm>
          <a:prstGeom prst="rect">
            <a:avLst/>
          </a:prstGeom>
          <a:noFill/>
          <a:ln/>
        </p:spPr>
        <p:txBody>
          <a:bodyPr wrap="square" rtlCol="0" anchor="ctr"/>
          <a:lstStyle/>
          <a:p>
            <a:pPr indent="0" marL="0">
              <a:buNone/>
            </a:pPr>
            <a:r>
              <a:rPr lang="en-US" sz="1100" b="1" dirty="0">
                <a:solidFill>
                  <a:srgbClr val="1A3D5C"/>
                </a:solidFill>
                <a:latin typeface="Calibri" pitchFamily="34" charset="0"/>
                <a:ea typeface="Calibri" pitchFamily="34" charset="-122"/>
                <a:cs typeface="Calibri" pitchFamily="34" charset="-120"/>
              </a:rPr>
              <a:t>ConcurrentHashMap 선택 이유</a:t>
            </a:r>
            <a:endParaRPr lang="en-US" sz="1100" dirty="0"/>
          </a:p>
        </p:txBody>
      </p:sp>
      <p:sp>
        <p:nvSpPr>
          <p:cNvPr id="29" name="Text 27"/>
          <p:cNvSpPr/>
          <p:nvPr/>
        </p:nvSpPr>
        <p:spPr>
          <a:xfrm>
            <a:off x="5257800" y="2103120"/>
            <a:ext cx="3474720" cy="713232"/>
          </a:xfrm>
          <a:prstGeom prst="rect">
            <a:avLst/>
          </a:prstGeom>
          <a:noFill/>
          <a:ln/>
        </p:spPr>
        <p:txBody>
          <a:bodyPr wrap="square" rtlCol="0" anchor="ctr"/>
          <a:lstStyle/>
          <a:p>
            <a:pPr indent="0" marL="0">
              <a:buNone/>
            </a:pPr>
            <a:r>
              <a:rPr lang="en-US" sz="1050" dirty="0">
                <a:solidFill>
                  <a:srgbClr val="1A2B3C"/>
                </a:solidFill>
                <a:latin typeface="Calibri" pitchFamily="34" charset="0"/>
                <a:ea typeface="Calibri" pitchFamily="34" charset="-122"/>
                <a:cs typeface="Calibri" pitchFamily="34" charset="-120"/>
              </a:rPr>
              <a:t>• 스레드 안전 (멀티 요청 동시 처리)</a:t>
            </a:r>
            <a:endParaRPr lang="en-US" sz="1050" dirty="0"/>
          </a:p>
          <a:p>
            <a:pPr indent="0" marL="0">
              <a:buNone/>
            </a:pPr>
            <a:r>
              <a:rPr lang="en-US" sz="1050" dirty="0">
                <a:solidFill>
                  <a:srgbClr val="1A2B3C"/>
                </a:solidFill>
                <a:latin typeface="Calibri" pitchFamily="34" charset="0"/>
                <a:ea typeface="Calibri" pitchFamily="34" charset="-122"/>
                <a:cs typeface="Calibri" pitchFamily="34" charset="-120"/>
              </a:rPr>
              <a:t>• 외부 의존성 없음 (DB, Redis 불필요)</a:t>
            </a:r>
            <a:endParaRPr lang="en-US" sz="1050" dirty="0"/>
          </a:p>
          <a:p>
            <a:pPr indent="0" marL="0">
              <a:buNone/>
            </a:pPr>
            <a:r>
              <a:rPr lang="en-US" sz="1050" dirty="0">
                <a:solidFill>
                  <a:srgbClr val="1A2B3C"/>
                </a:solidFill>
                <a:latin typeface="Calibri" pitchFamily="34" charset="0"/>
                <a:ea typeface="Calibri" pitchFamily="34" charset="-122"/>
                <a:cs typeface="Calibri" pitchFamily="34" charset="-120"/>
              </a:rPr>
              <a:t>• MVP 단계 최적, 추후 Redis 전환 용이</a:t>
            </a:r>
            <a:endParaRPr lang="en-US" sz="1050" dirty="0"/>
          </a:p>
        </p:txBody>
      </p:sp>
      <p:sp>
        <p:nvSpPr>
          <p:cNvPr id="30" name="Shape 28"/>
          <p:cNvSpPr/>
          <p:nvPr/>
        </p:nvSpPr>
        <p:spPr>
          <a:xfrm>
            <a:off x="274320" y="3017520"/>
            <a:ext cx="8595360" cy="1371600"/>
          </a:xfrm>
          <a:prstGeom prst="roundRect">
            <a:avLst>
              <a:gd name="adj" fmla="val 6667"/>
            </a:avLst>
          </a:prstGeom>
          <a:solidFill>
            <a:srgbClr val="0D1F2D"/>
          </a:solidFill>
          <a:ln w="12700">
            <a:solidFill>
              <a:srgbClr val="1A3D5C"/>
            </a:solidFill>
            <a:prstDash val="solid"/>
          </a:ln>
        </p:spPr>
      </p:sp>
      <p:sp>
        <p:nvSpPr>
          <p:cNvPr id="31" name="Text 29"/>
          <p:cNvSpPr/>
          <p:nvPr/>
        </p:nvSpPr>
        <p:spPr>
          <a:xfrm>
            <a:off x="411480" y="3072384"/>
            <a:ext cx="3657600" cy="256032"/>
          </a:xfrm>
          <a:prstGeom prst="rect">
            <a:avLst/>
          </a:prstGeom>
          <a:noFill/>
          <a:ln/>
        </p:spPr>
        <p:txBody>
          <a:bodyPr wrap="square" rtlCol="0" anchor="ctr"/>
          <a:lstStyle/>
          <a:p>
            <a:pPr indent="0" marL="0">
              <a:buNone/>
            </a:pPr>
            <a:r>
              <a:rPr lang="en-US" sz="1000" b="1" dirty="0">
                <a:solidFill>
                  <a:srgbClr val="A8C8D8"/>
                </a:solidFill>
                <a:latin typeface="Calibri" pitchFamily="34" charset="0"/>
                <a:ea typeface="Calibri" pitchFamily="34" charset="-122"/>
                <a:cs typeface="Calibri" pitchFamily="34" charset="-120"/>
              </a:rPr>
              <a:t>TTL 만료 체크 (pseudo)</a:t>
            </a:r>
            <a:endParaRPr lang="en-US" sz="1000" dirty="0"/>
          </a:p>
        </p:txBody>
      </p:sp>
      <p:sp>
        <p:nvSpPr>
          <p:cNvPr id="32" name="Text 30"/>
          <p:cNvSpPr/>
          <p:nvPr/>
        </p:nvSpPr>
        <p:spPr>
          <a:xfrm>
            <a:off x="411480" y="3364992"/>
            <a:ext cx="8321040" cy="978408"/>
          </a:xfrm>
          <a:prstGeom prst="rect">
            <a:avLst/>
          </a:prstGeom>
          <a:noFill/>
          <a:ln/>
        </p:spPr>
        <p:txBody>
          <a:bodyPr wrap="square" rtlCol="0" anchor="t"/>
          <a:lstStyle/>
          <a:p>
            <a:pPr indent="0" marL="0">
              <a:buNone/>
            </a:pPr>
            <a:r>
              <a:rPr lang="en-US" sz="950" dirty="0">
                <a:solidFill>
                  <a:srgbClr val="A8D8E0"/>
                </a:solidFill>
                <a:latin typeface="Courier New" pitchFamily="34" charset="0"/>
                <a:ea typeface="Courier New" pitchFamily="34" charset="-122"/>
                <a:cs typeface="Courier New" pitchFamily="34" charset="-120"/>
              </a:rPr>
              <a:t>if (cache.containsKey(key)) {</a:t>
            </a:r>
            <a:endParaRPr lang="en-US" sz="950" dirty="0"/>
          </a:p>
          <a:p>
            <a:pPr indent="0" marL="0">
              <a:buNone/>
            </a:pPr>
            <a:r>
              <a:rPr lang="en-US" sz="950" dirty="0">
                <a:solidFill>
                  <a:srgbClr val="A8D8E0"/>
                </a:solidFill>
                <a:latin typeface="Courier New" pitchFamily="34" charset="0"/>
                <a:ea typeface="Courier New" pitchFamily="34" charset="-122"/>
                <a:cs typeface="Courier New" pitchFamily="34" charset="-120"/>
              </a:rPr>
              <a:t>  CacheEntry entry = cache.get(key);</a:t>
            </a:r>
            <a:endParaRPr lang="en-US" sz="950" dirty="0"/>
          </a:p>
          <a:p>
            <a:pPr indent="0" marL="0">
              <a:buNone/>
            </a:pPr>
            <a:r>
              <a:rPr lang="en-US" sz="950" dirty="0">
                <a:solidFill>
                  <a:srgbClr val="A8D8E0"/>
                </a:solidFill>
                <a:latin typeface="Courier New" pitchFamily="34" charset="0"/>
                <a:ea typeface="Courier New" pitchFamily="34" charset="-122"/>
                <a:cs typeface="Courier New" pitchFamily="34" charset="-120"/>
              </a:rPr>
              <a:t>  if (System.currentTimeMillis() - entry.timestamp &lt; TTL_MS) {</a:t>
            </a:r>
            <a:endParaRPr lang="en-US" sz="950" dirty="0"/>
          </a:p>
          <a:p>
            <a:pPr indent="0" marL="0">
              <a:buNone/>
            </a:pPr>
            <a:r>
              <a:rPr lang="en-US" sz="950" dirty="0">
                <a:solidFill>
                  <a:srgbClr val="A8D8E0"/>
                </a:solidFill>
                <a:latin typeface="Courier New" pitchFamily="34" charset="0"/>
                <a:ea typeface="Courier New" pitchFamily="34" charset="-122"/>
                <a:cs typeface="Courier New" pitchFamily="34" charset="-120"/>
              </a:rPr>
              <a:t>    return entry.data;  // 캐시 히트</a:t>
            </a:r>
            <a:endParaRPr lang="en-US" sz="950" dirty="0"/>
          </a:p>
          <a:p>
            <a:pPr indent="0" marL="0">
              <a:buNone/>
            </a:pPr>
            <a:r>
              <a:rPr lang="en-US" sz="950" dirty="0">
                <a:solidFill>
                  <a:srgbClr val="A8D8E0"/>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A8D8E0"/>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A8D8E0"/>
                </a:solidFill>
                <a:latin typeface="Courier New" pitchFamily="34" charset="0"/>
                <a:ea typeface="Courier New" pitchFamily="34" charset="-122"/>
                <a:cs typeface="Courier New" pitchFamily="34" charset="-120"/>
              </a:rPr>
              <a:t>// 캐시 미스 → API 호출 → cache.put(key, new CacheEntry(result))</a:t>
            </a:r>
            <a:endParaRPr lang="en-US" sz="950" dirty="0"/>
          </a:p>
        </p:txBody>
      </p:sp>
      <p:sp>
        <p:nvSpPr>
          <p:cNvPr id="33" name="Shape 31"/>
          <p:cNvSpPr/>
          <p:nvPr/>
        </p:nvSpPr>
        <p:spPr>
          <a:xfrm>
            <a:off x="274320" y="4498848"/>
            <a:ext cx="8595360" cy="548640"/>
          </a:xfrm>
          <a:prstGeom prst="roundRect">
            <a:avLst>
              <a:gd name="adj" fmla="val 13333"/>
            </a:avLst>
          </a:prstGeom>
          <a:solidFill>
            <a:srgbClr val="E8F7F4"/>
          </a:solidFill>
          <a:ln w="12700">
            <a:solidFill>
              <a:srgbClr val="02C39A"/>
            </a:solidFill>
            <a:prstDash val="solid"/>
          </a:ln>
        </p:spPr>
      </p:sp>
      <p:sp>
        <p:nvSpPr>
          <p:cNvPr id="34" name="Text 32"/>
          <p:cNvSpPr/>
          <p:nvPr/>
        </p:nvSpPr>
        <p:spPr>
          <a:xfrm>
            <a:off x="411480" y="4517136"/>
            <a:ext cx="8321040" cy="512064"/>
          </a:xfrm>
          <a:prstGeom prst="rect">
            <a:avLst/>
          </a:prstGeom>
          <a:noFill/>
          <a:ln/>
        </p:spPr>
        <p:txBody>
          <a:bodyPr wrap="square" rtlCol="0" anchor="ctr"/>
          <a:lstStyle/>
          <a:p>
            <a:pPr indent="0" marL="0">
              <a:buNone/>
            </a:pPr>
            <a:r>
              <a:rPr lang="en-US" sz="1000" dirty="0">
                <a:solidFill>
                  <a:srgbClr val="016A6A"/>
                </a:solidFill>
                <a:latin typeface="Calibri" pitchFamily="34" charset="0"/>
                <a:ea typeface="Calibri" pitchFamily="34" charset="-122"/>
                <a:cs typeface="Calibri" pitchFamily="34" charset="-120"/>
              </a:rPr>
              <a:t>Groq API 5분 캐시: 무료 티어 토큰 한도 절약 + 빠른 재응답</a:t>
            </a:r>
            <a:endParaRPr lang="en-US" sz="1000" dirty="0"/>
          </a:p>
          <a:p>
            <a:pPr indent="0" marL="0">
              <a:buNone/>
            </a:pPr>
            <a:r>
              <a:rPr lang="en-US" sz="1000" dirty="0">
                <a:solidFill>
                  <a:srgbClr val="016A6A"/>
                </a:solidFill>
                <a:latin typeface="Calibri" pitchFamily="34" charset="0"/>
                <a:ea typeface="Calibri" pitchFamily="34" charset="-122"/>
                <a:cs typeface="Calibri" pitchFamily="34" charset="-120"/>
              </a:rPr>
              <a:t>수질/유량 데이터 10분 캐시: K-water API 비용 절감</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D5C"/>
          </a:solidFill>
          <a:ln w="12700">
            <a:solidFill>
              <a:srgbClr val="1A3D5C"/>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index.html 단일 파일 SPA — Vanilla JS로 구현</a:t>
            </a:r>
            <a:endParaRPr lang="en-US" sz="2000" dirty="0"/>
          </a:p>
        </p:txBody>
      </p:sp>
      <p:sp>
        <p:nvSpPr>
          <p:cNvPr id="4" name="Text 2"/>
          <p:cNvSpPr/>
          <p:nvPr/>
        </p:nvSpPr>
        <p:spPr>
          <a:xfrm>
            <a:off x="274320" y="1005840"/>
            <a:ext cx="4114800" cy="274320"/>
          </a:xfrm>
          <a:prstGeom prst="rect">
            <a:avLst/>
          </a:prstGeom>
          <a:noFill/>
          <a:ln/>
        </p:spPr>
        <p:txBody>
          <a:bodyPr wrap="square" rtlCol="0" anchor="ctr"/>
          <a:lstStyle/>
          <a:p>
            <a:pPr indent="0" marL="0">
              <a:buNone/>
            </a:pPr>
            <a:r>
              <a:rPr lang="en-US" sz="1200" b="1" dirty="0">
                <a:solidFill>
                  <a:srgbClr val="1A3D5C"/>
                </a:solidFill>
                <a:latin typeface="Calibri" pitchFamily="34" charset="0"/>
                <a:ea typeface="Calibri" pitchFamily="34" charset="-122"/>
                <a:cs typeface="Calibri" pitchFamily="34" charset="-120"/>
              </a:rPr>
              <a:t>핵심 함수 구조</a:t>
            </a:r>
            <a:endParaRPr lang="en-US" sz="1200" dirty="0"/>
          </a:p>
        </p:txBody>
      </p:sp>
      <p:sp>
        <p:nvSpPr>
          <p:cNvPr id="5" name="Shape 3"/>
          <p:cNvSpPr/>
          <p:nvPr/>
        </p:nvSpPr>
        <p:spPr>
          <a:xfrm>
            <a:off x="274320" y="1344168"/>
            <a:ext cx="4114800" cy="566928"/>
          </a:xfrm>
          <a:prstGeom prst="roundRect">
            <a:avLst>
              <a:gd name="adj" fmla="val 12903"/>
            </a:avLst>
          </a:prstGeom>
          <a:solidFill>
            <a:srgbClr val="F0F7FF"/>
          </a:solidFill>
          <a:ln w="12700">
            <a:solidFill>
              <a:srgbClr val="C0D8E8"/>
            </a:solidFill>
            <a:prstDash val="solid"/>
          </a:ln>
        </p:spPr>
      </p:sp>
      <p:sp>
        <p:nvSpPr>
          <p:cNvPr id="6" name="Text 4"/>
          <p:cNvSpPr/>
          <p:nvPr/>
        </p:nvSpPr>
        <p:spPr>
          <a:xfrm>
            <a:off x="411480" y="1371600"/>
            <a:ext cx="1920240" cy="512064"/>
          </a:xfrm>
          <a:prstGeom prst="rect">
            <a:avLst/>
          </a:prstGeom>
          <a:noFill/>
          <a:ln/>
        </p:spPr>
        <p:txBody>
          <a:bodyPr wrap="square" rtlCol="0" anchor="ctr"/>
          <a:lstStyle/>
          <a:p>
            <a:pPr indent="0" marL="0">
              <a:buNone/>
            </a:pPr>
            <a:r>
              <a:rPr lang="en-US" sz="1000" b="1" dirty="0">
                <a:solidFill>
                  <a:srgbClr val="1A3D5C"/>
                </a:solidFill>
                <a:latin typeface="Courier New" pitchFamily="34" charset="0"/>
                <a:ea typeface="Courier New" pitchFamily="34" charset="-122"/>
                <a:cs typeface="Courier New" pitchFamily="34" charset="-120"/>
              </a:rPr>
              <a:t>loadFacilities()</a:t>
            </a:r>
            <a:endParaRPr lang="en-US" sz="1000" dirty="0"/>
          </a:p>
        </p:txBody>
      </p:sp>
      <p:sp>
        <p:nvSpPr>
          <p:cNvPr id="7" name="Text 5"/>
          <p:cNvSpPr/>
          <p:nvPr/>
        </p:nvSpPr>
        <p:spPr>
          <a:xfrm>
            <a:off x="2377440" y="1371600"/>
            <a:ext cx="1920240" cy="512064"/>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정수장 목록 드롭다운 초기화</a:t>
            </a:r>
            <a:endParaRPr lang="en-US" sz="1000" dirty="0"/>
          </a:p>
        </p:txBody>
      </p:sp>
      <p:sp>
        <p:nvSpPr>
          <p:cNvPr id="8" name="Shape 6"/>
          <p:cNvSpPr/>
          <p:nvPr/>
        </p:nvSpPr>
        <p:spPr>
          <a:xfrm>
            <a:off x="274320" y="2002536"/>
            <a:ext cx="4114800" cy="566928"/>
          </a:xfrm>
          <a:prstGeom prst="roundRect">
            <a:avLst>
              <a:gd name="adj" fmla="val 12903"/>
            </a:avLst>
          </a:prstGeom>
          <a:solidFill>
            <a:srgbClr val="E8F4F8"/>
          </a:solidFill>
          <a:ln w="12700">
            <a:solidFill>
              <a:srgbClr val="C0D8E8"/>
            </a:solidFill>
            <a:prstDash val="solid"/>
          </a:ln>
        </p:spPr>
      </p:sp>
      <p:sp>
        <p:nvSpPr>
          <p:cNvPr id="9" name="Text 7"/>
          <p:cNvSpPr/>
          <p:nvPr/>
        </p:nvSpPr>
        <p:spPr>
          <a:xfrm>
            <a:off x="411480" y="2029968"/>
            <a:ext cx="1920240" cy="512064"/>
          </a:xfrm>
          <a:prstGeom prst="rect">
            <a:avLst/>
          </a:prstGeom>
          <a:noFill/>
          <a:ln/>
        </p:spPr>
        <p:txBody>
          <a:bodyPr wrap="square" rtlCol="0" anchor="ctr"/>
          <a:lstStyle/>
          <a:p>
            <a:pPr indent="0" marL="0">
              <a:buNone/>
            </a:pPr>
            <a:r>
              <a:rPr lang="en-US" sz="1000" b="1" dirty="0">
                <a:solidFill>
                  <a:srgbClr val="1A3D5C"/>
                </a:solidFill>
                <a:latin typeface="Courier New" pitchFamily="34" charset="0"/>
                <a:ea typeface="Courier New" pitchFamily="34" charset="-122"/>
                <a:cs typeface="Courier New" pitchFamily="34" charset="-120"/>
              </a:rPr>
              <a:t>onFacilityChange()</a:t>
            </a:r>
            <a:endParaRPr lang="en-US" sz="1000" dirty="0"/>
          </a:p>
        </p:txBody>
      </p:sp>
      <p:sp>
        <p:nvSpPr>
          <p:cNvPr id="10" name="Text 8"/>
          <p:cNvSpPr/>
          <p:nvPr/>
        </p:nvSpPr>
        <p:spPr>
          <a:xfrm>
            <a:off x="2377440" y="2029968"/>
            <a:ext cx="1920240" cy="512064"/>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선택 정수장 변경 시 전체 데이터 갱신</a:t>
            </a:r>
            <a:endParaRPr lang="en-US" sz="1000" dirty="0"/>
          </a:p>
        </p:txBody>
      </p:sp>
      <p:sp>
        <p:nvSpPr>
          <p:cNvPr id="11" name="Shape 9"/>
          <p:cNvSpPr/>
          <p:nvPr/>
        </p:nvSpPr>
        <p:spPr>
          <a:xfrm>
            <a:off x="274320" y="2660904"/>
            <a:ext cx="4114800" cy="566928"/>
          </a:xfrm>
          <a:prstGeom prst="roundRect">
            <a:avLst>
              <a:gd name="adj" fmla="val 12903"/>
            </a:avLst>
          </a:prstGeom>
          <a:solidFill>
            <a:srgbClr val="F0F7FF"/>
          </a:solidFill>
          <a:ln w="12700">
            <a:solidFill>
              <a:srgbClr val="C0D8E8"/>
            </a:solidFill>
            <a:prstDash val="solid"/>
          </a:ln>
        </p:spPr>
      </p:sp>
      <p:sp>
        <p:nvSpPr>
          <p:cNvPr id="12" name="Text 10"/>
          <p:cNvSpPr/>
          <p:nvPr/>
        </p:nvSpPr>
        <p:spPr>
          <a:xfrm>
            <a:off x="411480" y="2688336"/>
            <a:ext cx="1920240" cy="512064"/>
          </a:xfrm>
          <a:prstGeom prst="rect">
            <a:avLst/>
          </a:prstGeom>
          <a:noFill/>
          <a:ln/>
        </p:spPr>
        <p:txBody>
          <a:bodyPr wrap="square" rtlCol="0" anchor="ctr"/>
          <a:lstStyle/>
          <a:p>
            <a:pPr indent="0" marL="0">
              <a:buNone/>
            </a:pPr>
            <a:r>
              <a:rPr lang="en-US" sz="1000" b="1" dirty="0">
                <a:solidFill>
                  <a:srgbClr val="1A3D5C"/>
                </a:solidFill>
                <a:latin typeface="Courier New" pitchFamily="34" charset="0"/>
                <a:ea typeface="Courier New" pitchFamily="34" charset="-122"/>
                <a:cs typeface="Courier New" pitchFamily="34" charset="-120"/>
              </a:rPr>
              <a:t>fetchWaterQuality()</a:t>
            </a:r>
            <a:endParaRPr lang="en-US" sz="1000" dirty="0"/>
          </a:p>
        </p:txBody>
      </p:sp>
      <p:sp>
        <p:nvSpPr>
          <p:cNvPr id="13" name="Text 11"/>
          <p:cNvSpPr/>
          <p:nvPr/>
        </p:nvSpPr>
        <p:spPr>
          <a:xfrm>
            <a:off x="2377440" y="2688336"/>
            <a:ext cx="1920240" cy="512064"/>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수질 데이터 API 호출 + 카드 렌더링</a:t>
            </a:r>
            <a:endParaRPr lang="en-US" sz="1000" dirty="0"/>
          </a:p>
        </p:txBody>
      </p:sp>
      <p:sp>
        <p:nvSpPr>
          <p:cNvPr id="14" name="Shape 12"/>
          <p:cNvSpPr/>
          <p:nvPr/>
        </p:nvSpPr>
        <p:spPr>
          <a:xfrm>
            <a:off x="274320" y="3319272"/>
            <a:ext cx="4114800" cy="566928"/>
          </a:xfrm>
          <a:prstGeom prst="roundRect">
            <a:avLst>
              <a:gd name="adj" fmla="val 12903"/>
            </a:avLst>
          </a:prstGeom>
          <a:solidFill>
            <a:srgbClr val="E8F4F8"/>
          </a:solidFill>
          <a:ln w="12700">
            <a:solidFill>
              <a:srgbClr val="C0D8E8"/>
            </a:solidFill>
            <a:prstDash val="solid"/>
          </a:ln>
        </p:spPr>
      </p:sp>
      <p:sp>
        <p:nvSpPr>
          <p:cNvPr id="15" name="Text 13"/>
          <p:cNvSpPr/>
          <p:nvPr/>
        </p:nvSpPr>
        <p:spPr>
          <a:xfrm>
            <a:off x="411480" y="3346704"/>
            <a:ext cx="1920240" cy="512064"/>
          </a:xfrm>
          <a:prstGeom prst="rect">
            <a:avLst/>
          </a:prstGeom>
          <a:noFill/>
          <a:ln/>
        </p:spPr>
        <p:txBody>
          <a:bodyPr wrap="square" rtlCol="0" anchor="ctr"/>
          <a:lstStyle/>
          <a:p>
            <a:pPr indent="0" marL="0">
              <a:buNone/>
            </a:pPr>
            <a:r>
              <a:rPr lang="en-US" sz="1000" b="1" dirty="0">
                <a:solidFill>
                  <a:srgbClr val="1A3D5C"/>
                </a:solidFill>
                <a:latin typeface="Courier New" pitchFamily="34" charset="0"/>
                <a:ea typeface="Courier New" pitchFamily="34" charset="-122"/>
                <a:cs typeface="Courier New" pitchFamily="34" charset="-120"/>
              </a:rPr>
              <a:t>fetchWaterFlux()</a:t>
            </a:r>
            <a:endParaRPr lang="en-US" sz="1000" dirty="0"/>
          </a:p>
        </p:txBody>
      </p:sp>
      <p:sp>
        <p:nvSpPr>
          <p:cNvPr id="16" name="Text 14"/>
          <p:cNvSpPr/>
          <p:nvPr/>
        </p:nvSpPr>
        <p:spPr>
          <a:xfrm>
            <a:off x="2377440" y="3346704"/>
            <a:ext cx="1920240" cy="512064"/>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유량 데이터 API 호출 + 카드 렌더링</a:t>
            </a:r>
            <a:endParaRPr lang="en-US" sz="1000" dirty="0"/>
          </a:p>
        </p:txBody>
      </p:sp>
      <p:sp>
        <p:nvSpPr>
          <p:cNvPr id="17" name="Shape 15"/>
          <p:cNvSpPr/>
          <p:nvPr/>
        </p:nvSpPr>
        <p:spPr>
          <a:xfrm>
            <a:off x="274320" y="3977640"/>
            <a:ext cx="4114800" cy="566928"/>
          </a:xfrm>
          <a:prstGeom prst="roundRect">
            <a:avLst>
              <a:gd name="adj" fmla="val 12903"/>
            </a:avLst>
          </a:prstGeom>
          <a:solidFill>
            <a:srgbClr val="F0F7FF"/>
          </a:solidFill>
          <a:ln w="12700">
            <a:solidFill>
              <a:srgbClr val="C0D8E8"/>
            </a:solidFill>
            <a:prstDash val="solid"/>
          </a:ln>
        </p:spPr>
      </p:sp>
      <p:sp>
        <p:nvSpPr>
          <p:cNvPr id="18" name="Text 16"/>
          <p:cNvSpPr/>
          <p:nvPr/>
        </p:nvSpPr>
        <p:spPr>
          <a:xfrm>
            <a:off x="411480" y="4005072"/>
            <a:ext cx="1920240" cy="512064"/>
          </a:xfrm>
          <a:prstGeom prst="rect">
            <a:avLst/>
          </a:prstGeom>
          <a:noFill/>
          <a:ln/>
        </p:spPr>
        <p:txBody>
          <a:bodyPr wrap="square" rtlCol="0" anchor="ctr"/>
          <a:lstStyle/>
          <a:p>
            <a:pPr indent="0" marL="0">
              <a:buNone/>
            </a:pPr>
            <a:r>
              <a:rPr lang="en-US" sz="1000" b="1" dirty="0">
                <a:solidFill>
                  <a:srgbClr val="1A3D5C"/>
                </a:solidFill>
                <a:latin typeface="Courier New" pitchFamily="34" charset="0"/>
                <a:ea typeface="Courier New" pitchFamily="34" charset="-122"/>
                <a:cs typeface="Courier New" pitchFamily="34" charset="-120"/>
              </a:rPr>
              <a:t>fetchAnalysis()</a:t>
            </a:r>
            <a:endParaRPr lang="en-US" sz="1000" dirty="0"/>
          </a:p>
        </p:txBody>
      </p:sp>
      <p:sp>
        <p:nvSpPr>
          <p:cNvPr id="19" name="Text 17"/>
          <p:cNvSpPr/>
          <p:nvPr/>
        </p:nvSpPr>
        <p:spPr>
          <a:xfrm>
            <a:off x="2377440" y="4005072"/>
            <a:ext cx="1920240" cy="512064"/>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Groq AI 분석 요청 + 결과 표시</a:t>
            </a:r>
            <a:endParaRPr lang="en-US" sz="1000" dirty="0"/>
          </a:p>
        </p:txBody>
      </p:sp>
      <p:sp>
        <p:nvSpPr>
          <p:cNvPr id="20" name="Text 18"/>
          <p:cNvSpPr/>
          <p:nvPr/>
        </p:nvSpPr>
        <p:spPr>
          <a:xfrm>
            <a:off x="4663440" y="1005840"/>
            <a:ext cx="4114800" cy="274320"/>
          </a:xfrm>
          <a:prstGeom prst="rect">
            <a:avLst/>
          </a:prstGeom>
          <a:noFill/>
          <a:ln/>
        </p:spPr>
        <p:txBody>
          <a:bodyPr wrap="square" rtlCol="0" anchor="ctr"/>
          <a:lstStyle/>
          <a:p>
            <a:pPr indent="0" marL="0">
              <a:buNone/>
            </a:pPr>
            <a:r>
              <a:rPr lang="en-US" sz="1200" b="1" dirty="0">
                <a:solidFill>
                  <a:srgbClr val="1A3D5C"/>
                </a:solidFill>
                <a:latin typeface="Calibri" pitchFamily="34" charset="0"/>
                <a:ea typeface="Calibri" pitchFamily="34" charset="-122"/>
                <a:cs typeface="Calibri" pitchFamily="34" charset="-120"/>
              </a:rPr>
              <a:t>UX 기능</a:t>
            </a:r>
            <a:endParaRPr lang="en-US" sz="1200" dirty="0"/>
          </a:p>
        </p:txBody>
      </p:sp>
      <p:sp>
        <p:nvSpPr>
          <p:cNvPr id="21" name="Shape 19"/>
          <p:cNvSpPr/>
          <p:nvPr/>
        </p:nvSpPr>
        <p:spPr>
          <a:xfrm>
            <a:off x="4663440" y="1344168"/>
            <a:ext cx="4114800" cy="914400"/>
          </a:xfrm>
          <a:prstGeom prst="roundRect">
            <a:avLst>
              <a:gd name="adj" fmla="val 10000"/>
            </a:avLst>
          </a:prstGeom>
          <a:solidFill>
            <a:srgbClr val="F0F7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22" name="Text 20"/>
          <p:cNvSpPr/>
          <p:nvPr/>
        </p:nvSpPr>
        <p:spPr>
          <a:xfrm>
            <a:off x="4800600" y="1389888"/>
            <a:ext cx="3840480" cy="320040"/>
          </a:xfrm>
          <a:prstGeom prst="rect">
            <a:avLst/>
          </a:prstGeom>
          <a:noFill/>
          <a:ln/>
        </p:spPr>
        <p:txBody>
          <a:bodyPr wrap="square" rtlCol="0" anchor="ctr"/>
          <a:lstStyle/>
          <a:p>
            <a:pPr indent="0" marL="0">
              <a:buNone/>
            </a:pPr>
            <a:r>
              <a:rPr lang="en-US" sz="1200" b="1" dirty="0">
                <a:solidFill>
                  <a:srgbClr val="1A2B3C"/>
                </a:solidFill>
                <a:latin typeface="Calibri" pitchFamily="34" charset="0"/>
                <a:ea typeface="Calibri" pitchFamily="34" charset="-122"/>
                <a:cs typeface="Calibri" pitchFamily="34" charset="-120"/>
              </a:rPr>
              <a:t>📊 상단 프로그레스 바</a:t>
            </a:r>
            <a:endParaRPr lang="en-US" sz="1200" dirty="0"/>
          </a:p>
        </p:txBody>
      </p:sp>
      <p:sp>
        <p:nvSpPr>
          <p:cNvPr id="23" name="Text 21"/>
          <p:cNvSpPr/>
          <p:nvPr/>
        </p:nvSpPr>
        <p:spPr>
          <a:xfrm>
            <a:off x="4800600" y="1719072"/>
            <a:ext cx="3840480" cy="411480"/>
          </a:xfrm>
          <a:prstGeom prst="rect">
            <a:avLst/>
          </a:prstGeom>
          <a:noFill/>
          <a:ln/>
        </p:spPr>
        <p:txBody>
          <a:bodyPr wrap="square" rtlCol="0" anchor="ctr"/>
          <a:lstStyle/>
          <a:p>
            <a:pPr indent="0" marL="0">
              <a:buNone/>
            </a:pPr>
            <a:r>
              <a:rPr lang="en-US" sz="1050" dirty="0">
                <a:solidFill>
                  <a:srgbClr val="4A6A80"/>
                </a:solidFill>
                <a:latin typeface="Calibri" pitchFamily="34" charset="0"/>
                <a:ea typeface="Calibri" pitchFamily="34" charset="-122"/>
                <a:cs typeface="Calibri" pitchFamily="34" charset="-120"/>
              </a:rPr>
              <a:t>데이터 로딩 상태 시각화</a:t>
            </a:r>
            <a:endParaRPr lang="en-US" sz="1050" dirty="0"/>
          </a:p>
        </p:txBody>
      </p:sp>
      <p:sp>
        <p:nvSpPr>
          <p:cNvPr id="24" name="Shape 22"/>
          <p:cNvSpPr/>
          <p:nvPr/>
        </p:nvSpPr>
        <p:spPr>
          <a:xfrm>
            <a:off x="4663440" y="2395728"/>
            <a:ext cx="4114800" cy="914400"/>
          </a:xfrm>
          <a:prstGeom prst="roundRect">
            <a:avLst>
              <a:gd name="adj" fmla="val 10000"/>
            </a:avLst>
          </a:prstGeom>
          <a:solidFill>
            <a:srgbClr val="F0F7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25" name="Text 23"/>
          <p:cNvSpPr/>
          <p:nvPr/>
        </p:nvSpPr>
        <p:spPr>
          <a:xfrm>
            <a:off x="4800600" y="2441448"/>
            <a:ext cx="3840480" cy="320040"/>
          </a:xfrm>
          <a:prstGeom prst="rect">
            <a:avLst/>
          </a:prstGeom>
          <a:noFill/>
          <a:ln/>
        </p:spPr>
        <p:txBody>
          <a:bodyPr wrap="square" rtlCol="0" anchor="ctr"/>
          <a:lstStyle/>
          <a:p>
            <a:pPr indent="0" marL="0">
              <a:buNone/>
            </a:pPr>
            <a:r>
              <a:rPr lang="en-US" sz="1200" b="1" dirty="0">
                <a:solidFill>
                  <a:srgbClr val="1A2B3C"/>
                </a:solidFill>
                <a:latin typeface="Calibri" pitchFamily="34" charset="0"/>
                <a:ea typeface="Calibri" pitchFamily="34" charset="-122"/>
                <a:cs typeface="Calibri" pitchFamily="34" charset="-120"/>
              </a:rPr>
              <a:t>💀 스켈레톤 카드 shimmer</a:t>
            </a:r>
            <a:endParaRPr lang="en-US" sz="1200" dirty="0"/>
          </a:p>
        </p:txBody>
      </p:sp>
      <p:sp>
        <p:nvSpPr>
          <p:cNvPr id="26" name="Text 24"/>
          <p:cNvSpPr/>
          <p:nvPr/>
        </p:nvSpPr>
        <p:spPr>
          <a:xfrm>
            <a:off x="4800600" y="2770632"/>
            <a:ext cx="3840480" cy="411480"/>
          </a:xfrm>
          <a:prstGeom prst="rect">
            <a:avLst/>
          </a:prstGeom>
          <a:noFill/>
          <a:ln/>
        </p:spPr>
        <p:txBody>
          <a:bodyPr wrap="square" rtlCol="0" anchor="ctr"/>
          <a:lstStyle/>
          <a:p>
            <a:pPr indent="0" marL="0">
              <a:buNone/>
            </a:pPr>
            <a:r>
              <a:rPr lang="en-US" sz="1050" dirty="0">
                <a:solidFill>
                  <a:srgbClr val="4A6A80"/>
                </a:solidFill>
                <a:latin typeface="Calibri" pitchFamily="34" charset="0"/>
                <a:ea typeface="Calibri" pitchFamily="34" charset="-122"/>
                <a:cs typeface="Calibri" pitchFamily="34" charset="-120"/>
              </a:rPr>
              <a:t>로딩 중 카드 자리 표시자</a:t>
            </a:r>
            <a:endParaRPr lang="en-US" sz="1050" dirty="0"/>
          </a:p>
        </p:txBody>
      </p:sp>
      <p:sp>
        <p:nvSpPr>
          <p:cNvPr id="27" name="Shape 25"/>
          <p:cNvSpPr/>
          <p:nvPr/>
        </p:nvSpPr>
        <p:spPr>
          <a:xfrm>
            <a:off x="4663440" y="3447288"/>
            <a:ext cx="4114800" cy="914400"/>
          </a:xfrm>
          <a:prstGeom prst="roundRect">
            <a:avLst>
              <a:gd name="adj" fmla="val 10000"/>
            </a:avLst>
          </a:prstGeom>
          <a:solidFill>
            <a:srgbClr val="F0F7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28" name="Text 26"/>
          <p:cNvSpPr/>
          <p:nvPr/>
        </p:nvSpPr>
        <p:spPr>
          <a:xfrm>
            <a:off x="4800600" y="3493008"/>
            <a:ext cx="3840480" cy="320040"/>
          </a:xfrm>
          <a:prstGeom prst="rect">
            <a:avLst/>
          </a:prstGeom>
          <a:noFill/>
          <a:ln/>
        </p:spPr>
        <p:txBody>
          <a:bodyPr wrap="square" rtlCol="0" anchor="ctr"/>
          <a:lstStyle/>
          <a:p>
            <a:pPr indent="0" marL="0">
              <a:buNone/>
            </a:pPr>
            <a:r>
              <a:rPr lang="en-US" sz="1200" b="1" dirty="0">
                <a:solidFill>
                  <a:srgbClr val="1A2B3C"/>
                </a:solidFill>
                <a:latin typeface="Calibri" pitchFamily="34" charset="0"/>
                <a:ea typeface="Calibri" pitchFamily="34" charset="-122"/>
                <a:cs typeface="Calibri" pitchFamily="34" charset="-120"/>
              </a:rPr>
              <a:t>🚨 수질 경보 색상</a:t>
            </a:r>
            <a:endParaRPr lang="en-US" sz="1200" dirty="0"/>
          </a:p>
        </p:txBody>
      </p:sp>
      <p:sp>
        <p:nvSpPr>
          <p:cNvPr id="29" name="Text 27"/>
          <p:cNvSpPr/>
          <p:nvPr/>
        </p:nvSpPr>
        <p:spPr>
          <a:xfrm>
            <a:off x="4800600" y="3822192"/>
            <a:ext cx="3840480" cy="411480"/>
          </a:xfrm>
          <a:prstGeom prst="rect">
            <a:avLst/>
          </a:prstGeom>
          <a:noFill/>
          <a:ln/>
        </p:spPr>
        <p:txBody>
          <a:bodyPr wrap="square" rtlCol="0" anchor="ctr"/>
          <a:lstStyle/>
          <a:p>
            <a:pPr indent="0" marL="0">
              <a:buNone/>
            </a:pPr>
            <a:r>
              <a:rPr lang="en-US" sz="1050" dirty="0">
                <a:solidFill>
                  <a:srgbClr val="4A6A80"/>
                </a:solidFill>
                <a:latin typeface="Calibri" pitchFamily="34" charset="0"/>
                <a:ea typeface="Calibri" pitchFamily="34" charset="-122"/>
                <a:cs typeface="Calibri" pitchFamily="34" charset="-120"/>
              </a:rPr>
              <a:t>정상/주의/경보 3단계 색상 구분</a:t>
            </a:r>
            <a:endParaRPr lang="en-US" sz="1050" dirty="0"/>
          </a:p>
        </p:txBody>
      </p:sp>
      <p:sp>
        <p:nvSpPr>
          <p:cNvPr id="30" name="Shape 28"/>
          <p:cNvSpPr/>
          <p:nvPr/>
        </p:nvSpPr>
        <p:spPr>
          <a:xfrm>
            <a:off x="274320" y="4690872"/>
            <a:ext cx="8595360" cy="384048"/>
          </a:xfrm>
          <a:prstGeom prst="roundRect">
            <a:avLst>
              <a:gd name="adj" fmla="val 19048"/>
            </a:avLst>
          </a:prstGeom>
          <a:solidFill>
            <a:srgbClr val="E8F7F4"/>
          </a:solidFill>
          <a:ln w="12700">
            <a:solidFill>
              <a:srgbClr val="02C39A"/>
            </a:solidFill>
            <a:prstDash val="solid"/>
          </a:ln>
        </p:spPr>
      </p:sp>
      <p:sp>
        <p:nvSpPr>
          <p:cNvPr id="31" name="Text 29"/>
          <p:cNvSpPr/>
          <p:nvPr/>
        </p:nvSpPr>
        <p:spPr>
          <a:xfrm>
            <a:off x="411480" y="4700016"/>
            <a:ext cx="8321040" cy="365760"/>
          </a:xfrm>
          <a:prstGeom prst="rect">
            <a:avLst/>
          </a:prstGeom>
          <a:noFill/>
          <a:ln/>
        </p:spPr>
        <p:txBody>
          <a:bodyPr wrap="square" rtlCol="0" anchor="ctr"/>
          <a:lstStyle/>
          <a:p>
            <a:pPr indent="0" marL="0">
              <a:buNone/>
            </a:pPr>
            <a:r>
              <a:rPr lang="en-US" sz="950" dirty="0">
                <a:solidFill>
                  <a:srgbClr val="016A6A"/>
                </a:solidFill>
                <a:latin typeface="Calibri" pitchFamily="34" charset="0"/>
                <a:ea typeface="Calibri" pitchFamily="34" charset="-122"/>
                <a:cs typeface="Calibri" pitchFamily="34" charset="-120"/>
              </a:rPr>
              <a:t>AI에게: "수질 데이터를 카드 형태로 보여주는 HTML/CSS/JS를 만들어줘. 위험 항목은 빨간색으로 표시해줘"</a:t>
            </a:r>
            <a:endParaRPr lang="en-US" sz="950" dirty="0"/>
          </a:p>
          <a:p>
            <a:pPr indent="0" marL="0">
              <a:buNone/>
            </a:pPr>
            <a:r>
              <a:rPr lang="en-US" sz="950" dirty="0">
                <a:solidFill>
                  <a:srgbClr val="016A6A"/>
                </a:solidFill>
                <a:latin typeface="Calibri" pitchFamily="34" charset="0"/>
                <a:ea typeface="Calibri" pitchFamily="34" charset="-122"/>
                <a:cs typeface="Calibri" pitchFamily="34" charset="-120"/>
              </a:rPr>
              <a:t>프레임워크 없이 단일 파일로 구현 → 배포 초간단 (Spring Boot /static 폴더에 배치)</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D5C"/>
          </a:solidFill>
          <a:ln w="12700">
            <a:solidFill>
              <a:srgbClr val="1A3D5C"/>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버그가 생겼을 때 AI와 함께 해결하기</a:t>
            </a:r>
            <a:endParaRPr lang="en-US" sz="2100" dirty="0"/>
          </a:p>
        </p:txBody>
      </p:sp>
      <p:sp>
        <p:nvSpPr>
          <p:cNvPr id="4" name="Shape 2"/>
          <p:cNvSpPr/>
          <p:nvPr/>
        </p:nvSpPr>
        <p:spPr>
          <a:xfrm>
            <a:off x="274320" y="1024128"/>
            <a:ext cx="4206240" cy="1783080"/>
          </a:xfrm>
          <a:prstGeom prst="roundRect">
            <a:avLst>
              <a:gd name="adj" fmla="val 5128"/>
            </a:avLst>
          </a:prstGeom>
          <a:solidFill>
            <a:srgbClr val="FFFF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5" name="Shape 3"/>
          <p:cNvSpPr/>
          <p:nvPr/>
        </p:nvSpPr>
        <p:spPr>
          <a:xfrm>
            <a:off x="274320" y="1024128"/>
            <a:ext cx="4206240" cy="384048"/>
          </a:xfrm>
          <a:prstGeom prst="roundRect">
            <a:avLst>
              <a:gd name="adj" fmla="val 23810"/>
            </a:avLst>
          </a:prstGeom>
          <a:solidFill>
            <a:srgbClr val="1A3D5C">
              <a:alpha val="12000"/>
            </a:srgbClr>
          </a:solidFill>
          <a:ln w="12700">
            <a:solidFill>
              <a:srgbClr val="1A3D5C"/>
            </a:solidFill>
            <a:prstDash val="solid"/>
          </a:ln>
        </p:spPr>
      </p:sp>
      <p:sp>
        <p:nvSpPr>
          <p:cNvPr id="6" name="Shape 4"/>
          <p:cNvSpPr/>
          <p:nvPr/>
        </p:nvSpPr>
        <p:spPr>
          <a:xfrm>
            <a:off x="365760" y="1088136"/>
            <a:ext cx="274320" cy="274320"/>
          </a:xfrm>
          <a:prstGeom prst="ellipse">
            <a:avLst/>
          </a:prstGeom>
          <a:solidFill>
            <a:srgbClr val="1A3D5C"/>
          </a:solidFill>
          <a:ln w="12700">
            <a:solidFill>
              <a:srgbClr val="1A3D5C"/>
            </a:solidFill>
            <a:prstDash val="solid"/>
          </a:ln>
        </p:spPr>
      </p:sp>
      <p:sp>
        <p:nvSpPr>
          <p:cNvPr id="7" name="Text 5"/>
          <p:cNvSpPr/>
          <p:nvPr/>
        </p:nvSpPr>
        <p:spPr>
          <a:xfrm>
            <a:off x="365760" y="1088136"/>
            <a:ext cx="27432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01</a:t>
            </a:r>
            <a:endParaRPr lang="en-US" sz="800" dirty="0"/>
          </a:p>
        </p:txBody>
      </p:sp>
      <p:sp>
        <p:nvSpPr>
          <p:cNvPr id="8" name="Text 6"/>
          <p:cNvSpPr/>
          <p:nvPr/>
        </p:nvSpPr>
        <p:spPr>
          <a:xfrm>
            <a:off x="713232" y="1051560"/>
            <a:ext cx="3657600" cy="347472"/>
          </a:xfrm>
          <a:prstGeom prst="rect">
            <a:avLst/>
          </a:prstGeom>
          <a:noFill/>
          <a:ln/>
        </p:spPr>
        <p:txBody>
          <a:bodyPr wrap="square" rtlCol="0" anchor="ctr"/>
          <a:lstStyle/>
          <a:p>
            <a:pPr indent="0" marL="0">
              <a:buNone/>
            </a:pPr>
            <a:r>
              <a:rPr lang="en-US" sz="1100" b="1" dirty="0">
                <a:solidFill>
                  <a:srgbClr val="1A3D5C"/>
                </a:solidFill>
                <a:latin typeface="Calibri" pitchFamily="34" charset="0"/>
                <a:ea typeface="Calibri" pitchFamily="34" charset="-122"/>
                <a:cs typeface="Calibri" pitchFamily="34" charset="-120"/>
              </a:rPr>
              <a:t>sujCode 없이 호출 시 44초 지연</a:t>
            </a:r>
            <a:endParaRPr lang="en-US" sz="1100" dirty="0"/>
          </a:p>
        </p:txBody>
      </p:sp>
      <p:sp>
        <p:nvSpPr>
          <p:cNvPr id="9" name="Text 7"/>
          <p:cNvSpPr/>
          <p:nvPr/>
        </p:nvSpPr>
        <p:spPr>
          <a:xfrm>
            <a:off x="384048" y="1481328"/>
            <a:ext cx="502920" cy="256032"/>
          </a:xfrm>
          <a:prstGeom prst="rect">
            <a:avLst/>
          </a:prstGeom>
          <a:noFill/>
          <a:ln/>
        </p:spPr>
        <p:txBody>
          <a:bodyPr wrap="square" rtlCol="0" anchor="ctr"/>
          <a:lstStyle/>
          <a:p>
            <a:pPr indent="0" marL="0">
              <a:buNone/>
            </a:pPr>
            <a:r>
              <a:rPr lang="en-US" sz="1000" b="1" dirty="0">
                <a:solidFill>
                  <a:srgbClr val="E53E3E"/>
                </a:solidFill>
                <a:latin typeface="Calibri" pitchFamily="34" charset="0"/>
                <a:ea typeface="Calibri" pitchFamily="34" charset="-122"/>
                <a:cs typeface="Calibri" pitchFamily="34" charset="-120"/>
              </a:rPr>
              <a:t>원인:</a:t>
            </a:r>
            <a:endParaRPr lang="en-US" sz="1000" dirty="0"/>
          </a:p>
        </p:txBody>
      </p:sp>
      <p:sp>
        <p:nvSpPr>
          <p:cNvPr id="10" name="Text 8"/>
          <p:cNvSpPr/>
          <p:nvPr/>
        </p:nvSpPr>
        <p:spPr>
          <a:xfrm>
            <a:off x="896112" y="1481328"/>
            <a:ext cx="3474720" cy="41148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K-water 전체 데이터 조회 발생</a:t>
            </a:r>
            <a:endParaRPr lang="en-US" sz="1000" dirty="0"/>
          </a:p>
        </p:txBody>
      </p:sp>
      <p:sp>
        <p:nvSpPr>
          <p:cNvPr id="11" name="Text 9"/>
          <p:cNvSpPr/>
          <p:nvPr/>
        </p:nvSpPr>
        <p:spPr>
          <a:xfrm>
            <a:off x="384048" y="1938528"/>
            <a:ext cx="502920" cy="256032"/>
          </a:xfrm>
          <a:prstGeom prst="rect">
            <a:avLst/>
          </a:prstGeom>
          <a:noFill/>
          <a:ln/>
        </p:spPr>
        <p:txBody>
          <a:bodyPr wrap="square" rtlCol="0" anchor="ctr"/>
          <a:lstStyle/>
          <a:p>
            <a:pPr indent="0" marL="0">
              <a:buNone/>
            </a:pPr>
            <a:r>
              <a:rPr lang="en-US" sz="1000" b="1" dirty="0">
                <a:solidFill>
                  <a:srgbClr val="38A169"/>
                </a:solidFill>
                <a:latin typeface="Calibri" pitchFamily="34" charset="0"/>
                <a:ea typeface="Calibri" pitchFamily="34" charset="-122"/>
                <a:cs typeface="Calibri" pitchFamily="34" charset="-120"/>
              </a:rPr>
              <a:t>해결:</a:t>
            </a:r>
            <a:endParaRPr lang="en-US" sz="1000" dirty="0"/>
          </a:p>
        </p:txBody>
      </p:sp>
      <p:sp>
        <p:nvSpPr>
          <p:cNvPr id="12" name="Text 10"/>
          <p:cNvSpPr/>
          <p:nvPr/>
        </p:nvSpPr>
        <p:spPr>
          <a:xfrm>
            <a:off x="896112" y="1938528"/>
            <a:ext cx="3474720" cy="749808"/>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RestTemplate connectTimeout 5s / readTimeout 25s 설정 + sujCode 필수 파라미터화</a:t>
            </a:r>
            <a:endParaRPr lang="en-US" sz="1000" dirty="0"/>
          </a:p>
        </p:txBody>
      </p:sp>
      <p:sp>
        <p:nvSpPr>
          <p:cNvPr id="13" name="Shape 11"/>
          <p:cNvSpPr/>
          <p:nvPr/>
        </p:nvSpPr>
        <p:spPr>
          <a:xfrm>
            <a:off x="4709160" y="1024128"/>
            <a:ext cx="4206240" cy="1783080"/>
          </a:xfrm>
          <a:prstGeom prst="roundRect">
            <a:avLst>
              <a:gd name="adj" fmla="val 5128"/>
            </a:avLst>
          </a:prstGeom>
          <a:solidFill>
            <a:srgbClr val="FFFF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14" name="Shape 12"/>
          <p:cNvSpPr/>
          <p:nvPr/>
        </p:nvSpPr>
        <p:spPr>
          <a:xfrm>
            <a:off x="4709160" y="1024128"/>
            <a:ext cx="4206240" cy="384048"/>
          </a:xfrm>
          <a:prstGeom prst="roundRect">
            <a:avLst>
              <a:gd name="adj" fmla="val 23810"/>
            </a:avLst>
          </a:prstGeom>
          <a:solidFill>
            <a:srgbClr val="1A3D5C">
              <a:alpha val="12000"/>
            </a:srgbClr>
          </a:solidFill>
          <a:ln w="12700">
            <a:solidFill>
              <a:srgbClr val="1A3D5C"/>
            </a:solidFill>
            <a:prstDash val="solid"/>
          </a:ln>
        </p:spPr>
      </p:sp>
      <p:sp>
        <p:nvSpPr>
          <p:cNvPr id="15" name="Shape 13"/>
          <p:cNvSpPr/>
          <p:nvPr/>
        </p:nvSpPr>
        <p:spPr>
          <a:xfrm>
            <a:off x="4800600" y="1088136"/>
            <a:ext cx="274320" cy="274320"/>
          </a:xfrm>
          <a:prstGeom prst="ellipse">
            <a:avLst/>
          </a:prstGeom>
          <a:solidFill>
            <a:srgbClr val="1A3D5C"/>
          </a:solidFill>
          <a:ln w="12700">
            <a:solidFill>
              <a:srgbClr val="1A3D5C"/>
            </a:solidFill>
            <a:prstDash val="solid"/>
          </a:ln>
        </p:spPr>
      </p:sp>
      <p:sp>
        <p:nvSpPr>
          <p:cNvPr id="16" name="Text 14"/>
          <p:cNvSpPr/>
          <p:nvPr/>
        </p:nvSpPr>
        <p:spPr>
          <a:xfrm>
            <a:off x="4800600" y="1088136"/>
            <a:ext cx="27432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02</a:t>
            </a:r>
            <a:endParaRPr lang="en-US" sz="800" dirty="0"/>
          </a:p>
        </p:txBody>
      </p:sp>
      <p:sp>
        <p:nvSpPr>
          <p:cNvPr id="17" name="Text 15"/>
          <p:cNvSpPr/>
          <p:nvPr/>
        </p:nvSpPr>
        <p:spPr>
          <a:xfrm>
            <a:off x="5148072" y="1051560"/>
            <a:ext cx="3657600" cy="347472"/>
          </a:xfrm>
          <a:prstGeom prst="rect">
            <a:avLst/>
          </a:prstGeom>
          <a:noFill/>
          <a:ln/>
        </p:spPr>
        <p:txBody>
          <a:bodyPr wrap="square" rtlCol="0" anchor="ctr"/>
          <a:lstStyle/>
          <a:p>
            <a:pPr indent="0" marL="0">
              <a:buNone/>
            </a:pPr>
            <a:r>
              <a:rPr lang="en-US" sz="1100" b="1" dirty="0">
                <a:solidFill>
                  <a:srgbClr val="1A3D5C"/>
                </a:solidFill>
                <a:latin typeface="Calibri" pitchFamily="34" charset="0"/>
                <a:ea typeface="Calibri" pitchFamily="34" charset="-122"/>
                <a:cs typeface="Calibri" pitchFamily="34" charset="-120"/>
              </a:rPr>
              <a:t>items가 빈 문자열일 때 NPE</a:t>
            </a:r>
            <a:endParaRPr lang="en-US" sz="1100" dirty="0"/>
          </a:p>
        </p:txBody>
      </p:sp>
      <p:sp>
        <p:nvSpPr>
          <p:cNvPr id="18" name="Text 16"/>
          <p:cNvSpPr/>
          <p:nvPr/>
        </p:nvSpPr>
        <p:spPr>
          <a:xfrm>
            <a:off x="4818888" y="1481328"/>
            <a:ext cx="502920" cy="256032"/>
          </a:xfrm>
          <a:prstGeom prst="rect">
            <a:avLst/>
          </a:prstGeom>
          <a:noFill/>
          <a:ln/>
        </p:spPr>
        <p:txBody>
          <a:bodyPr wrap="square" rtlCol="0" anchor="ctr"/>
          <a:lstStyle/>
          <a:p>
            <a:pPr indent="0" marL="0">
              <a:buNone/>
            </a:pPr>
            <a:r>
              <a:rPr lang="en-US" sz="1000" b="1" dirty="0">
                <a:solidFill>
                  <a:srgbClr val="E53E3E"/>
                </a:solidFill>
                <a:latin typeface="Calibri" pitchFamily="34" charset="0"/>
                <a:ea typeface="Calibri" pitchFamily="34" charset="-122"/>
                <a:cs typeface="Calibri" pitchFamily="34" charset="-120"/>
              </a:rPr>
              <a:t>원인:</a:t>
            </a:r>
            <a:endParaRPr lang="en-US" sz="1000" dirty="0"/>
          </a:p>
        </p:txBody>
      </p:sp>
      <p:sp>
        <p:nvSpPr>
          <p:cNvPr id="19" name="Text 17"/>
          <p:cNvSpPr/>
          <p:nvPr/>
        </p:nvSpPr>
        <p:spPr>
          <a:xfrm>
            <a:off x="5330952" y="1481328"/>
            <a:ext cx="3474720" cy="41148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API가 데이터 없을 때 null 대신 빈 문자열 반환</a:t>
            </a:r>
            <a:endParaRPr lang="en-US" sz="1000" dirty="0"/>
          </a:p>
        </p:txBody>
      </p:sp>
      <p:sp>
        <p:nvSpPr>
          <p:cNvPr id="20" name="Text 18"/>
          <p:cNvSpPr/>
          <p:nvPr/>
        </p:nvSpPr>
        <p:spPr>
          <a:xfrm>
            <a:off x="4818888" y="1938528"/>
            <a:ext cx="502920" cy="256032"/>
          </a:xfrm>
          <a:prstGeom prst="rect">
            <a:avLst/>
          </a:prstGeom>
          <a:noFill/>
          <a:ln/>
        </p:spPr>
        <p:txBody>
          <a:bodyPr wrap="square" rtlCol="0" anchor="ctr"/>
          <a:lstStyle/>
          <a:p>
            <a:pPr indent="0" marL="0">
              <a:buNone/>
            </a:pPr>
            <a:r>
              <a:rPr lang="en-US" sz="1000" b="1" dirty="0">
                <a:solidFill>
                  <a:srgbClr val="38A169"/>
                </a:solidFill>
                <a:latin typeface="Calibri" pitchFamily="34" charset="0"/>
                <a:ea typeface="Calibri" pitchFamily="34" charset="-122"/>
                <a:cs typeface="Calibri" pitchFamily="34" charset="-120"/>
              </a:rPr>
              <a:t>해결:</a:t>
            </a:r>
            <a:endParaRPr lang="en-US" sz="1000" dirty="0"/>
          </a:p>
        </p:txBody>
      </p:sp>
      <p:sp>
        <p:nvSpPr>
          <p:cNvPr id="21" name="Text 19"/>
          <p:cNvSpPr/>
          <p:nvPr/>
        </p:nvSpPr>
        <p:spPr>
          <a:xfrm>
            <a:off x="5330952" y="1938528"/>
            <a:ext cx="3474720" cy="749808"/>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items != null &amp;&amp; !items.isEmpty() 체크 추가</a:t>
            </a:r>
            <a:endParaRPr lang="en-US" sz="1000" dirty="0"/>
          </a:p>
        </p:txBody>
      </p:sp>
      <p:sp>
        <p:nvSpPr>
          <p:cNvPr id="22" name="Shape 20"/>
          <p:cNvSpPr/>
          <p:nvPr/>
        </p:nvSpPr>
        <p:spPr>
          <a:xfrm>
            <a:off x="274320" y="2944368"/>
            <a:ext cx="4206240" cy="1783080"/>
          </a:xfrm>
          <a:prstGeom prst="roundRect">
            <a:avLst>
              <a:gd name="adj" fmla="val 5128"/>
            </a:avLst>
          </a:prstGeom>
          <a:solidFill>
            <a:srgbClr val="FFFF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23" name="Shape 21"/>
          <p:cNvSpPr/>
          <p:nvPr/>
        </p:nvSpPr>
        <p:spPr>
          <a:xfrm>
            <a:off x="274320" y="2944368"/>
            <a:ext cx="4206240" cy="384048"/>
          </a:xfrm>
          <a:prstGeom prst="roundRect">
            <a:avLst>
              <a:gd name="adj" fmla="val 23810"/>
            </a:avLst>
          </a:prstGeom>
          <a:solidFill>
            <a:srgbClr val="1A3D5C">
              <a:alpha val="12000"/>
            </a:srgbClr>
          </a:solidFill>
          <a:ln w="12700">
            <a:solidFill>
              <a:srgbClr val="1A3D5C"/>
            </a:solidFill>
            <a:prstDash val="solid"/>
          </a:ln>
        </p:spPr>
      </p:sp>
      <p:sp>
        <p:nvSpPr>
          <p:cNvPr id="24" name="Shape 22"/>
          <p:cNvSpPr/>
          <p:nvPr/>
        </p:nvSpPr>
        <p:spPr>
          <a:xfrm>
            <a:off x="365760" y="3008376"/>
            <a:ext cx="274320" cy="274320"/>
          </a:xfrm>
          <a:prstGeom prst="ellipse">
            <a:avLst/>
          </a:prstGeom>
          <a:solidFill>
            <a:srgbClr val="1A3D5C"/>
          </a:solidFill>
          <a:ln w="12700">
            <a:solidFill>
              <a:srgbClr val="1A3D5C"/>
            </a:solidFill>
            <a:prstDash val="solid"/>
          </a:ln>
        </p:spPr>
      </p:sp>
      <p:sp>
        <p:nvSpPr>
          <p:cNvPr id="25" name="Text 23"/>
          <p:cNvSpPr/>
          <p:nvPr/>
        </p:nvSpPr>
        <p:spPr>
          <a:xfrm>
            <a:off x="365760" y="3008376"/>
            <a:ext cx="27432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03</a:t>
            </a:r>
            <a:endParaRPr lang="en-US" sz="800" dirty="0"/>
          </a:p>
        </p:txBody>
      </p:sp>
      <p:sp>
        <p:nvSpPr>
          <p:cNvPr id="26" name="Text 24"/>
          <p:cNvSpPr/>
          <p:nvPr/>
        </p:nvSpPr>
        <p:spPr>
          <a:xfrm>
            <a:off x="713232" y="2971800"/>
            <a:ext cx="3657600" cy="347472"/>
          </a:xfrm>
          <a:prstGeom prst="rect">
            <a:avLst/>
          </a:prstGeom>
          <a:noFill/>
          <a:ln/>
        </p:spPr>
        <p:txBody>
          <a:bodyPr wrap="square" rtlCol="0" anchor="ctr"/>
          <a:lstStyle/>
          <a:p>
            <a:pPr indent="0" marL="0">
              <a:buNone/>
            </a:pPr>
            <a:r>
              <a:rPr lang="en-US" sz="1100" b="1" dirty="0">
                <a:solidFill>
                  <a:srgbClr val="1A3D5C"/>
                </a:solidFill>
                <a:latin typeface="Calibri" pitchFamily="34" charset="0"/>
                <a:ea typeface="Calibri" pitchFamily="34" charset="-122"/>
                <a:cs typeface="Calibri" pitchFamily="34" charset="-120"/>
              </a:rPr>
              <a:t>단건 응답이 Map으로 와서 ClassCastException</a:t>
            </a:r>
            <a:endParaRPr lang="en-US" sz="1100" dirty="0"/>
          </a:p>
        </p:txBody>
      </p:sp>
      <p:sp>
        <p:nvSpPr>
          <p:cNvPr id="27" name="Text 25"/>
          <p:cNvSpPr/>
          <p:nvPr/>
        </p:nvSpPr>
        <p:spPr>
          <a:xfrm>
            <a:off x="384048" y="3401568"/>
            <a:ext cx="502920" cy="256032"/>
          </a:xfrm>
          <a:prstGeom prst="rect">
            <a:avLst/>
          </a:prstGeom>
          <a:noFill/>
          <a:ln/>
        </p:spPr>
        <p:txBody>
          <a:bodyPr wrap="square" rtlCol="0" anchor="ctr"/>
          <a:lstStyle/>
          <a:p>
            <a:pPr indent="0" marL="0">
              <a:buNone/>
            </a:pPr>
            <a:r>
              <a:rPr lang="en-US" sz="1000" b="1" dirty="0">
                <a:solidFill>
                  <a:srgbClr val="E53E3E"/>
                </a:solidFill>
                <a:latin typeface="Calibri" pitchFamily="34" charset="0"/>
                <a:ea typeface="Calibri" pitchFamily="34" charset="-122"/>
                <a:cs typeface="Calibri" pitchFamily="34" charset="-120"/>
              </a:rPr>
              <a:t>원인:</a:t>
            </a:r>
            <a:endParaRPr lang="en-US" sz="1000" dirty="0"/>
          </a:p>
        </p:txBody>
      </p:sp>
      <p:sp>
        <p:nvSpPr>
          <p:cNvPr id="28" name="Text 26"/>
          <p:cNvSpPr/>
          <p:nvPr/>
        </p:nvSpPr>
        <p:spPr>
          <a:xfrm>
            <a:off x="896112" y="3401568"/>
            <a:ext cx="3474720" cy="41148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1건 결과는 List가 아닌 Map으로 반환</a:t>
            </a:r>
            <a:endParaRPr lang="en-US" sz="1000" dirty="0"/>
          </a:p>
        </p:txBody>
      </p:sp>
      <p:sp>
        <p:nvSpPr>
          <p:cNvPr id="29" name="Text 27"/>
          <p:cNvSpPr/>
          <p:nvPr/>
        </p:nvSpPr>
        <p:spPr>
          <a:xfrm>
            <a:off x="384048" y="3858768"/>
            <a:ext cx="502920" cy="256032"/>
          </a:xfrm>
          <a:prstGeom prst="rect">
            <a:avLst/>
          </a:prstGeom>
          <a:noFill/>
          <a:ln/>
        </p:spPr>
        <p:txBody>
          <a:bodyPr wrap="square" rtlCol="0" anchor="ctr"/>
          <a:lstStyle/>
          <a:p>
            <a:pPr indent="0" marL="0">
              <a:buNone/>
            </a:pPr>
            <a:r>
              <a:rPr lang="en-US" sz="1000" b="1" dirty="0">
                <a:solidFill>
                  <a:srgbClr val="38A169"/>
                </a:solidFill>
                <a:latin typeface="Calibri" pitchFamily="34" charset="0"/>
                <a:ea typeface="Calibri" pitchFamily="34" charset="-122"/>
                <a:cs typeface="Calibri" pitchFamily="34" charset="-120"/>
              </a:rPr>
              <a:t>해결:</a:t>
            </a:r>
            <a:endParaRPr lang="en-US" sz="1000" dirty="0"/>
          </a:p>
        </p:txBody>
      </p:sp>
      <p:sp>
        <p:nvSpPr>
          <p:cNvPr id="30" name="Text 28"/>
          <p:cNvSpPr/>
          <p:nvPr/>
        </p:nvSpPr>
        <p:spPr>
          <a:xfrm>
            <a:off x="896112" y="3858768"/>
            <a:ext cx="3474720" cy="749808"/>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instanceof Map 체크 후 List.of()로 래핑</a:t>
            </a:r>
            <a:endParaRPr lang="en-US" sz="1000" dirty="0"/>
          </a:p>
        </p:txBody>
      </p:sp>
      <p:sp>
        <p:nvSpPr>
          <p:cNvPr id="31" name="Shape 29"/>
          <p:cNvSpPr/>
          <p:nvPr/>
        </p:nvSpPr>
        <p:spPr>
          <a:xfrm>
            <a:off x="4709160" y="2944368"/>
            <a:ext cx="4206240" cy="1783080"/>
          </a:xfrm>
          <a:prstGeom prst="roundRect">
            <a:avLst>
              <a:gd name="adj" fmla="val 5128"/>
            </a:avLst>
          </a:prstGeom>
          <a:solidFill>
            <a:srgbClr val="FFFFFF"/>
          </a:solidFill>
          <a:ln w="12700">
            <a:solidFill>
              <a:srgbClr val="C0D8E8"/>
            </a:solidFill>
            <a:prstDash val="solid"/>
          </a:ln>
          <a:effectLst>
            <a:outerShdw sx="100000" sy="100000" kx="0" ky="0" algn="bl" rotWithShape="0" blurRad="101600" dist="25400" dir="2700000">
              <a:srgbClr val="000000">
                <a:alpha val="10000"/>
              </a:srgbClr>
            </a:outerShdw>
          </a:effectLst>
        </p:spPr>
      </p:sp>
      <p:sp>
        <p:nvSpPr>
          <p:cNvPr id="32" name="Shape 30"/>
          <p:cNvSpPr/>
          <p:nvPr/>
        </p:nvSpPr>
        <p:spPr>
          <a:xfrm>
            <a:off x="4709160" y="2944368"/>
            <a:ext cx="4206240" cy="384048"/>
          </a:xfrm>
          <a:prstGeom prst="roundRect">
            <a:avLst>
              <a:gd name="adj" fmla="val 23810"/>
            </a:avLst>
          </a:prstGeom>
          <a:solidFill>
            <a:srgbClr val="1A3D5C">
              <a:alpha val="12000"/>
            </a:srgbClr>
          </a:solidFill>
          <a:ln w="12700">
            <a:solidFill>
              <a:srgbClr val="1A3D5C"/>
            </a:solidFill>
            <a:prstDash val="solid"/>
          </a:ln>
        </p:spPr>
      </p:sp>
      <p:sp>
        <p:nvSpPr>
          <p:cNvPr id="33" name="Shape 31"/>
          <p:cNvSpPr/>
          <p:nvPr/>
        </p:nvSpPr>
        <p:spPr>
          <a:xfrm>
            <a:off x="4800600" y="3008376"/>
            <a:ext cx="274320" cy="274320"/>
          </a:xfrm>
          <a:prstGeom prst="ellipse">
            <a:avLst/>
          </a:prstGeom>
          <a:solidFill>
            <a:srgbClr val="1A3D5C"/>
          </a:solidFill>
          <a:ln w="12700">
            <a:solidFill>
              <a:srgbClr val="1A3D5C"/>
            </a:solidFill>
            <a:prstDash val="solid"/>
          </a:ln>
        </p:spPr>
      </p:sp>
      <p:sp>
        <p:nvSpPr>
          <p:cNvPr id="34" name="Text 32"/>
          <p:cNvSpPr/>
          <p:nvPr/>
        </p:nvSpPr>
        <p:spPr>
          <a:xfrm>
            <a:off x="4800600" y="3008376"/>
            <a:ext cx="27432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04</a:t>
            </a:r>
            <a:endParaRPr lang="en-US" sz="800" dirty="0"/>
          </a:p>
        </p:txBody>
      </p:sp>
      <p:sp>
        <p:nvSpPr>
          <p:cNvPr id="35" name="Text 33"/>
          <p:cNvSpPr/>
          <p:nvPr/>
        </p:nvSpPr>
        <p:spPr>
          <a:xfrm>
            <a:off x="5148072" y="2971800"/>
            <a:ext cx="3657600" cy="347472"/>
          </a:xfrm>
          <a:prstGeom prst="rect">
            <a:avLst/>
          </a:prstGeom>
          <a:noFill/>
          <a:ln/>
        </p:spPr>
        <p:txBody>
          <a:bodyPr wrap="square" rtlCol="0" anchor="ctr"/>
          <a:lstStyle/>
          <a:p>
            <a:pPr indent="0" marL="0">
              <a:buNone/>
            </a:pPr>
            <a:r>
              <a:rPr lang="en-US" sz="1100" b="1" dirty="0">
                <a:solidFill>
                  <a:srgbClr val="1A3D5C"/>
                </a:solidFill>
                <a:latin typeface="Calibri" pitchFamily="34" charset="0"/>
                <a:ea typeface="Calibri" pitchFamily="34" charset="-122"/>
                <a:cs typeface="Calibri" pitchFamily="34" charset="-120"/>
              </a:rPr>
              <a:t>AI 출력에 한자 포함</a:t>
            </a:r>
            <a:endParaRPr lang="en-US" sz="1100" dirty="0"/>
          </a:p>
        </p:txBody>
      </p:sp>
      <p:sp>
        <p:nvSpPr>
          <p:cNvPr id="36" name="Text 34"/>
          <p:cNvSpPr/>
          <p:nvPr/>
        </p:nvSpPr>
        <p:spPr>
          <a:xfrm>
            <a:off x="4818888" y="3401568"/>
            <a:ext cx="502920" cy="256032"/>
          </a:xfrm>
          <a:prstGeom prst="rect">
            <a:avLst/>
          </a:prstGeom>
          <a:noFill/>
          <a:ln/>
        </p:spPr>
        <p:txBody>
          <a:bodyPr wrap="square" rtlCol="0" anchor="ctr"/>
          <a:lstStyle/>
          <a:p>
            <a:pPr indent="0" marL="0">
              <a:buNone/>
            </a:pPr>
            <a:r>
              <a:rPr lang="en-US" sz="1000" b="1" dirty="0">
                <a:solidFill>
                  <a:srgbClr val="E53E3E"/>
                </a:solidFill>
                <a:latin typeface="Calibri" pitchFamily="34" charset="0"/>
                <a:ea typeface="Calibri" pitchFamily="34" charset="-122"/>
                <a:cs typeface="Calibri" pitchFamily="34" charset="-120"/>
              </a:rPr>
              <a:t>원인:</a:t>
            </a:r>
            <a:endParaRPr lang="en-US" sz="1000" dirty="0"/>
          </a:p>
        </p:txBody>
      </p:sp>
      <p:sp>
        <p:nvSpPr>
          <p:cNvPr id="37" name="Text 35"/>
          <p:cNvSpPr/>
          <p:nvPr/>
        </p:nvSpPr>
        <p:spPr>
          <a:xfrm>
            <a:off x="5330952" y="3401568"/>
            <a:ext cx="3474720" cy="411480"/>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시스템 프롬프트에 언어 제약 없음</a:t>
            </a:r>
            <a:endParaRPr lang="en-US" sz="1000" dirty="0"/>
          </a:p>
        </p:txBody>
      </p:sp>
      <p:sp>
        <p:nvSpPr>
          <p:cNvPr id="38" name="Text 36"/>
          <p:cNvSpPr/>
          <p:nvPr/>
        </p:nvSpPr>
        <p:spPr>
          <a:xfrm>
            <a:off x="4818888" y="3858768"/>
            <a:ext cx="502920" cy="256032"/>
          </a:xfrm>
          <a:prstGeom prst="rect">
            <a:avLst/>
          </a:prstGeom>
          <a:noFill/>
          <a:ln/>
        </p:spPr>
        <p:txBody>
          <a:bodyPr wrap="square" rtlCol="0" anchor="ctr"/>
          <a:lstStyle/>
          <a:p>
            <a:pPr indent="0" marL="0">
              <a:buNone/>
            </a:pPr>
            <a:r>
              <a:rPr lang="en-US" sz="1000" b="1" dirty="0">
                <a:solidFill>
                  <a:srgbClr val="38A169"/>
                </a:solidFill>
                <a:latin typeface="Calibri" pitchFamily="34" charset="0"/>
                <a:ea typeface="Calibri" pitchFamily="34" charset="-122"/>
                <a:cs typeface="Calibri" pitchFamily="34" charset="-120"/>
              </a:rPr>
              <a:t>해결:</a:t>
            </a:r>
            <a:endParaRPr lang="en-US" sz="1000" dirty="0"/>
          </a:p>
        </p:txBody>
      </p:sp>
      <p:sp>
        <p:nvSpPr>
          <p:cNvPr id="39" name="Text 37"/>
          <p:cNvSpPr/>
          <p:nvPr/>
        </p:nvSpPr>
        <p:spPr>
          <a:xfrm>
            <a:off x="5330952" y="3858768"/>
            <a:ext cx="3474720" cy="749808"/>
          </a:xfrm>
          <a:prstGeom prst="rect">
            <a:avLst/>
          </a:prstGeom>
          <a:noFill/>
          <a:ln/>
        </p:spPr>
        <p:txBody>
          <a:bodyPr wrap="square" rtlCol="0" anchor="ctr"/>
          <a:lstStyle/>
          <a:p>
            <a:pPr indent="0" marL="0">
              <a:buNone/>
            </a:pPr>
            <a:r>
              <a:rPr lang="en-US" sz="1000" dirty="0">
                <a:solidFill>
                  <a:srgbClr val="1A2B3C"/>
                </a:solidFill>
                <a:latin typeface="Calibri" pitchFamily="34" charset="0"/>
                <a:ea typeface="Calibri" pitchFamily="34" charset="-122"/>
                <a:cs typeface="Calibri" pitchFamily="34" charset="-120"/>
              </a:rPr>
              <a:t>시스템 프롬프트에 '한국어만 사용, 한자 금지' 명시</a:t>
            </a:r>
            <a:endParaRPr lang="en-US" sz="1000" dirty="0"/>
          </a:p>
        </p:txBody>
      </p:sp>
      <p:sp>
        <p:nvSpPr>
          <p:cNvPr id="40" name="Shape 38"/>
          <p:cNvSpPr/>
          <p:nvPr/>
        </p:nvSpPr>
        <p:spPr>
          <a:xfrm>
            <a:off x="274320" y="4846320"/>
            <a:ext cx="8595360" cy="256032"/>
          </a:xfrm>
          <a:prstGeom prst="roundRect">
            <a:avLst>
              <a:gd name="adj" fmla="val 21429"/>
            </a:avLst>
          </a:prstGeom>
          <a:solidFill>
            <a:srgbClr val="E8F7F4"/>
          </a:solidFill>
          <a:ln w="12700">
            <a:solidFill>
              <a:srgbClr val="02C39A"/>
            </a:solidFill>
            <a:prstDash val="solid"/>
          </a:ln>
        </p:spPr>
      </p:sp>
      <p:sp>
        <p:nvSpPr>
          <p:cNvPr id="41" name="Text 39"/>
          <p:cNvSpPr/>
          <p:nvPr/>
        </p:nvSpPr>
        <p:spPr>
          <a:xfrm>
            <a:off x="411480" y="4846320"/>
            <a:ext cx="8321040" cy="256032"/>
          </a:xfrm>
          <a:prstGeom prst="rect">
            <a:avLst/>
          </a:prstGeom>
          <a:noFill/>
          <a:ln/>
        </p:spPr>
        <p:txBody>
          <a:bodyPr wrap="square" rtlCol="0" anchor="ctr"/>
          <a:lstStyle/>
          <a:p>
            <a:pPr indent="0" marL="0">
              <a:buNone/>
            </a:pPr>
            <a:r>
              <a:rPr lang="en-US" sz="950" i="1" dirty="0">
                <a:solidFill>
                  <a:srgbClr val="016A6A"/>
                </a:solidFill>
                <a:latin typeface="Calibri" pitchFamily="34" charset="0"/>
                <a:ea typeface="Calibri" pitchFamily="34" charset="-122"/>
                <a:cs typeface="Calibri" pitchFamily="34" charset="-120"/>
              </a:rPr>
              <a:t>디버깅 프롬프트: "이 에러 메시지와 관련 코드를 보여줄게. 원인과 해결 방법을 알려줘: [에러 붙여넣기]"</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8EE"/>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A3D5C"/>
          </a:solidFill>
          <a:ln w="12700">
            <a:solidFill>
              <a:srgbClr val="1A3D5C"/>
            </a:solidFill>
            <a:prstDash val="solid"/>
          </a:ln>
        </p:spPr>
      </p:sp>
      <p:sp>
        <p:nvSpPr>
          <p:cNvPr id="3" name="Text 1"/>
          <p:cNvSpPr/>
          <p:nvPr/>
        </p:nvSpPr>
        <p:spPr>
          <a:xfrm>
            <a:off x="365760" y="0"/>
            <a:ext cx="8412480" cy="91440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  실습 04 — 공공 API 연동 경험하기</a:t>
            </a:r>
            <a:endParaRPr lang="en-US" sz="2000" dirty="0"/>
          </a:p>
        </p:txBody>
      </p:sp>
      <p:sp>
        <p:nvSpPr>
          <p:cNvPr id="4" name="Shape 2"/>
          <p:cNvSpPr/>
          <p:nvPr/>
        </p:nvSpPr>
        <p:spPr>
          <a:xfrm>
            <a:off x="365760" y="1024128"/>
            <a:ext cx="8412480" cy="868680"/>
          </a:xfrm>
          <a:prstGeom prst="roundRect">
            <a:avLst>
              <a:gd name="adj" fmla="val 10526"/>
            </a:avLst>
          </a:prstGeom>
          <a:solidFill>
            <a:srgbClr val="FFFFFF"/>
          </a:solidFill>
          <a:ln w="12700">
            <a:solidFill>
              <a:srgbClr val="1A3D5C"/>
            </a:solidFill>
            <a:prstDash val="solid"/>
          </a:ln>
          <a:effectLst>
            <a:outerShdw sx="100000" sy="100000" kx="0" ky="0" algn="bl" rotWithShape="0" blurRad="101600" dist="25400" dir="2700000">
              <a:srgbClr val="000000">
                <a:alpha val="10000"/>
              </a:srgbClr>
            </a:outerShdw>
          </a:effectLst>
        </p:spPr>
      </p:sp>
      <p:sp>
        <p:nvSpPr>
          <p:cNvPr id="5" name="Shape 3"/>
          <p:cNvSpPr/>
          <p:nvPr/>
        </p:nvSpPr>
        <p:spPr>
          <a:xfrm>
            <a:off x="365760" y="1024128"/>
            <a:ext cx="1143000" cy="868680"/>
          </a:xfrm>
          <a:prstGeom prst="roundRect">
            <a:avLst>
              <a:gd name="adj" fmla="val 10526"/>
            </a:avLst>
          </a:prstGeom>
          <a:solidFill>
            <a:srgbClr val="1A3D5C"/>
          </a:solidFill>
          <a:ln w="12700">
            <a:solidFill>
              <a:srgbClr val="1A3D5C"/>
            </a:solidFill>
            <a:prstDash val="solid"/>
          </a:ln>
        </p:spPr>
      </p:sp>
      <p:sp>
        <p:nvSpPr>
          <p:cNvPr id="6" name="Text 4"/>
          <p:cNvSpPr/>
          <p:nvPr/>
        </p:nvSpPr>
        <p:spPr>
          <a:xfrm>
            <a:off x="365760" y="1024128"/>
            <a:ext cx="1143000" cy="8686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 1</a:t>
            </a:r>
            <a:endParaRPr lang="en-US" sz="1100" dirty="0"/>
          </a:p>
        </p:txBody>
      </p:sp>
      <p:sp>
        <p:nvSpPr>
          <p:cNvPr id="7" name="Text 5"/>
          <p:cNvSpPr/>
          <p:nvPr/>
        </p:nvSpPr>
        <p:spPr>
          <a:xfrm>
            <a:off x="1600200" y="1051560"/>
            <a:ext cx="5943600" cy="292608"/>
          </a:xfrm>
          <a:prstGeom prst="rect">
            <a:avLst/>
          </a:prstGeom>
          <a:noFill/>
          <a:ln/>
        </p:spPr>
        <p:txBody>
          <a:bodyPr wrap="square" rtlCol="0" anchor="ctr"/>
          <a:lstStyle/>
          <a:p>
            <a:pPr indent="0" marL="0">
              <a:buNone/>
            </a:pPr>
            <a:r>
              <a:rPr lang="en-US" sz="1200" b="1" dirty="0">
                <a:solidFill>
                  <a:srgbClr val="1A2B3C"/>
                </a:solidFill>
                <a:latin typeface="Calibri" pitchFamily="34" charset="0"/>
                <a:ea typeface="Calibri" pitchFamily="34" charset="-122"/>
                <a:cs typeface="Calibri" pitchFamily="34" charset="-120"/>
              </a:rPr>
              <a:t>API 신청</a:t>
            </a:r>
            <a:endParaRPr lang="en-US" sz="1200" dirty="0"/>
          </a:p>
        </p:txBody>
      </p:sp>
      <p:sp>
        <p:nvSpPr>
          <p:cNvPr id="8" name="Text 6"/>
          <p:cNvSpPr/>
          <p:nvPr/>
        </p:nvSpPr>
        <p:spPr>
          <a:xfrm>
            <a:off x="1600200" y="1344168"/>
            <a:ext cx="5943600" cy="475488"/>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공공데이터포털(data.go.kr)에서 K-water 수질 API 신청 → 인증키 발급 (즉시 또는 1일 소요)</a:t>
            </a:r>
            <a:endParaRPr lang="en-US" sz="1000" dirty="0"/>
          </a:p>
        </p:txBody>
      </p:sp>
      <p:sp>
        <p:nvSpPr>
          <p:cNvPr id="9" name="Shape 7"/>
          <p:cNvSpPr/>
          <p:nvPr/>
        </p:nvSpPr>
        <p:spPr>
          <a:xfrm>
            <a:off x="7635240" y="1115568"/>
            <a:ext cx="1005840" cy="292608"/>
          </a:xfrm>
          <a:prstGeom prst="roundRect">
            <a:avLst>
              <a:gd name="adj" fmla="val 21875"/>
            </a:avLst>
          </a:prstGeom>
          <a:solidFill>
            <a:srgbClr val="02C39A">
              <a:alpha val="20000"/>
            </a:srgbClr>
          </a:solidFill>
          <a:ln w="12700">
            <a:solidFill>
              <a:srgbClr val="02C39A"/>
            </a:solidFill>
            <a:prstDash val="solid"/>
          </a:ln>
        </p:spPr>
      </p:sp>
      <p:sp>
        <p:nvSpPr>
          <p:cNvPr id="10" name="Text 8"/>
          <p:cNvSpPr/>
          <p:nvPr/>
        </p:nvSpPr>
        <p:spPr>
          <a:xfrm>
            <a:off x="7635240" y="1115568"/>
            <a:ext cx="1005840" cy="292608"/>
          </a:xfrm>
          <a:prstGeom prst="rect">
            <a:avLst/>
          </a:prstGeom>
          <a:noFill/>
          <a:ln/>
        </p:spPr>
        <p:txBody>
          <a:bodyPr wrap="square" rtlCol="0" anchor="ctr"/>
          <a:lstStyle/>
          <a:p>
            <a:pPr algn="ctr" indent="0" marL="0">
              <a:buNone/>
            </a:pPr>
            <a:r>
              <a:rPr lang="en-US" sz="1000" b="1" dirty="0">
                <a:solidFill>
                  <a:srgbClr val="1A3D5C"/>
                </a:solidFill>
                <a:latin typeface="Calibri" pitchFamily="34" charset="0"/>
                <a:ea typeface="Calibri" pitchFamily="34" charset="-122"/>
                <a:cs typeface="Calibri" pitchFamily="34" charset="-120"/>
              </a:rPr>
              <a:t>5분</a:t>
            </a:r>
            <a:endParaRPr lang="en-US" sz="1000" dirty="0"/>
          </a:p>
        </p:txBody>
      </p:sp>
      <p:sp>
        <p:nvSpPr>
          <p:cNvPr id="11" name="Shape 9"/>
          <p:cNvSpPr/>
          <p:nvPr/>
        </p:nvSpPr>
        <p:spPr>
          <a:xfrm>
            <a:off x="365760" y="2002536"/>
            <a:ext cx="8412480" cy="868680"/>
          </a:xfrm>
          <a:prstGeom prst="roundRect">
            <a:avLst>
              <a:gd name="adj" fmla="val 10526"/>
            </a:avLst>
          </a:prstGeom>
          <a:solidFill>
            <a:srgbClr val="FFFFFF"/>
          </a:solidFill>
          <a:ln w="12700">
            <a:solidFill>
              <a:srgbClr val="1A3D5C"/>
            </a:solidFill>
            <a:prstDash val="solid"/>
          </a:ln>
          <a:effectLst>
            <a:outerShdw sx="100000" sy="100000" kx="0" ky="0" algn="bl" rotWithShape="0" blurRad="101600" dist="25400" dir="2700000">
              <a:srgbClr val="000000">
                <a:alpha val="10000"/>
              </a:srgbClr>
            </a:outerShdw>
          </a:effectLst>
        </p:spPr>
      </p:sp>
      <p:sp>
        <p:nvSpPr>
          <p:cNvPr id="12" name="Shape 10"/>
          <p:cNvSpPr/>
          <p:nvPr/>
        </p:nvSpPr>
        <p:spPr>
          <a:xfrm>
            <a:off x="365760" y="2002536"/>
            <a:ext cx="1143000" cy="868680"/>
          </a:xfrm>
          <a:prstGeom prst="roundRect">
            <a:avLst>
              <a:gd name="adj" fmla="val 10526"/>
            </a:avLst>
          </a:prstGeom>
          <a:solidFill>
            <a:srgbClr val="1A3D5C"/>
          </a:solidFill>
          <a:ln w="12700">
            <a:solidFill>
              <a:srgbClr val="1A3D5C"/>
            </a:solidFill>
            <a:prstDash val="solid"/>
          </a:ln>
        </p:spPr>
      </p:sp>
      <p:sp>
        <p:nvSpPr>
          <p:cNvPr id="13" name="Text 11"/>
          <p:cNvSpPr/>
          <p:nvPr/>
        </p:nvSpPr>
        <p:spPr>
          <a:xfrm>
            <a:off x="365760" y="2002536"/>
            <a:ext cx="1143000" cy="8686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 2</a:t>
            </a:r>
            <a:endParaRPr lang="en-US" sz="1100" dirty="0"/>
          </a:p>
        </p:txBody>
      </p:sp>
      <p:sp>
        <p:nvSpPr>
          <p:cNvPr id="14" name="Text 12"/>
          <p:cNvSpPr/>
          <p:nvPr/>
        </p:nvSpPr>
        <p:spPr>
          <a:xfrm>
            <a:off x="1600200" y="2029968"/>
            <a:ext cx="5943600" cy="292608"/>
          </a:xfrm>
          <a:prstGeom prst="rect">
            <a:avLst/>
          </a:prstGeom>
          <a:noFill/>
          <a:ln/>
        </p:spPr>
        <p:txBody>
          <a:bodyPr wrap="square" rtlCol="0" anchor="ctr"/>
          <a:lstStyle/>
          <a:p>
            <a:pPr indent="0" marL="0">
              <a:buNone/>
            </a:pPr>
            <a:r>
              <a:rPr lang="en-US" sz="1200" b="1" dirty="0">
                <a:solidFill>
                  <a:srgbClr val="1A2B3C"/>
                </a:solidFill>
                <a:latin typeface="Calibri" pitchFamily="34" charset="0"/>
                <a:ea typeface="Calibri" pitchFamily="34" charset="-122"/>
                <a:cs typeface="Calibri" pitchFamily="34" charset="-120"/>
              </a:rPr>
              <a:t>Postman 호출</a:t>
            </a:r>
            <a:endParaRPr lang="en-US" sz="1200" dirty="0"/>
          </a:p>
        </p:txBody>
      </p:sp>
      <p:sp>
        <p:nvSpPr>
          <p:cNvPr id="15" name="Text 13"/>
          <p:cNvSpPr/>
          <p:nvPr/>
        </p:nvSpPr>
        <p:spPr>
          <a:xfrm>
            <a:off x="1600200" y="2322576"/>
            <a:ext cx="5943600" cy="475488"/>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발급받은 키로 실제 API 호출 → JSON 응답 확인 및 복사</a:t>
            </a:r>
            <a:endParaRPr lang="en-US" sz="1000" dirty="0"/>
          </a:p>
        </p:txBody>
      </p:sp>
      <p:sp>
        <p:nvSpPr>
          <p:cNvPr id="16" name="Shape 14"/>
          <p:cNvSpPr/>
          <p:nvPr/>
        </p:nvSpPr>
        <p:spPr>
          <a:xfrm>
            <a:off x="7635240" y="2093976"/>
            <a:ext cx="1005840" cy="292608"/>
          </a:xfrm>
          <a:prstGeom prst="roundRect">
            <a:avLst>
              <a:gd name="adj" fmla="val 21875"/>
            </a:avLst>
          </a:prstGeom>
          <a:solidFill>
            <a:srgbClr val="02C39A">
              <a:alpha val="20000"/>
            </a:srgbClr>
          </a:solidFill>
          <a:ln w="12700">
            <a:solidFill>
              <a:srgbClr val="02C39A"/>
            </a:solidFill>
            <a:prstDash val="solid"/>
          </a:ln>
        </p:spPr>
      </p:sp>
      <p:sp>
        <p:nvSpPr>
          <p:cNvPr id="17" name="Text 15"/>
          <p:cNvSpPr/>
          <p:nvPr/>
        </p:nvSpPr>
        <p:spPr>
          <a:xfrm>
            <a:off x="7635240" y="2093976"/>
            <a:ext cx="1005840" cy="292608"/>
          </a:xfrm>
          <a:prstGeom prst="rect">
            <a:avLst/>
          </a:prstGeom>
          <a:noFill/>
          <a:ln/>
        </p:spPr>
        <p:txBody>
          <a:bodyPr wrap="square" rtlCol="0" anchor="ctr"/>
          <a:lstStyle/>
          <a:p>
            <a:pPr algn="ctr" indent="0" marL="0">
              <a:buNone/>
            </a:pPr>
            <a:r>
              <a:rPr lang="en-US" sz="1000" b="1" dirty="0">
                <a:solidFill>
                  <a:srgbClr val="1A3D5C"/>
                </a:solidFill>
                <a:latin typeface="Calibri" pitchFamily="34" charset="0"/>
                <a:ea typeface="Calibri" pitchFamily="34" charset="-122"/>
                <a:cs typeface="Calibri" pitchFamily="34" charset="-120"/>
              </a:rPr>
              <a:t>10분</a:t>
            </a:r>
            <a:endParaRPr lang="en-US" sz="1000" dirty="0"/>
          </a:p>
        </p:txBody>
      </p:sp>
      <p:sp>
        <p:nvSpPr>
          <p:cNvPr id="18" name="Shape 16"/>
          <p:cNvSpPr/>
          <p:nvPr/>
        </p:nvSpPr>
        <p:spPr>
          <a:xfrm>
            <a:off x="365760" y="2980944"/>
            <a:ext cx="8412480" cy="868680"/>
          </a:xfrm>
          <a:prstGeom prst="roundRect">
            <a:avLst>
              <a:gd name="adj" fmla="val 10526"/>
            </a:avLst>
          </a:prstGeom>
          <a:solidFill>
            <a:srgbClr val="FFFFFF"/>
          </a:solidFill>
          <a:ln w="12700">
            <a:solidFill>
              <a:srgbClr val="1A3D5C"/>
            </a:solidFill>
            <a:prstDash val="solid"/>
          </a:ln>
          <a:effectLst>
            <a:outerShdw sx="100000" sy="100000" kx="0" ky="0" algn="bl" rotWithShape="0" blurRad="101600" dist="25400" dir="2700000">
              <a:srgbClr val="000000">
                <a:alpha val="10000"/>
              </a:srgbClr>
            </a:outerShdw>
          </a:effectLst>
        </p:spPr>
      </p:sp>
      <p:sp>
        <p:nvSpPr>
          <p:cNvPr id="19" name="Shape 17"/>
          <p:cNvSpPr/>
          <p:nvPr/>
        </p:nvSpPr>
        <p:spPr>
          <a:xfrm>
            <a:off x="365760" y="2980944"/>
            <a:ext cx="1143000" cy="868680"/>
          </a:xfrm>
          <a:prstGeom prst="roundRect">
            <a:avLst>
              <a:gd name="adj" fmla="val 10526"/>
            </a:avLst>
          </a:prstGeom>
          <a:solidFill>
            <a:srgbClr val="1A3D5C"/>
          </a:solidFill>
          <a:ln w="12700">
            <a:solidFill>
              <a:srgbClr val="1A3D5C"/>
            </a:solidFill>
            <a:prstDash val="solid"/>
          </a:ln>
        </p:spPr>
      </p:sp>
      <p:sp>
        <p:nvSpPr>
          <p:cNvPr id="20" name="Text 18"/>
          <p:cNvSpPr/>
          <p:nvPr/>
        </p:nvSpPr>
        <p:spPr>
          <a:xfrm>
            <a:off x="365760" y="2980944"/>
            <a:ext cx="1143000" cy="8686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 3</a:t>
            </a:r>
            <a:endParaRPr lang="en-US" sz="1100" dirty="0"/>
          </a:p>
        </p:txBody>
      </p:sp>
      <p:sp>
        <p:nvSpPr>
          <p:cNvPr id="21" name="Text 19"/>
          <p:cNvSpPr/>
          <p:nvPr/>
        </p:nvSpPr>
        <p:spPr>
          <a:xfrm>
            <a:off x="1600200" y="3008376"/>
            <a:ext cx="5943600" cy="292608"/>
          </a:xfrm>
          <a:prstGeom prst="rect">
            <a:avLst/>
          </a:prstGeom>
          <a:noFill/>
          <a:ln/>
        </p:spPr>
        <p:txBody>
          <a:bodyPr wrap="square" rtlCol="0" anchor="ctr"/>
          <a:lstStyle/>
          <a:p>
            <a:pPr indent="0" marL="0">
              <a:buNone/>
            </a:pPr>
            <a:r>
              <a:rPr lang="en-US" sz="1200" b="1" dirty="0">
                <a:solidFill>
                  <a:srgbClr val="1A2B3C"/>
                </a:solidFill>
                <a:latin typeface="Calibri" pitchFamily="34" charset="0"/>
                <a:ea typeface="Calibri" pitchFamily="34" charset="-122"/>
                <a:cs typeface="Calibri" pitchFamily="34" charset="-120"/>
              </a:rPr>
              <a:t>AI에게 요청</a:t>
            </a:r>
            <a:endParaRPr lang="en-US" sz="1200" dirty="0"/>
          </a:p>
        </p:txBody>
      </p:sp>
      <p:sp>
        <p:nvSpPr>
          <p:cNvPr id="22" name="Text 20"/>
          <p:cNvSpPr/>
          <p:nvPr/>
        </p:nvSpPr>
        <p:spPr>
          <a:xfrm>
            <a:off x="1600200" y="3300984"/>
            <a:ext cx="5943600" cy="475488"/>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"응답 JSON을 Java 모델 클래스와 파싱 코드로 만들어줘. List와 단건 응답 모두 처리해줘"</a:t>
            </a:r>
            <a:endParaRPr lang="en-US" sz="1000" dirty="0"/>
          </a:p>
        </p:txBody>
      </p:sp>
      <p:sp>
        <p:nvSpPr>
          <p:cNvPr id="23" name="Shape 21"/>
          <p:cNvSpPr/>
          <p:nvPr/>
        </p:nvSpPr>
        <p:spPr>
          <a:xfrm>
            <a:off x="7635240" y="3072384"/>
            <a:ext cx="1005840" cy="292608"/>
          </a:xfrm>
          <a:prstGeom prst="roundRect">
            <a:avLst>
              <a:gd name="adj" fmla="val 21875"/>
            </a:avLst>
          </a:prstGeom>
          <a:solidFill>
            <a:srgbClr val="02C39A">
              <a:alpha val="20000"/>
            </a:srgbClr>
          </a:solidFill>
          <a:ln w="12700">
            <a:solidFill>
              <a:srgbClr val="02C39A"/>
            </a:solidFill>
            <a:prstDash val="solid"/>
          </a:ln>
        </p:spPr>
      </p:sp>
      <p:sp>
        <p:nvSpPr>
          <p:cNvPr id="24" name="Text 22"/>
          <p:cNvSpPr/>
          <p:nvPr/>
        </p:nvSpPr>
        <p:spPr>
          <a:xfrm>
            <a:off x="7635240" y="3072384"/>
            <a:ext cx="1005840" cy="292608"/>
          </a:xfrm>
          <a:prstGeom prst="rect">
            <a:avLst/>
          </a:prstGeom>
          <a:noFill/>
          <a:ln/>
        </p:spPr>
        <p:txBody>
          <a:bodyPr wrap="square" rtlCol="0" anchor="ctr"/>
          <a:lstStyle/>
          <a:p>
            <a:pPr algn="ctr" indent="0" marL="0">
              <a:buNone/>
            </a:pPr>
            <a:r>
              <a:rPr lang="en-US" sz="1000" b="1" dirty="0">
                <a:solidFill>
                  <a:srgbClr val="1A3D5C"/>
                </a:solidFill>
                <a:latin typeface="Calibri" pitchFamily="34" charset="0"/>
                <a:ea typeface="Calibri" pitchFamily="34" charset="-122"/>
                <a:cs typeface="Calibri" pitchFamily="34" charset="-120"/>
              </a:rPr>
              <a:t>10분</a:t>
            </a:r>
            <a:endParaRPr lang="en-US" sz="1000" dirty="0"/>
          </a:p>
        </p:txBody>
      </p:sp>
      <p:sp>
        <p:nvSpPr>
          <p:cNvPr id="25" name="Shape 23"/>
          <p:cNvSpPr/>
          <p:nvPr/>
        </p:nvSpPr>
        <p:spPr>
          <a:xfrm>
            <a:off x="365760" y="3959352"/>
            <a:ext cx="8412480" cy="868680"/>
          </a:xfrm>
          <a:prstGeom prst="roundRect">
            <a:avLst>
              <a:gd name="adj" fmla="val 10526"/>
            </a:avLst>
          </a:prstGeom>
          <a:solidFill>
            <a:srgbClr val="FFFFFF"/>
          </a:solidFill>
          <a:ln w="12700">
            <a:solidFill>
              <a:srgbClr val="1A3D5C"/>
            </a:solidFill>
            <a:prstDash val="solid"/>
          </a:ln>
          <a:effectLst>
            <a:outerShdw sx="100000" sy="100000" kx="0" ky="0" algn="bl" rotWithShape="0" blurRad="101600" dist="25400" dir="2700000">
              <a:srgbClr val="000000">
                <a:alpha val="10000"/>
              </a:srgbClr>
            </a:outerShdw>
          </a:effectLst>
        </p:spPr>
      </p:sp>
      <p:sp>
        <p:nvSpPr>
          <p:cNvPr id="26" name="Shape 24"/>
          <p:cNvSpPr/>
          <p:nvPr/>
        </p:nvSpPr>
        <p:spPr>
          <a:xfrm>
            <a:off x="365760" y="3959352"/>
            <a:ext cx="1143000" cy="868680"/>
          </a:xfrm>
          <a:prstGeom prst="roundRect">
            <a:avLst>
              <a:gd name="adj" fmla="val 10526"/>
            </a:avLst>
          </a:prstGeom>
          <a:solidFill>
            <a:srgbClr val="1A3D5C"/>
          </a:solidFill>
          <a:ln w="12700">
            <a:solidFill>
              <a:srgbClr val="1A3D5C"/>
            </a:solidFill>
            <a:prstDash val="solid"/>
          </a:ln>
        </p:spPr>
      </p:sp>
      <p:sp>
        <p:nvSpPr>
          <p:cNvPr id="27" name="Text 25"/>
          <p:cNvSpPr/>
          <p:nvPr/>
        </p:nvSpPr>
        <p:spPr>
          <a:xfrm>
            <a:off x="365760" y="3959352"/>
            <a:ext cx="1143000" cy="8686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 4</a:t>
            </a:r>
            <a:endParaRPr lang="en-US" sz="1100" dirty="0"/>
          </a:p>
        </p:txBody>
      </p:sp>
      <p:sp>
        <p:nvSpPr>
          <p:cNvPr id="28" name="Text 26"/>
          <p:cNvSpPr/>
          <p:nvPr/>
        </p:nvSpPr>
        <p:spPr>
          <a:xfrm>
            <a:off x="1600200" y="3986784"/>
            <a:ext cx="5943600" cy="292608"/>
          </a:xfrm>
          <a:prstGeom prst="rect">
            <a:avLst/>
          </a:prstGeom>
          <a:noFill/>
          <a:ln/>
        </p:spPr>
        <p:txBody>
          <a:bodyPr wrap="square" rtlCol="0" anchor="ctr"/>
          <a:lstStyle/>
          <a:p>
            <a:pPr indent="0" marL="0">
              <a:buNone/>
            </a:pPr>
            <a:r>
              <a:rPr lang="en-US" sz="1200" b="1" dirty="0">
                <a:solidFill>
                  <a:srgbClr val="1A2B3C"/>
                </a:solidFill>
                <a:latin typeface="Calibri" pitchFamily="34" charset="0"/>
                <a:ea typeface="Calibri" pitchFamily="34" charset="-122"/>
                <a:cs typeface="Calibri" pitchFamily="34" charset="-120"/>
              </a:rPr>
              <a:t>코드 검토 + 개선</a:t>
            </a:r>
            <a:endParaRPr lang="en-US" sz="1200" dirty="0"/>
          </a:p>
        </p:txBody>
      </p:sp>
      <p:sp>
        <p:nvSpPr>
          <p:cNvPr id="29" name="Text 27"/>
          <p:cNvSpPr/>
          <p:nvPr/>
        </p:nvSpPr>
        <p:spPr>
          <a:xfrm>
            <a:off x="1600200" y="4279392"/>
            <a:ext cx="5943600" cy="475488"/>
          </a:xfrm>
          <a:prstGeom prst="rect">
            <a:avLst/>
          </a:prstGeom>
          <a:noFill/>
          <a:ln/>
        </p:spPr>
        <p:txBody>
          <a:bodyPr wrap="square" rtlCol="0" anchor="ctr"/>
          <a:lstStyle/>
          <a:p>
            <a:pPr indent="0" marL="0">
              <a:buNone/>
            </a:pPr>
            <a:r>
              <a:rPr lang="en-US" sz="1000" dirty="0">
                <a:solidFill>
                  <a:srgbClr val="4A6A80"/>
                </a:solidFill>
                <a:latin typeface="Calibri" pitchFamily="34" charset="0"/>
                <a:ea typeface="Calibri" pitchFamily="34" charset="-122"/>
                <a:cs typeface="Calibri" pitchFamily="34" charset="-120"/>
              </a:rPr>
              <a:t>생성된 코드 검토 → 빠진 null 체크, 예외 처리 추가 요청 → 팀원과 코드 공유</a:t>
            </a:r>
            <a:endParaRPr lang="en-US" sz="1000" dirty="0"/>
          </a:p>
        </p:txBody>
      </p:sp>
      <p:sp>
        <p:nvSpPr>
          <p:cNvPr id="30" name="Shape 28"/>
          <p:cNvSpPr/>
          <p:nvPr/>
        </p:nvSpPr>
        <p:spPr>
          <a:xfrm>
            <a:off x="7635240" y="4050792"/>
            <a:ext cx="1005840" cy="292608"/>
          </a:xfrm>
          <a:prstGeom prst="roundRect">
            <a:avLst>
              <a:gd name="adj" fmla="val 21875"/>
            </a:avLst>
          </a:prstGeom>
          <a:solidFill>
            <a:srgbClr val="02C39A">
              <a:alpha val="20000"/>
            </a:srgbClr>
          </a:solidFill>
          <a:ln w="12700">
            <a:solidFill>
              <a:srgbClr val="02C39A"/>
            </a:solidFill>
            <a:prstDash val="solid"/>
          </a:ln>
        </p:spPr>
      </p:sp>
      <p:sp>
        <p:nvSpPr>
          <p:cNvPr id="31" name="Text 29"/>
          <p:cNvSpPr/>
          <p:nvPr/>
        </p:nvSpPr>
        <p:spPr>
          <a:xfrm>
            <a:off x="7635240" y="4050792"/>
            <a:ext cx="1005840" cy="292608"/>
          </a:xfrm>
          <a:prstGeom prst="rect">
            <a:avLst/>
          </a:prstGeom>
          <a:noFill/>
          <a:ln/>
        </p:spPr>
        <p:txBody>
          <a:bodyPr wrap="square" rtlCol="0" anchor="ctr"/>
          <a:lstStyle/>
          <a:p>
            <a:pPr algn="ctr" indent="0" marL="0">
              <a:buNone/>
            </a:pPr>
            <a:r>
              <a:rPr lang="en-US" sz="1000" b="1" dirty="0">
                <a:solidFill>
                  <a:srgbClr val="1A3D5C"/>
                </a:solidFill>
                <a:latin typeface="Calibri" pitchFamily="34" charset="0"/>
                <a:ea typeface="Calibri" pitchFamily="34" charset="-122"/>
                <a:cs typeface="Calibri" pitchFamily="34" charset="-120"/>
              </a:rPr>
              <a:t>5분</a:t>
            </a:r>
            <a:endParaRPr lang="en-US" sz="1000" dirty="0"/>
          </a:p>
        </p:txBody>
      </p:sp>
      <p:sp>
        <p:nvSpPr>
          <p:cNvPr id="32" name="Shape 30"/>
          <p:cNvSpPr/>
          <p:nvPr/>
        </p:nvSpPr>
        <p:spPr>
          <a:xfrm>
            <a:off x="365760" y="4965192"/>
            <a:ext cx="8412480" cy="109728"/>
          </a:xfrm>
          <a:prstGeom prst="roundRect">
            <a:avLst>
              <a:gd name="adj" fmla="val 33333"/>
            </a:avLst>
          </a:prstGeom>
          <a:solidFill>
            <a:srgbClr val="02C39A">
              <a:alpha val="20000"/>
            </a:srgbClr>
          </a:solidFill>
          <a:ln w="12700">
            <a:solidFill>
              <a:srgbClr val="02C39A"/>
            </a:solidFill>
            <a:prstDash val="solid"/>
          </a:ln>
        </p:spPr>
      </p:sp>
      <p:sp>
        <p:nvSpPr>
          <p:cNvPr id="33" name="Text 31"/>
          <p:cNvSpPr/>
          <p:nvPr/>
        </p:nvSpPr>
        <p:spPr>
          <a:xfrm>
            <a:off x="502920" y="4965192"/>
            <a:ext cx="8229600" cy="109728"/>
          </a:xfrm>
          <a:prstGeom prst="rect">
            <a:avLst/>
          </a:prstGeom>
          <a:noFill/>
          <a:ln/>
        </p:spPr>
        <p:txBody>
          <a:bodyPr wrap="square" rtlCol="0" anchor="ctr"/>
          <a:lstStyle/>
          <a:p>
            <a:pPr indent="0" marL="0">
              <a:buNone/>
            </a:pPr>
            <a:r>
              <a:rPr lang="en-US" sz="900" b="1" dirty="0">
                <a:solidFill>
                  <a:srgbClr val="1A3D5C"/>
                </a:solidFill>
                <a:latin typeface="Calibri" pitchFamily="34" charset="0"/>
                <a:ea typeface="Calibri" pitchFamily="34" charset="-122"/>
                <a:cs typeface="Calibri" pitchFamily="34" charset="-120"/>
              </a:rPr>
              <a:t>⏱  총 30분 실습  |  Ch.3 체크리스트: API 연동 ✓  캐시 구현 ✓  프론트엔드 ✓</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구현 단계</dc:title>
  <dc:subject>PptxGenJS Presentation</dc:subject>
  <dc:creator>PptxGenJS</dc:creator>
  <cp:lastModifiedBy>PptxGenJS</cp:lastModifiedBy>
  <cp:revision>1</cp:revision>
  <dcterms:created xsi:type="dcterms:W3CDTF">2026-06-24T09:12:27Z</dcterms:created>
  <dcterms:modified xsi:type="dcterms:W3CDTF">2026-06-24T09:12:27Z</dcterms:modified>
</cp:coreProperties>
</file>