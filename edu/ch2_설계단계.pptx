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챕터 2를 시작하겠습니다. 이번 챕터에서는 실제 개발 전에 반드시 거쳐야 하는 설계 단계를 다룹니다. 유스케이스 정의부터 시스템 아키텍처, 화면 설계까지 AI와 함께 체계적으로 만들어 나가는 방법을 학습합니다. 설계가 탄탄해야 구현이 빠르고 수정이 쉽습니다. 팀원들과 함께 적극적으로 참여해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 챕터에서 달성할 학습 목표 5가지를 확인합니다. 각 목표는 실제 수자이 프로젝트의 설계 과정에서 나온 것들입니다. 특히 유스케이스 정의와 레이어 구조 설계는 팀 협업의 기반이 됩니다. 90분 안에 개념 학습과 실습을 모두 완료합니다. 질문은 실습 시간에 자유롭게 해주세요.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설계 단계에서 만들어야 할 핵심 문서 3가지를 소개합니다. 수자이 프로젝트에서도 이 3가지 문서를 먼저 작성한 후 구현을 시작했습니다. 각 문서는 AI 프롬프트 한 줄로 초안을 생성할 수 있습니다. 설계 없이 바로 코딩에 들어가면 방향이 틀렸을 때 전체를 다시 작성해야 하는 위험이 있습니다. 팀 전체가 동일한 문서를 공유하는 것이 협업의 핵심입니다.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유스케이스는 사용자 관점에서 시스템의 기능을 시나리오로 표현한 문서입니다. Actor, Goal, Basic Flow, Exception Flow 4가지 요소로 구성됩니다. UC-001은 수자이의 핵심 기능인 수질 현황 조회를 예시로 보여줍니다. AI에게 서비스 설명을 주면 UC 목록을 자동으로 생성해줍니다. 예외 흐름이 나중에 에러 처리 코드의 기반이 된다는 점을 꼭 기억해주세요.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수자이 프로젝트에서 실제로 정의한 유스케이스 8개입니다. UC-001~004는 핵심 기능(High), UC-005~006은 보조 기능(Medium)입니다. AI가 예외 흐름을 자동으로 포함시켜 주었고, 이것이 나중에 에러 처리 코드의 기반이 되었습니다. 팀에서 UC를 작성할 때 Priority를 명시해두면 MVP 범위 결정에 도움이 됩니다. AI에게 추가 예외 상황을 물어보면 놓친 케이스를 발견할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아키텍처 선택은 팀 규모와 기술 숙련도에 따라 달라집니다. 수자이는 4~5인 소규모 팀이기 때문에 MVC 계층형을 선택했습니다. 모놀리스는 너무 단순하고, 마이크로서비스는 운영 부담이 크기 때문입니다. AI에게 팀 상황을 설명하면 적합한 아키텍처를 추천해줍니다. 선택의 근거를 문서화해두는 것이 중요합니다.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수자이의 레이어 구조는 Frontend, Controller, Service, ApiClient 4계층으로 구성됩니다. 각 계층은 명확한 책임을 가지며, Service와 ApiClient는 1:1로 대응됩니다. 이 네이밍 규칙은 AI가 제안한 것으로, 코드를 보면 어떤 클래스가 무엇을 담당하는지 바로 알 수 있습니다. 레이어 구조가 정해지면 팀원 간 역할 분담도 자연스럽게 결정됩니다. 같은 레이어를 두 명이 작업하면 충돌이 발생하므로 계층 단위로 분담하는 것을 권장합니다.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수자이의 기술 스택 선택은 모두 팀의 상황과 MVP 완성이라는 목표에 맞게 결정되었습니다. Vanilla JS를 선택한 이유는 React 학습 비용을 줄이고 배포를 단순화하기 위해서입니다. Groq를 선택한 이유는 무료 티어가 있고 OpenAI와 동일한 API 형식이라 SDK 없이 바로 사용할 수 있기 때문입니다. ConcurrentHashMap 캐시는 DB 없이 구현 가능하며 나중에 Redis로 쉽게 교체할 수 있습니다. 기술 선택의 이유를 문서화해두면 나중에 팀원이 합류했을 때 온보딩이 빠릅니다.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화면 설계서는 UI 구성 요소와 색상 시스템을 사전에 합의하는 문서입니다. ASCII 와이어프레임이라도 팀 합의의 기준이 됩니다. 수자이는 수질 경보 색상을 3단계로 정의하고 일관되게 적용했습니다. AI에게 ASCII 와이어프레임을 요청하면 빠르게 초안을 생성할 수 있습니다. 화면 설계 없이 구현하면 팀원마다 다른 UI를 만들어 나중에 통합이 어려워집니다.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캐시 전략은 MVP에서 특히 중요합니다. API 호출 비용과 속도 문제를 동시에 해결할 수 있기 때문입니다. 수자이에서는 ConcurrentHashMap으로 인메모리 캐시를 구현했는데, 외부 의존성 없이 간단하게 구현 가능합니다. 캐시 키 설계가 핵심입니다. 날짜 범위를 키에 포함하지 않으면 잘못된 데이터가 반환될 수 있습니다. Groq AI 분석 결과는 5분 캐시로 토큰 사용량을 절약했습니다.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직접 아키텍처를 설계해볼 시간입니다. Task A는 AI에게 팀 상황을 설명하고 아키텍처를 추천받는 것입니다. Task B는 레이어 구조를 실제로 그려보는 것입니다. Task C는 기술 스택 표를 작성하는 것입니다. 25분 후에 팀별로 결과를 발표해주세요. AI의 추천이 마음에 들지 않으면 '왜 그것보다 다른 것이 더 나은지' 추가 질문을 해보세요.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챕터 2 마무리입니다. 6가지 체크리스트를 모두 완료했는지 팀별로 확인해주세요. 설계 문서가 완성되면 챕터 3에서 실제 코드 구현을 시작합니다. 설계가 탄탄할수록 구현 속도가 빠릅니다. 다음 챕터에서는 K-water 공공 API 연동, Groq AI 기능 구현, 인메모리 캐시 구현을 다룹니다. 수고하셨습니다.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13A40"/>
        </a:solidFill>
      </p:bgPr>
    </p:bg>
    <p:spTree>
      <p:nvGrpSpPr>
        <p:cNvPr id="1" name=""/>
        <p:cNvGrpSpPr/>
        <p:nvPr/>
      </p:nvGrpSpPr>
      <p:grpSpPr>
        <a:xfrm>
          <a:off x="0" y="0"/>
          <a:ext cx="0" cy="0"/>
          <a:chOff x="0" y="0"/>
          <a:chExt cx="0" cy="0"/>
        </a:xfrm>
      </p:grpSpPr>
      <p:sp>
        <p:nvSpPr>
          <p:cNvPr id="2" name="Shape 0"/>
          <p:cNvSpPr/>
          <p:nvPr/>
        </p:nvSpPr>
        <p:spPr>
          <a:xfrm>
            <a:off x="6858000" y="-914400"/>
            <a:ext cx="4572000" cy="4572000"/>
          </a:xfrm>
          <a:prstGeom prst="ellipse">
            <a:avLst/>
          </a:prstGeom>
          <a:solidFill>
            <a:srgbClr val="028090">
              <a:alpha val="25000"/>
            </a:srgbClr>
          </a:solidFill>
          <a:ln w="12700">
            <a:solidFill>
              <a:srgbClr val="028090">
                <a:alpha val="25000"/>
              </a:srgbClr>
            </a:solidFill>
            <a:prstDash val="solid"/>
          </a:ln>
        </p:spPr>
      </p:sp>
      <p:sp>
        <p:nvSpPr>
          <p:cNvPr id="3" name="Shape 1"/>
          <p:cNvSpPr/>
          <p:nvPr/>
        </p:nvSpPr>
        <p:spPr>
          <a:xfrm>
            <a:off x="-1371600" y="3200400"/>
            <a:ext cx="3657600" cy="3657600"/>
          </a:xfrm>
          <a:prstGeom prst="ellipse">
            <a:avLst/>
          </a:prstGeom>
          <a:solidFill>
            <a:srgbClr val="02C39A">
              <a:alpha val="20000"/>
            </a:srgbClr>
          </a:solidFill>
          <a:ln w="12700">
            <a:solidFill>
              <a:srgbClr val="02C39A">
                <a:alpha val="20000"/>
              </a:srgbClr>
            </a:solidFill>
            <a:prstDash val="solid"/>
          </a:ln>
        </p:spPr>
      </p:sp>
      <p:sp>
        <p:nvSpPr>
          <p:cNvPr id="4" name="Shape 2"/>
          <p:cNvSpPr/>
          <p:nvPr/>
        </p:nvSpPr>
        <p:spPr>
          <a:xfrm>
            <a:off x="7772400" y="3200400"/>
            <a:ext cx="2286000" cy="2286000"/>
          </a:xfrm>
          <a:prstGeom prst="ellipse">
            <a:avLst/>
          </a:prstGeom>
          <a:solidFill>
            <a:srgbClr val="02C39A">
              <a:alpha val="30000"/>
            </a:srgbClr>
          </a:solidFill>
          <a:ln w="12700">
            <a:solidFill>
              <a:srgbClr val="02C39A">
                <a:alpha val="30000"/>
              </a:srgbClr>
            </a:solidFill>
            <a:prstDash val="solid"/>
          </a:ln>
        </p:spPr>
      </p:sp>
      <p:sp>
        <p:nvSpPr>
          <p:cNvPr id="5" name="Text 3"/>
          <p:cNvSpPr/>
          <p:nvPr/>
        </p:nvSpPr>
        <p:spPr>
          <a:xfrm>
            <a:off x="640080" y="1097280"/>
            <a:ext cx="7863840" cy="1097280"/>
          </a:xfrm>
          <a:prstGeom prst="rect">
            <a:avLst/>
          </a:prstGeom>
          <a:noFill/>
          <a:ln/>
        </p:spPr>
        <p:txBody>
          <a:bodyPr wrap="square" rtlCol="0" anchor="ctr"/>
          <a:lstStyle/>
          <a:p>
            <a:pPr algn="l" indent="0" marL="0">
              <a:buNone/>
            </a:pPr>
            <a:r>
              <a:rPr lang="en-US" sz="4000" b="1" dirty="0">
                <a:solidFill>
                  <a:srgbClr val="FFFFFF"/>
                </a:solidFill>
                <a:latin typeface="Calibri" pitchFamily="34" charset="0"/>
                <a:ea typeface="Calibri" pitchFamily="34" charset="-122"/>
                <a:cs typeface="Calibri" pitchFamily="34" charset="-120"/>
              </a:rPr>
              <a:t>Chapter 2  /  설계 단계</a:t>
            </a:r>
            <a:endParaRPr lang="en-US" sz="4000" dirty="0"/>
          </a:p>
        </p:txBody>
      </p:sp>
      <p:sp>
        <p:nvSpPr>
          <p:cNvPr id="6" name="Text 4"/>
          <p:cNvSpPr/>
          <p:nvPr/>
        </p:nvSpPr>
        <p:spPr>
          <a:xfrm>
            <a:off x="640080" y="2286000"/>
            <a:ext cx="7863840" cy="640080"/>
          </a:xfrm>
          <a:prstGeom prst="rect">
            <a:avLst/>
          </a:prstGeom>
          <a:noFill/>
          <a:ln/>
        </p:spPr>
        <p:txBody>
          <a:bodyPr wrap="square" rtlCol="0" anchor="ctr"/>
          <a:lstStyle/>
          <a:p>
            <a:pPr algn="l" indent="0" marL="0">
              <a:buNone/>
            </a:pPr>
            <a:r>
              <a:rPr lang="en-US" sz="1800" dirty="0">
                <a:solidFill>
                  <a:srgbClr val="A8D8E0"/>
                </a:solidFill>
                <a:latin typeface="Calibri" pitchFamily="34" charset="0"/>
                <a:ea typeface="Calibri" pitchFamily="34" charset="-122"/>
                <a:cs typeface="Calibri" pitchFamily="34" charset="-120"/>
              </a:rPr>
              <a:t>유스케이스 · 아키텍처 · 화면 설계를 AI와 함께 만든다</a:t>
            </a:r>
            <a:endParaRPr lang="en-US" sz="1800" dirty="0"/>
          </a:p>
        </p:txBody>
      </p:sp>
      <p:sp>
        <p:nvSpPr>
          <p:cNvPr id="7" name="Text 5"/>
          <p:cNvSpPr/>
          <p:nvPr/>
        </p:nvSpPr>
        <p:spPr>
          <a:xfrm>
            <a:off x="640080" y="4114800"/>
            <a:ext cx="7863840" cy="457200"/>
          </a:xfrm>
          <a:prstGeom prst="rect">
            <a:avLst/>
          </a:prstGeom>
          <a:noFill/>
          <a:ln/>
        </p:spPr>
        <p:txBody>
          <a:bodyPr wrap="square" rtlCol="0" anchor="ctr"/>
          <a:lstStyle/>
          <a:p>
            <a:pPr algn="l" indent="0" marL="0">
              <a:buNone/>
            </a:pPr>
            <a:r>
              <a:rPr lang="en-US" sz="1100" i="1" dirty="0">
                <a:solidFill>
                  <a:srgbClr val="02C39A"/>
                </a:solidFill>
                <a:latin typeface="Calibri" pitchFamily="34" charset="0"/>
                <a:ea typeface="Calibri" pitchFamily="34" charset="-122"/>
                <a:cs typeface="Calibri" pitchFamily="34" charset="-120"/>
              </a:rPr>
              <a:t>유스케이스  ·  시스템 아키텍처  ·  화면 설계  ·  기술 스택  ·  캐시 전략</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28090"/>
          </a:solidFill>
          <a:ln w="12700">
            <a:solidFill>
              <a:srgbClr val="028090"/>
            </a:solidFill>
            <a:prstDash val="solid"/>
          </a:ln>
        </p:spPr>
      </p:sp>
      <p:sp>
        <p:nvSpPr>
          <p:cNvPr id="3" name="Text 1"/>
          <p:cNvSpPr/>
          <p:nvPr/>
        </p:nvSpPr>
        <p:spPr>
          <a:xfrm>
            <a:off x="365760" y="0"/>
            <a:ext cx="8412480" cy="9144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이번 챕터 학습 목표</a:t>
            </a:r>
            <a:endParaRPr lang="en-US" sz="2200" dirty="0"/>
          </a:p>
        </p:txBody>
      </p:sp>
      <p:sp>
        <p:nvSpPr>
          <p:cNvPr id="4" name="Shape 2"/>
          <p:cNvSpPr/>
          <p:nvPr/>
        </p:nvSpPr>
        <p:spPr>
          <a:xfrm>
            <a:off x="457200" y="1143000"/>
            <a:ext cx="8229600" cy="566928"/>
          </a:xfrm>
          <a:prstGeom prst="roundRect">
            <a:avLst>
              <a:gd name="adj" fmla="val 12903"/>
            </a:avLst>
          </a:prstGeom>
          <a:solidFill>
            <a:srgbClr val="F0F7FF"/>
          </a:solidFill>
          <a:ln w="12700">
            <a:solidFill>
              <a:srgbClr val="C8E0E8"/>
            </a:solidFill>
            <a:prstDash val="solid"/>
          </a:ln>
          <a:effectLst>
            <a:outerShdw sx="100000" sy="100000" kx="0" ky="0" algn="bl" rotWithShape="0" blurRad="101600" dist="25400" dir="2700000">
              <a:srgbClr val="000000">
                <a:alpha val="10000"/>
              </a:srgbClr>
            </a:outerShdw>
          </a:effectLst>
        </p:spPr>
      </p:sp>
      <p:sp>
        <p:nvSpPr>
          <p:cNvPr id="5" name="Text 3"/>
          <p:cNvSpPr/>
          <p:nvPr/>
        </p:nvSpPr>
        <p:spPr>
          <a:xfrm>
            <a:off x="640080" y="1170432"/>
            <a:ext cx="7863840" cy="512064"/>
          </a:xfrm>
          <a:prstGeom prst="rect">
            <a:avLst/>
          </a:prstGeom>
          <a:noFill/>
          <a:ln/>
        </p:spPr>
        <p:txBody>
          <a:bodyPr wrap="square" rtlCol="0" anchor="ctr"/>
          <a:lstStyle/>
          <a:p>
            <a:pPr indent="0" marL="0">
              <a:buNone/>
            </a:pPr>
            <a:r>
              <a:rPr lang="en-US" sz="1300" b="1" dirty="0">
                <a:solidFill>
                  <a:srgbClr val="1A2B3C"/>
                </a:solidFill>
                <a:latin typeface="Calibri" pitchFamily="34" charset="0"/>
                <a:ea typeface="Calibri" pitchFamily="34" charset="-122"/>
                <a:cs typeface="Calibri" pitchFamily="34" charset="-120"/>
              </a:rPr>
              <a:t>① 유스케이스를 정의하고 UC 문서를 작성한다</a:t>
            </a:r>
            <a:endParaRPr lang="en-US" sz="1300" dirty="0"/>
          </a:p>
        </p:txBody>
      </p:sp>
      <p:sp>
        <p:nvSpPr>
          <p:cNvPr id="6" name="Shape 4"/>
          <p:cNvSpPr/>
          <p:nvPr/>
        </p:nvSpPr>
        <p:spPr>
          <a:xfrm>
            <a:off x="457200" y="1856232"/>
            <a:ext cx="8229600" cy="566928"/>
          </a:xfrm>
          <a:prstGeom prst="roundRect">
            <a:avLst>
              <a:gd name="adj" fmla="val 12903"/>
            </a:avLst>
          </a:prstGeom>
          <a:solidFill>
            <a:srgbClr val="E8F4F8"/>
          </a:solidFill>
          <a:ln w="12700">
            <a:solidFill>
              <a:srgbClr val="C8E0E8"/>
            </a:solidFill>
            <a:prstDash val="solid"/>
          </a:ln>
          <a:effectLst>
            <a:outerShdw sx="100000" sy="100000" kx="0" ky="0" algn="bl" rotWithShape="0" blurRad="101600" dist="25400" dir="2700000">
              <a:srgbClr val="000000">
                <a:alpha val="10000"/>
              </a:srgbClr>
            </a:outerShdw>
          </a:effectLst>
        </p:spPr>
      </p:sp>
      <p:sp>
        <p:nvSpPr>
          <p:cNvPr id="7" name="Text 5"/>
          <p:cNvSpPr/>
          <p:nvPr/>
        </p:nvSpPr>
        <p:spPr>
          <a:xfrm>
            <a:off x="640080" y="1883664"/>
            <a:ext cx="7863840" cy="512064"/>
          </a:xfrm>
          <a:prstGeom prst="rect">
            <a:avLst/>
          </a:prstGeom>
          <a:noFill/>
          <a:ln/>
        </p:spPr>
        <p:txBody>
          <a:bodyPr wrap="square" rtlCol="0" anchor="ctr"/>
          <a:lstStyle/>
          <a:p>
            <a:pPr indent="0" marL="0">
              <a:buNone/>
            </a:pPr>
            <a:r>
              <a:rPr lang="en-US" sz="1300" dirty="0">
                <a:solidFill>
                  <a:srgbClr val="1A2B3C"/>
                </a:solidFill>
                <a:latin typeface="Calibri" pitchFamily="34" charset="0"/>
                <a:ea typeface="Calibri" pitchFamily="34" charset="-122"/>
                <a:cs typeface="Calibri" pitchFamily="34" charset="-120"/>
              </a:rPr>
              <a:t>② 시스템 아키텍처의 계층 구조를 설계한다</a:t>
            </a:r>
            <a:endParaRPr lang="en-US" sz="1300" dirty="0"/>
          </a:p>
        </p:txBody>
      </p:sp>
      <p:sp>
        <p:nvSpPr>
          <p:cNvPr id="8" name="Shape 6"/>
          <p:cNvSpPr/>
          <p:nvPr/>
        </p:nvSpPr>
        <p:spPr>
          <a:xfrm>
            <a:off x="457200" y="2569464"/>
            <a:ext cx="8229600" cy="566928"/>
          </a:xfrm>
          <a:prstGeom prst="roundRect">
            <a:avLst>
              <a:gd name="adj" fmla="val 12903"/>
            </a:avLst>
          </a:prstGeom>
          <a:solidFill>
            <a:srgbClr val="F0F7FF"/>
          </a:solidFill>
          <a:ln w="12700">
            <a:solidFill>
              <a:srgbClr val="C8E0E8"/>
            </a:solidFill>
            <a:prstDash val="solid"/>
          </a:ln>
          <a:effectLst>
            <a:outerShdw sx="100000" sy="100000" kx="0" ky="0" algn="bl" rotWithShape="0" blurRad="101600" dist="25400" dir="2700000">
              <a:srgbClr val="000000">
                <a:alpha val="10000"/>
              </a:srgbClr>
            </a:outerShdw>
          </a:effectLst>
        </p:spPr>
      </p:sp>
      <p:sp>
        <p:nvSpPr>
          <p:cNvPr id="9" name="Text 7"/>
          <p:cNvSpPr/>
          <p:nvPr/>
        </p:nvSpPr>
        <p:spPr>
          <a:xfrm>
            <a:off x="640080" y="2596896"/>
            <a:ext cx="7863840" cy="512064"/>
          </a:xfrm>
          <a:prstGeom prst="rect">
            <a:avLst/>
          </a:prstGeom>
          <a:noFill/>
          <a:ln/>
        </p:spPr>
        <p:txBody>
          <a:bodyPr wrap="square" rtlCol="0" anchor="ctr"/>
          <a:lstStyle/>
          <a:p>
            <a:pPr indent="0" marL="0">
              <a:buNone/>
            </a:pPr>
            <a:r>
              <a:rPr lang="en-US" sz="1300" dirty="0">
                <a:solidFill>
                  <a:srgbClr val="1A2B3C"/>
                </a:solidFill>
                <a:latin typeface="Calibri" pitchFamily="34" charset="0"/>
                <a:ea typeface="Calibri" pitchFamily="34" charset="-122"/>
                <a:cs typeface="Calibri" pitchFamily="34" charset="-120"/>
              </a:rPr>
              <a:t>③ 기술 스택 선정 기준을 이해하고 팀에 맞는 선택을 한다</a:t>
            </a:r>
            <a:endParaRPr lang="en-US" sz="1300" dirty="0"/>
          </a:p>
        </p:txBody>
      </p:sp>
      <p:sp>
        <p:nvSpPr>
          <p:cNvPr id="10" name="Shape 8"/>
          <p:cNvSpPr/>
          <p:nvPr/>
        </p:nvSpPr>
        <p:spPr>
          <a:xfrm>
            <a:off x="457200" y="3282696"/>
            <a:ext cx="8229600" cy="566928"/>
          </a:xfrm>
          <a:prstGeom prst="roundRect">
            <a:avLst>
              <a:gd name="adj" fmla="val 12903"/>
            </a:avLst>
          </a:prstGeom>
          <a:solidFill>
            <a:srgbClr val="E8F4F8"/>
          </a:solidFill>
          <a:ln w="12700">
            <a:solidFill>
              <a:srgbClr val="C8E0E8"/>
            </a:solidFill>
            <a:prstDash val="solid"/>
          </a:ln>
          <a:effectLst>
            <a:outerShdw sx="100000" sy="100000" kx="0" ky="0" algn="bl" rotWithShape="0" blurRad="101600" dist="25400" dir="2700000">
              <a:srgbClr val="000000">
                <a:alpha val="10000"/>
              </a:srgbClr>
            </a:outerShdw>
          </a:effectLst>
        </p:spPr>
      </p:sp>
      <p:sp>
        <p:nvSpPr>
          <p:cNvPr id="11" name="Text 9"/>
          <p:cNvSpPr/>
          <p:nvPr/>
        </p:nvSpPr>
        <p:spPr>
          <a:xfrm>
            <a:off x="640080" y="3310128"/>
            <a:ext cx="7863840" cy="512064"/>
          </a:xfrm>
          <a:prstGeom prst="rect">
            <a:avLst/>
          </a:prstGeom>
          <a:noFill/>
          <a:ln/>
        </p:spPr>
        <p:txBody>
          <a:bodyPr wrap="square" rtlCol="0" anchor="ctr"/>
          <a:lstStyle/>
          <a:p>
            <a:pPr indent="0" marL="0">
              <a:buNone/>
            </a:pPr>
            <a:r>
              <a:rPr lang="en-US" sz="1300" dirty="0">
                <a:solidFill>
                  <a:srgbClr val="1A2B3C"/>
                </a:solidFill>
                <a:latin typeface="Calibri" pitchFamily="34" charset="0"/>
                <a:ea typeface="Calibri" pitchFamily="34" charset="-122"/>
                <a:cs typeface="Calibri" pitchFamily="34" charset="-120"/>
              </a:rPr>
              <a:t>④ 화면 설계서와 와이어프레임을 작성한다</a:t>
            </a:r>
            <a:endParaRPr lang="en-US" sz="1300" dirty="0"/>
          </a:p>
        </p:txBody>
      </p:sp>
      <p:sp>
        <p:nvSpPr>
          <p:cNvPr id="12" name="Shape 10"/>
          <p:cNvSpPr/>
          <p:nvPr/>
        </p:nvSpPr>
        <p:spPr>
          <a:xfrm>
            <a:off x="457200" y="3995928"/>
            <a:ext cx="8229600" cy="566928"/>
          </a:xfrm>
          <a:prstGeom prst="roundRect">
            <a:avLst>
              <a:gd name="adj" fmla="val 12903"/>
            </a:avLst>
          </a:prstGeom>
          <a:solidFill>
            <a:srgbClr val="F0F7FF"/>
          </a:solidFill>
          <a:ln w="12700">
            <a:solidFill>
              <a:srgbClr val="C8E0E8"/>
            </a:solidFill>
            <a:prstDash val="solid"/>
          </a:ln>
          <a:effectLst>
            <a:outerShdw sx="100000" sy="100000" kx="0" ky="0" algn="bl" rotWithShape="0" blurRad="101600" dist="25400" dir="2700000">
              <a:srgbClr val="000000">
                <a:alpha val="10000"/>
              </a:srgbClr>
            </a:outerShdw>
          </a:effectLst>
        </p:spPr>
      </p:sp>
      <p:sp>
        <p:nvSpPr>
          <p:cNvPr id="13" name="Text 11"/>
          <p:cNvSpPr/>
          <p:nvPr/>
        </p:nvSpPr>
        <p:spPr>
          <a:xfrm>
            <a:off x="640080" y="4023360"/>
            <a:ext cx="7863840" cy="512064"/>
          </a:xfrm>
          <a:prstGeom prst="rect">
            <a:avLst/>
          </a:prstGeom>
          <a:noFill/>
          <a:ln/>
        </p:spPr>
        <p:txBody>
          <a:bodyPr wrap="square" rtlCol="0" anchor="ctr"/>
          <a:lstStyle/>
          <a:p>
            <a:pPr indent="0" marL="0">
              <a:buNone/>
            </a:pPr>
            <a:r>
              <a:rPr lang="en-US" sz="1300" dirty="0">
                <a:solidFill>
                  <a:srgbClr val="1A2B3C"/>
                </a:solidFill>
                <a:latin typeface="Calibri" pitchFamily="34" charset="0"/>
                <a:ea typeface="Calibri" pitchFamily="34" charset="-122"/>
                <a:cs typeface="Calibri" pitchFamily="34" charset="-120"/>
              </a:rPr>
              <a:t>⑤ 캐시 전략을 설계하고 성능 개선 방안을 수립한다</a:t>
            </a:r>
            <a:endParaRPr lang="en-US" sz="1300" dirty="0"/>
          </a:p>
        </p:txBody>
      </p:sp>
      <p:sp>
        <p:nvSpPr>
          <p:cNvPr id="14" name="Shape 12"/>
          <p:cNvSpPr/>
          <p:nvPr/>
        </p:nvSpPr>
        <p:spPr>
          <a:xfrm>
            <a:off x="457200" y="4663440"/>
            <a:ext cx="8229600" cy="320040"/>
          </a:xfrm>
          <a:prstGeom prst="roundRect">
            <a:avLst>
              <a:gd name="adj" fmla="val 17143"/>
            </a:avLst>
          </a:prstGeom>
          <a:solidFill>
            <a:srgbClr val="02C39A">
              <a:alpha val="15000"/>
            </a:srgbClr>
          </a:solidFill>
          <a:ln w="12700">
            <a:solidFill>
              <a:srgbClr val="02C39A"/>
            </a:solidFill>
            <a:prstDash val="solid"/>
          </a:ln>
        </p:spPr>
      </p:sp>
      <p:sp>
        <p:nvSpPr>
          <p:cNvPr id="15" name="Text 13"/>
          <p:cNvSpPr/>
          <p:nvPr/>
        </p:nvSpPr>
        <p:spPr>
          <a:xfrm>
            <a:off x="640080" y="4663440"/>
            <a:ext cx="7863840" cy="320040"/>
          </a:xfrm>
          <a:prstGeom prst="rect">
            <a:avLst/>
          </a:prstGeom>
          <a:noFill/>
          <a:ln/>
        </p:spPr>
        <p:txBody>
          <a:bodyPr wrap="square" rtlCol="0" anchor="ctr"/>
          <a:lstStyle/>
          <a:p>
            <a:pPr indent="0" marL="0">
              <a:buNone/>
            </a:pPr>
            <a:r>
              <a:rPr lang="en-US" sz="1100" b="1" dirty="0">
                <a:solidFill>
                  <a:srgbClr val="028090"/>
                </a:solidFill>
                <a:latin typeface="Calibri" pitchFamily="34" charset="0"/>
                <a:ea typeface="Calibri" pitchFamily="34" charset="-122"/>
                <a:cs typeface="Calibri" pitchFamily="34" charset="-120"/>
              </a:rPr>
              <a:t>예상 소요시간: 90분 (실습 포함)</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28090"/>
          </a:solidFill>
          <a:ln w="12700">
            <a:solidFill>
              <a:srgbClr val="028090"/>
            </a:solidFill>
            <a:prstDash val="solid"/>
          </a:ln>
        </p:spPr>
      </p:sp>
      <p:sp>
        <p:nvSpPr>
          <p:cNvPr id="3" name="Text 1"/>
          <p:cNvSpPr/>
          <p:nvPr/>
        </p:nvSpPr>
        <p:spPr>
          <a:xfrm>
            <a:off x="365760" y="0"/>
            <a:ext cx="8412480" cy="9144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설계 단계에서 만드는 문서들</a:t>
            </a:r>
            <a:endParaRPr lang="en-US" sz="2200" dirty="0"/>
          </a:p>
        </p:txBody>
      </p:sp>
      <p:sp>
        <p:nvSpPr>
          <p:cNvPr id="4" name="Shape 2"/>
          <p:cNvSpPr/>
          <p:nvPr/>
        </p:nvSpPr>
        <p:spPr>
          <a:xfrm>
            <a:off x="182880" y="1051560"/>
            <a:ext cx="2834640" cy="3749040"/>
          </a:xfrm>
          <a:prstGeom prst="roundRect">
            <a:avLst>
              <a:gd name="adj" fmla="val 3871"/>
            </a:avLst>
          </a:prstGeom>
          <a:solidFill>
            <a:srgbClr val="FFFFFF"/>
          </a:solidFill>
          <a:ln w="12700">
            <a:solidFill>
              <a:srgbClr val="C8E0E8"/>
            </a:solidFill>
            <a:prstDash val="solid"/>
          </a:ln>
          <a:effectLst>
            <a:outerShdw sx="100000" sy="100000" kx="0" ky="0" algn="bl" rotWithShape="0" blurRad="101600" dist="25400" dir="2700000">
              <a:srgbClr val="000000">
                <a:alpha val="10000"/>
              </a:srgbClr>
            </a:outerShdw>
          </a:effectLst>
        </p:spPr>
      </p:sp>
      <p:sp>
        <p:nvSpPr>
          <p:cNvPr id="5" name="Shape 3"/>
          <p:cNvSpPr/>
          <p:nvPr/>
        </p:nvSpPr>
        <p:spPr>
          <a:xfrm>
            <a:off x="182880" y="1051560"/>
            <a:ext cx="2834640" cy="457200"/>
          </a:xfrm>
          <a:prstGeom prst="rect">
            <a:avLst/>
          </a:prstGeom>
          <a:solidFill>
            <a:srgbClr val="028090"/>
          </a:solidFill>
          <a:ln w="12700">
            <a:solidFill>
              <a:srgbClr val="028090"/>
            </a:solidFill>
            <a:prstDash val="solid"/>
          </a:ln>
        </p:spPr>
      </p:sp>
      <p:sp>
        <p:nvSpPr>
          <p:cNvPr id="6" name="Text 4"/>
          <p:cNvSpPr/>
          <p:nvPr/>
        </p:nvSpPr>
        <p:spPr>
          <a:xfrm>
            <a:off x="256032" y="1051560"/>
            <a:ext cx="2688336"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유스케이스 정의서</a:t>
            </a:r>
            <a:endParaRPr lang="en-US" sz="1100" dirty="0"/>
          </a:p>
        </p:txBody>
      </p:sp>
      <p:sp>
        <p:nvSpPr>
          <p:cNvPr id="7" name="Text 5"/>
          <p:cNvSpPr/>
          <p:nvPr/>
        </p:nvSpPr>
        <p:spPr>
          <a:xfrm>
            <a:off x="274320" y="1572768"/>
            <a:ext cx="2651760" cy="256032"/>
          </a:xfrm>
          <a:prstGeom prst="rect">
            <a:avLst/>
          </a:prstGeom>
          <a:noFill/>
          <a:ln/>
        </p:spPr>
        <p:txBody>
          <a:bodyPr wrap="square" rtlCol="0" anchor="ctr"/>
          <a:lstStyle/>
          <a:p>
            <a:pPr indent="0" marL="0">
              <a:buNone/>
            </a:pPr>
            <a:r>
              <a:rPr lang="en-US" sz="1000" b="1" dirty="0">
                <a:solidFill>
                  <a:srgbClr val="028090"/>
                </a:solidFill>
                <a:latin typeface="Calibri" pitchFamily="34" charset="0"/>
                <a:ea typeface="Calibri" pitchFamily="34" charset="-122"/>
                <a:cs typeface="Calibri" pitchFamily="34" charset="-120"/>
              </a:rPr>
              <a:t>무엇인가?</a:t>
            </a:r>
            <a:endParaRPr lang="en-US" sz="1000" dirty="0"/>
          </a:p>
        </p:txBody>
      </p:sp>
      <p:sp>
        <p:nvSpPr>
          <p:cNvPr id="8" name="Text 6"/>
          <p:cNvSpPr/>
          <p:nvPr/>
        </p:nvSpPr>
        <p:spPr>
          <a:xfrm>
            <a:off x="274320" y="1810512"/>
            <a:ext cx="2651760" cy="594360"/>
          </a:xfrm>
          <a:prstGeom prst="rect">
            <a:avLst/>
          </a:prstGeom>
          <a:noFill/>
          <a:ln/>
        </p:spPr>
        <p:txBody>
          <a:bodyPr wrap="square" rtlCol="0" anchor="ctr"/>
          <a:lstStyle/>
          <a:p>
            <a:pPr indent="0" marL="0">
              <a:buNone/>
            </a:pPr>
            <a:r>
              <a:rPr lang="en-US" sz="1000" dirty="0">
                <a:solidFill>
                  <a:srgbClr val="1A2B3C"/>
                </a:solidFill>
                <a:latin typeface="Calibri" pitchFamily="34" charset="0"/>
                <a:ea typeface="Calibri" pitchFamily="34" charset="-122"/>
                <a:cs typeface="Calibri" pitchFamily="34" charset="-120"/>
              </a:rPr>
              <a:t>사용자-시스템 간 상호작용을 시나리오로 기술</a:t>
            </a:r>
            <a:endParaRPr lang="en-US" sz="1000" dirty="0"/>
          </a:p>
        </p:txBody>
      </p:sp>
      <p:sp>
        <p:nvSpPr>
          <p:cNvPr id="9" name="Text 7"/>
          <p:cNvSpPr/>
          <p:nvPr/>
        </p:nvSpPr>
        <p:spPr>
          <a:xfrm>
            <a:off x="274320" y="2450592"/>
            <a:ext cx="2651760" cy="256032"/>
          </a:xfrm>
          <a:prstGeom prst="rect">
            <a:avLst/>
          </a:prstGeom>
          <a:noFill/>
          <a:ln/>
        </p:spPr>
        <p:txBody>
          <a:bodyPr wrap="square" rtlCol="0" anchor="ctr"/>
          <a:lstStyle/>
          <a:p>
            <a:pPr indent="0" marL="0">
              <a:buNone/>
            </a:pPr>
            <a:r>
              <a:rPr lang="en-US" sz="1000" b="1" dirty="0">
                <a:solidFill>
                  <a:srgbClr val="028090"/>
                </a:solidFill>
                <a:latin typeface="Calibri" pitchFamily="34" charset="0"/>
                <a:ea typeface="Calibri" pitchFamily="34" charset="-122"/>
                <a:cs typeface="Calibri" pitchFamily="34" charset="-120"/>
              </a:rPr>
              <a:t>왜 필요한가?</a:t>
            </a:r>
            <a:endParaRPr lang="en-US" sz="1000" dirty="0"/>
          </a:p>
        </p:txBody>
      </p:sp>
      <p:sp>
        <p:nvSpPr>
          <p:cNvPr id="10" name="Text 8"/>
          <p:cNvSpPr/>
          <p:nvPr/>
        </p:nvSpPr>
        <p:spPr>
          <a:xfrm>
            <a:off x="274320" y="2688336"/>
            <a:ext cx="2651760" cy="502920"/>
          </a:xfrm>
          <a:prstGeom prst="rect">
            <a:avLst/>
          </a:prstGeom>
          <a:noFill/>
          <a:ln/>
        </p:spPr>
        <p:txBody>
          <a:bodyPr wrap="square" rtlCol="0" anchor="ctr"/>
          <a:lstStyle/>
          <a:p>
            <a:pPr indent="0" marL="0">
              <a:buNone/>
            </a:pPr>
            <a:r>
              <a:rPr lang="en-US" sz="1000" dirty="0">
                <a:solidFill>
                  <a:srgbClr val="1A2B3C"/>
                </a:solidFill>
                <a:latin typeface="Calibri" pitchFamily="34" charset="0"/>
                <a:ea typeface="Calibri" pitchFamily="34" charset="-122"/>
                <a:cs typeface="Calibri" pitchFamily="34" charset="-120"/>
              </a:rPr>
              <a:t>구현 범위 합의, 예외 처리 사전 정의</a:t>
            </a:r>
            <a:endParaRPr lang="en-US" sz="1000" dirty="0"/>
          </a:p>
        </p:txBody>
      </p:sp>
      <p:sp>
        <p:nvSpPr>
          <p:cNvPr id="11" name="Text 9"/>
          <p:cNvSpPr/>
          <p:nvPr/>
        </p:nvSpPr>
        <p:spPr>
          <a:xfrm>
            <a:off x="274320" y="3236976"/>
            <a:ext cx="2651760" cy="228600"/>
          </a:xfrm>
          <a:prstGeom prst="rect">
            <a:avLst/>
          </a:prstGeom>
          <a:noFill/>
          <a:ln/>
        </p:spPr>
        <p:txBody>
          <a:bodyPr wrap="square" rtlCol="0" anchor="ctr"/>
          <a:lstStyle/>
          <a:p>
            <a:pPr indent="0" marL="0">
              <a:buNone/>
            </a:pPr>
            <a:r>
              <a:rPr lang="en-US" sz="1000" b="1" dirty="0">
                <a:solidFill>
                  <a:srgbClr val="02C39A"/>
                </a:solidFill>
                <a:latin typeface="Calibri" pitchFamily="34" charset="0"/>
                <a:ea typeface="Calibri" pitchFamily="34" charset="-122"/>
                <a:cs typeface="Calibri" pitchFamily="34" charset="-120"/>
              </a:rPr>
              <a:t>AI 프롬프트</a:t>
            </a:r>
            <a:endParaRPr lang="en-US" sz="1000" dirty="0"/>
          </a:p>
        </p:txBody>
      </p:sp>
      <p:sp>
        <p:nvSpPr>
          <p:cNvPr id="12" name="Shape 10"/>
          <p:cNvSpPr/>
          <p:nvPr/>
        </p:nvSpPr>
        <p:spPr>
          <a:xfrm>
            <a:off x="256032" y="3456432"/>
            <a:ext cx="2688336" cy="749808"/>
          </a:xfrm>
          <a:prstGeom prst="roundRect">
            <a:avLst>
              <a:gd name="adj" fmla="val 7317"/>
            </a:avLst>
          </a:prstGeom>
          <a:solidFill>
            <a:srgbClr val="E8F7F4"/>
          </a:solidFill>
          <a:ln w="12700">
            <a:solidFill>
              <a:srgbClr val="02C39A"/>
            </a:solidFill>
            <a:prstDash val="solid"/>
          </a:ln>
        </p:spPr>
      </p:sp>
      <p:sp>
        <p:nvSpPr>
          <p:cNvPr id="13" name="Text 11"/>
          <p:cNvSpPr/>
          <p:nvPr/>
        </p:nvSpPr>
        <p:spPr>
          <a:xfrm>
            <a:off x="292608" y="3474720"/>
            <a:ext cx="2615184" cy="713232"/>
          </a:xfrm>
          <a:prstGeom prst="rect">
            <a:avLst/>
          </a:prstGeom>
          <a:noFill/>
          <a:ln/>
        </p:spPr>
        <p:txBody>
          <a:bodyPr wrap="square" rtlCol="0" anchor="ctr"/>
          <a:lstStyle/>
          <a:p>
            <a:pPr indent="0" marL="0">
              <a:buNone/>
            </a:pPr>
            <a:r>
              <a:rPr lang="en-US" sz="900" i="1" dirty="0">
                <a:solidFill>
                  <a:srgbClr val="016A6A"/>
                </a:solidFill>
                <a:latin typeface="Calibri" pitchFamily="34" charset="0"/>
                <a:ea typeface="Calibri" pitchFamily="34" charset="-122"/>
                <a:cs typeface="Calibri" pitchFamily="34" charset="-120"/>
              </a:rPr>
              <a:t>"사용자가 할 수 있는 모든 행동을 UC 형식으로 정리해줘"</a:t>
            </a:r>
            <a:endParaRPr lang="en-US" sz="900" dirty="0"/>
          </a:p>
        </p:txBody>
      </p:sp>
      <p:sp>
        <p:nvSpPr>
          <p:cNvPr id="14" name="Shape 12"/>
          <p:cNvSpPr/>
          <p:nvPr/>
        </p:nvSpPr>
        <p:spPr>
          <a:xfrm>
            <a:off x="3172968" y="1051560"/>
            <a:ext cx="2834640" cy="3749040"/>
          </a:xfrm>
          <a:prstGeom prst="roundRect">
            <a:avLst>
              <a:gd name="adj" fmla="val 3871"/>
            </a:avLst>
          </a:prstGeom>
          <a:solidFill>
            <a:srgbClr val="FFFFFF"/>
          </a:solidFill>
          <a:ln w="12700">
            <a:solidFill>
              <a:srgbClr val="C8E0E8"/>
            </a:solidFill>
            <a:prstDash val="solid"/>
          </a:ln>
          <a:effectLst>
            <a:outerShdw sx="100000" sy="100000" kx="0" ky="0" algn="bl" rotWithShape="0" blurRad="101600" dist="25400" dir="2700000">
              <a:srgbClr val="000000">
                <a:alpha val="10000"/>
              </a:srgbClr>
            </a:outerShdw>
          </a:effectLst>
        </p:spPr>
      </p:sp>
      <p:sp>
        <p:nvSpPr>
          <p:cNvPr id="15" name="Shape 13"/>
          <p:cNvSpPr/>
          <p:nvPr/>
        </p:nvSpPr>
        <p:spPr>
          <a:xfrm>
            <a:off x="3172968" y="1051560"/>
            <a:ext cx="2834640" cy="457200"/>
          </a:xfrm>
          <a:prstGeom prst="rect">
            <a:avLst/>
          </a:prstGeom>
          <a:solidFill>
            <a:srgbClr val="028090"/>
          </a:solidFill>
          <a:ln w="12700">
            <a:solidFill>
              <a:srgbClr val="028090"/>
            </a:solidFill>
            <a:prstDash val="solid"/>
          </a:ln>
        </p:spPr>
      </p:sp>
      <p:sp>
        <p:nvSpPr>
          <p:cNvPr id="16" name="Text 14"/>
          <p:cNvSpPr/>
          <p:nvPr/>
        </p:nvSpPr>
        <p:spPr>
          <a:xfrm>
            <a:off x="3246120" y="1051560"/>
            <a:ext cx="2688336"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시스템 아키텍처 정의서</a:t>
            </a:r>
            <a:endParaRPr lang="en-US" sz="1100" dirty="0"/>
          </a:p>
        </p:txBody>
      </p:sp>
      <p:sp>
        <p:nvSpPr>
          <p:cNvPr id="17" name="Text 15"/>
          <p:cNvSpPr/>
          <p:nvPr/>
        </p:nvSpPr>
        <p:spPr>
          <a:xfrm>
            <a:off x="3264408" y="1572768"/>
            <a:ext cx="2651760" cy="256032"/>
          </a:xfrm>
          <a:prstGeom prst="rect">
            <a:avLst/>
          </a:prstGeom>
          <a:noFill/>
          <a:ln/>
        </p:spPr>
        <p:txBody>
          <a:bodyPr wrap="square" rtlCol="0" anchor="ctr"/>
          <a:lstStyle/>
          <a:p>
            <a:pPr indent="0" marL="0">
              <a:buNone/>
            </a:pPr>
            <a:r>
              <a:rPr lang="en-US" sz="1000" b="1" dirty="0">
                <a:solidFill>
                  <a:srgbClr val="028090"/>
                </a:solidFill>
                <a:latin typeface="Calibri" pitchFamily="34" charset="0"/>
                <a:ea typeface="Calibri" pitchFamily="34" charset="-122"/>
                <a:cs typeface="Calibri" pitchFamily="34" charset="-120"/>
              </a:rPr>
              <a:t>무엇인가?</a:t>
            </a:r>
            <a:endParaRPr lang="en-US" sz="1000" dirty="0"/>
          </a:p>
        </p:txBody>
      </p:sp>
      <p:sp>
        <p:nvSpPr>
          <p:cNvPr id="18" name="Text 16"/>
          <p:cNvSpPr/>
          <p:nvPr/>
        </p:nvSpPr>
        <p:spPr>
          <a:xfrm>
            <a:off x="3264408" y="1810512"/>
            <a:ext cx="2651760" cy="594360"/>
          </a:xfrm>
          <a:prstGeom prst="rect">
            <a:avLst/>
          </a:prstGeom>
          <a:noFill/>
          <a:ln/>
        </p:spPr>
        <p:txBody>
          <a:bodyPr wrap="square" rtlCol="0" anchor="ctr"/>
          <a:lstStyle/>
          <a:p>
            <a:pPr indent="0" marL="0">
              <a:buNone/>
            </a:pPr>
            <a:r>
              <a:rPr lang="en-US" sz="1000" dirty="0">
                <a:solidFill>
                  <a:srgbClr val="1A2B3C"/>
                </a:solidFill>
                <a:latin typeface="Calibri" pitchFamily="34" charset="0"/>
                <a:ea typeface="Calibri" pitchFamily="34" charset="-122"/>
                <a:cs typeface="Calibri" pitchFamily="34" charset="-120"/>
              </a:rPr>
              <a:t>레이어 구조, 기술 스택, 데이터 흐름 정의</a:t>
            </a:r>
            <a:endParaRPr lang="en-US" sz="1000" dirty="0"/>
          </a:p>
        </p:txBody>
      </p:sp>
      <p:sp>
        <p:nvSpPr>
          <p:cNvPr id="19" name="Text 17"/>
          <p:cNvSpPr/>
          <p:nvPr/>
        </p:nvSpPr>
        <p:spPr>
          <a:xfrm>
            <a:off x="3264408" y="2450592"/>
            <a:ext cx="2651760" cy="256032"/>
          </a:xfrm>
          <a:prstGeom prst="rect">
            <a:avLst/>
          </a:prstGeom>
          <a:noFill/>
          <a:ln/>
        </p:spPr>
        <p:txBody>
          <a:bodyPr wrap="square" rtlCol="0" anchor="ctr"/>
          <a:lstStyle/>
          <a:p>
            <a:pPr indent="0" marL="0">
              <a:buNone/>
            </a:pPr>
            <a:r>
              <a:rPr lang="en-US" sz="1000" b="1" dirty="0">
                <a:solidFill>
                  <a:srgbClr val="028090"/>
                </a:solidFill>
                <a:latin typeface="Calibri" pitchFamily="34" charset="0"/>
                <a:ea typeface="Calibri" pitchFamily="34" charset="-122"/>
                <a:cs typeface="Calibri" pitchFamily="34" charset="-120"/>
              </a:rPr>
              <a:t>왜 필요한가?</a:t>
            </a:r>
            <a:endParaRPr lang="en-US" sz="1000" dirty="0"/>
          </a:p>
        </p:txBody>
      </p:sp>
      <p:sp>
        <p:nvSpPr>
          <p:cNvPr id="20" name="Text 18"/>
          <p:cNvSpPr/>
          <p:nvPr/>
        </p:nvSpPr>
        <p:spPr>
          <a:xfrm>
            <a:off x="3264408" y="2688336"/>
            <a:ext cx="2651760" cy="502920"/>
          </a:xfrm>
          <a:prstGeom prst="rect">
            <a:avLst/>
          </a:prstGeom>
          <a:noFill/>
          <a:ln/>
        </p:spPr>
        <p:txBody>
          <a:bodyPr wrap="square" rtlCol="0" anchor="ctr"/>
          <a:lstStyle/>
          <a:p>
            <a:pPr indent="0" marL="0">
              <a:buNone/>
            </a:pPr>
            <a:r>
              <a:rPr lang="en-US" sz="1000" dirty="0">
                <a:solidFill>
                  <a:srgbClr val="1A2B3C"/>
                </a:solidFill>
                <a:latin typeface="Calibri" pitchFamily="34" charset="0"/>
                <a:ea typeface="Calibri" pitchFamily="34" charset="-122"/>
                <a:cs typeface="Calibri" pitchFamily="34" charset="-120"/>
              </a:rPr>
              <a:t>역할 분담 명확화, 확장 방향 사전 결정</a:t>
            </a:r>
            <a:endParaRPr lang="en-US" sz="1000" dirty="0"/>
          </a:p>
        </p:txBody>
      </p:sp>
      <p:sp>
        <p:nvSpPr>
          <p:cNvPr id="21" name="Text 19"/>
          <p:cNvSpPr/>
          <p:nvPr/>
        </p:nvSpPr>
        <p:spPr>
          <a:xfrm>
            <a:off x="3264408" y="3236976"/>
            <a:ext cx="2651760" cy="228600"/>
          </a:xfrm>
          <a:prstGeom prst="rect">
            <a:avLst/>
          </a:prstGeom>
          <a:noFill/>
          <a:ln/>
        </p:spPr>
        <p:txBody>
          <a:bodyPr wrap="square" rtlCol="0" anchor="ctr"/>
          <a:lstStyle/>
          <a:p>
            <a:pPr indent="0" marL="0">
              <a:buNone/>
            </a:pPr>
            <a:r>
              <a:rPr lang="en-US" sz="1000" b="1" dirty="0">
                <a:solidFill>
                  <a:srgbClr val="02C39A"/>
                </a:solidFill>
                <a:latin typeface="Calibri" pitchFamily="34" charset="0"/>
                <a:ea typeface="Calibri" pitchFamily="34" charset="-122"/>
                <a:cs typeface="Calibri" pitchFamily="34" charset="-120"/>
              </a:rPr>
              <a:t>AI 프롬프트</a:t>
            </a:r>
            <a:endParaRPr lang="en-US" sz="1000" dirty="0"/>
          </a:p>
        </p:txBody>
      </p:sp>
      <p:sp>
        <p:nvSpPr>
          <p:cNvPr id="22" name="Shape 20"/>
          <p:cNvSpPr/>
          <p:nvPr/>
        </p:nvSpPr>
        <p:spPr>
          <a:xfrm>
            <a:off x="3246120" y="3456432"/>
            <a:ext cx="2688336" cy="749808"/>
          </a:xfrm>
          <a:prstGeom prst="roundRect">
            <a:avLst>
              <a:gd name="adj" fmla="val 7317"/>
            </a:avLst>
          </a:prstGeom>
          <a:solidFill>
            <a:srgbClr val="E8F7F4"/>
          </a:solidFill>
          <a:ln w="12700">
            <a:solidFill>
              <a:srgbClr val="02C39A"/>
            </a:solidFill>
            <a:prstDash val="solid"/>
          </a:ln>
        </p:spPr>
      </p:sp>
      <p:sp>
        <p:nvSpPr>
          <p:cNvPr id="23" name="Text 21"/>
          <p:cNvSpPr/>
          <p:nvPr/>
        </p:nvSpPr>
        <p:spPr>
          <a:xfrm>
            <a:off x="3282696" y="3474720"/>
            <a:ext cx="2615184" cy="713232"/>
          </a:xfrm>
          <a:prstGeom prst="rect">
            <a:avLst/>
          </a:prstGeom>
          <a:noFill/>
          <a:ln/>
        </p:spPr>
        <p:txBody>
          <a:bodyPr wrap="square" rtlCol="0" anchor="ctr"/>
          <a:lstStyle/>
          <a:p>
            <a:pPr indent="0" marL="0">
              <a:buNone/>
            </a:pPr>
            <a:r>
              <a:rPr lang="en-US" sz="900" i="1" dirty="0">
                <a:solidFill>
                  <a:srgbClr val="016A6A"/>
                </a:solidFill>
                <a:latin typeface="Calibri" pitchFamily="34" charset="0"/>
                <a:ea typeface="Calibri" pitchFamily="34" charset="-122"/>
                <a:cs typeface="Calibri" pitchFamily="34" charset="-120"/>
              </a:rPr>
              <a:t>"우리 서비스에 맞는 아키텍처와 패키지 구조를 제안해줘"</a:t>
            </a:r>
            <a:endParaRPr lang="en-US" sz="900" dirty="0"/>
          </a:p>
        </p:txBody>
      </p:sp>
      <p:sp>
        <p:nvSpPr>
          <p:cNvPr id="24" name="Shape 22"/>
          <p:cNvSpPr/>
          <p:nvPr/>
        </p:nvSpPr>
        <p:spPr>
          <a:xfrm>
            <a:off x="6163056" y="1051560"/>
            <a:ext cx="2834640" cy="3749040"/>
          </a:xfrm>
          <a:prstGeom prst="roundRect">
            <a:avLst>
              <a:gd name="adj" fmla="val 3871"/>
            </a:avLst>
          </a:prstGeom>
          <a:solidFill>
            <a:srgbClr val="FFFFFF"/>
          </a:solidFill>
          <a:ln w="12700">
            <a:solidFill>
              <a:srgbClr val="C8E0E8"/>
            </a:solidFill>
            <a:prstDash val="solid"/>
          </a:ln>
          <a:effectLst>
            <a:outerShdw sx="100000" sy="100000" kx="0" ky="0" algn="bl" rotWithShape="0" blurRad="101600" dist="25400" dir="2700000">
              <a:srgbClr val="000000">
                <a:alpha val="10000"/>
              </a:srgbClr>
            </a:outerShdw>
          </a:effectLst>
        </p:spPr>
      </p:sp>
      <p:sp>
        <p:nvSpPr>
          <p:cNvPr id="25" name="Shape 23"/>
          <p:cNvSpPr/>
          <p:nvPr/>
        </p:nvSpPr>
        <p:spPr>
          <a:xfrm>
            <a:off x="6163056" y="1051560"/>
            <a:ext cx="2834640" cy="457200"/>
          </a:xfrm>
          <a:prstGeom prst="rect">
            <a:avLst/>
          </a:prstGeom>
          <a:solidFill>
            <a:srgbClr val="028090"/>
          </a:solidFill>
          <a:ln w="12700">
            <a:solidFill>
              <a:srgbClr val="028090"/>
            </a:solidFill>
            <a:prstDash val="solid"/>
          </a:ln>
        </p:spPr>
      </p:sp>
      <p:sp>
        <p:nvSpPr>
          <p:cNvPr id="26" name="Text 24"/>
          <p:cNvSpPr/>
          <p:nvPr/>
        </p:nvSpPr>
        <p:spPr>
          <a:xfrm>
            <a:off x="6236208" y="1051560"/>
            <a:ext cx="2688336"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화면 설계서</a:t>
            </a:r>
            <a:endParaRPr lang="en-US" sz="1100" dirty="0"/>
          </a:p>
        </p:txBody>
      </p:sp>
      <p:sp>
        <p:nvSpPr>
          <p:cNvPr id="27" name="Text 25"/>
          <p:cNvSpPr/>
          <p:nvPr/>
        </p:nvSpPr>
        <p:spPr>
          <a:xfrm>
            <a:off x="6254496" y="1572768"/>
            <a:ext cx="2651760" cy="256032"/>
          </a:xfrm>
          <a:prstGeom prst="rect">
            <a:avLst/>
          </a:prstGeom>
          <a:noFill/>
          <a:ln/>
        </p:spPr>
        <p:txBody>
          <a:bodyPr wrap="square" rtlCol="0" anchor="ctr"/>
          <a:lstStyle/>
          <a:p>
            <a:pPr indent="0" marL="0">
              <a:buNone/>
            </a:pPr>
            <a:r>
              <a:rPr lang="en-US" sz="1000" b="1" dirty="0">
                <a:solidFill>
                  <a:srgbClr val="028090"/>
                </a:solidFill>
                <a:latin typeface="Calibri" pitchFamily="34" charset="0"/>
                <a:ea typeface="Calibri" pitchFamily="34" charset="-122"/>
                <a:cs typeface="Calibri" pitchFamily="34" charset="-120"/>
              </a:rPr>
              <a:t>무엇인가?</a:t>
            </a:r>
            <a:endParaRPr lang="en-US" sz="1000" dirty="0"/>
          </a:p>
        </p:txBody>
      </p:sp>
      <p:sp>
        <p:nvSpPr>
          <p:cNvPr id="28" name="Text 26"/>
          <p:cNvSpPr/>
          <p:nvPr/>
        </p:nvSpPr>
        <p:spPr>
          <a:xfrm>
            <a:off x="6254496" y="1810512"/>
            <a:ext cx="2651760" cy="594360"/>
          </a:xfrm>
          <a:prstGeom prst="rect">
            <a:avLst/>
          </a:prstGeom>
          <a:noFill/>
          <a:ln/>
        </p:spPr>
        <p:txBody>
          <a:bodyPr wrap="square" rtlCol="0" anchor="ctr"/>
          <a:lstStyle/>
          <a:p>
            <a:pPr indent="0" marL="0">
              <a:buNone/>
            </a:pPr>
            <a:r>
              <a:rPr lang="en-US" sz="1000" dirty="0">
                <a:solidFill>
                  <a:srgbClr val="1A2B3C"/>
                </a:solidFill>
                <a:latin typeface="Calibri" pitchFamily="34" charset="0"/>
                <a:ea typeface="Calibri" pitchFamily="34" charset="-122"/>
                <a:cs typeface="Calibri" pitchFamily="34" charset="-120"/>
              </a:rPr>
              <a:t>UI 레이아웃, 컴포넌트, 인터랙션 흐름 정의</a:t>
            </a:r>
            <a:endParaRPr lang="en-US" sz="1000" dirty="0"/>
          </a:p>
        </p:txBody>
      </p:sp>
      <p:sp>
        <p:nvSpPr>
          <p:cNvPr id="29" name="Text 27"/>
          <p:cNvSpPr/>
          <p:nvPr/>
        </p:nvSpPr>
        <p:spPr>
          <a:xfrm>
            <a:off x="6254496" y="2450592"/>
            <a:ext cx="2651760" cy="256032"/>
          </a:xfrm>
          <a:prstGeom prst="rect">
            <a:avLst/>
          </a:prstGeom>
          <a:noFill/>
          <a:ln/>
        </p:spPr>
        <p:txBody>
          <a:bodyPr wrap="square" rtlCol="0" anchor="ctr"/>
          <a:lstStyle/>
          <a:p>
            <a:pPr indent="0" marL="0">
              <a:buNone/>
            </a:pPr>
            <a:r>
              <a:rPr lang="en-US" sz="1000" b="1" dirty="0">
                <a:solidFill>
                  <a:srgbClr val="028090"/>
                </a:solidFill>
                <a:latin typeface="Calibri" pitchFamily="34" charset="0"/>
                <a:ea typeface="Calibri" pitchFamily="34" charset="-122"/>
                <a:cs typeface="Calibri" pitchFamily="34" charset="-120"/>
              </a:rPr>
              <a:t>왜 필요한가?</a:t>
            </a:r>
            <a:endParaRPr lang="en-US" sz="1000" dirty="0"/>
          </a:p>
        </p:txBody>
      </p:sp>
      <p:sp>
        <p:nvSpPr>
          <p:cNvPr id="30" name="Text 28"/>
          <p:cNvSpPr/>
          <p:nvPr/>
        </p:nvSpPr>
        <p:spPr>
          <a:xfrm>
            <a:off x="6254496" y="2688336"/>
            <a:ext cx="2651760" cy="502920"/>
          </a:xfrm>
          <a:prstGeom prst="rect">
            <a:avLst/>
          </a:prstGeom>
          <a:noFill/>
          <a:ln/>
        </p:spPr>
        <p:txBody>
          <a:bodyPr wrap="square" rtlCol="0" anchor="ctr"/>
          <a:lstStyle/>
          <a:p>
            <a:pPr indent="0" marL="0">
              <a:buNone/>
            </a:pPr>
            <a:r>
              <a:rPr lang="en-US" sz="1000" dirty="0">
                <a:solidFill>
                  <a:srgbClr val="1A2B3C"/>
                </a:solidFill>
                <a:latin typeface="Calibri" pitchFamily="34" charset="0"/>
                <a:ea typeface="Calibri" pitchFamily="34" charset="-122"/>
                <a:cs typeface="Calibri" pitchFamily="34" charset="-120"/>
              </a:rPr>
              <a:t>프론트-백 협업 기준, 사용성 사전 검증</a:t>
            </a:r>
            <a:endParaRPr lang="en-US" sz="1000" dirty="0"/>
          </a:p>
        </p:txBody>
      </p:sp>
      <p:sp>
        <p:nvSpPr>
          <p:cNvPr id="31" name="Text 29"/>
          <p:cNvSpPr/>
          <p:nvPr/>
        </p:nvSpPr>
        <p:spPr>
          <a:xfrm>
            <a:off x="6254496" y="3236976"/>
            <a:ext cx="2651760" cy="228600"/>
          </a:xfrm>
          <a:prstGeom prst="rect">
            <a:avLst/>
          </a:prstGeom>
          <a:noFill/>
          <a:ln/>
        </p:spPr>
        <p:txBody>
          <a:bodyPr wrap="square" rtlCol="0" anchor="ctr"/>
          <a:lstStyle/>
          <a:p>
            <a:pPr indent="0" marL="0">
              <a:buNone/>
            </a:pPr>
            <a:r>
              <a:rPr lang="en-US" sz="1000" b="1" dirty="0">
                <a:solidFill>
                  <a:srgbClr val="02C39A"/>
                </a:solidFill>
                <a:latin typeface="Calibri" pitchFamily="34" charset="0"/>
                <a:ea typeface="Calibri" pitchFamily="34" charset="-122"/>
                <a:cs typeface="Calibri" pitchFamily="34" charset="-120"/>
              </a:rPr>
              <a:t>AI 프롬프트</a:t>
            </a:r>
            <a:endParaRPr lang="en-US" sz="1000" dirty="0"/>
          </a:p>
        </p:txBody>
      </p:sp>
      <p:sp>
        <p:nvSpPr>
          <p:cNvPr id="32" name="Shape 30"/>
          <p:cNvSpPr/>
          <p:nvPr/>
        </p:nvSpPr>
        <p:spPr>
          <a:xfrm>
            <a:off x="6236208" y="3456432"/>
            <a:ext cx="2688336" cy="749808"/>
          </a:xfrm>
          <a:prstGeom prst="roundRect">
            <a:avLst>
              <a:gd name="adj" fmla="val 7317"/>
            </a:avLst>
          </a:prstGeom>
          <a:solidFill>
            <a:srgbClr val="E8F7F4"/>
          </a:solidFill>
          <a:ln w="12700">
            <a:solidFill>
              <a:srgbClr val="02C39A"/>
            </a:solidFill>
            <a:prstDash val="solid"/>
          </a:ln>
        </p:spPr>
      </p:sp>
      <p:sp>
        <p:nvSpPr>
          <p:cNvPr id="33" name="Text 31"/>
          <p:cNvSpPr/>
          <p:nvPr/>
        </p:nvSpPr>
        <p:spPr>
          <a:xfrm>
            <a:off x="6272784" y="3474720"/>
            <a:ext cx="2615184" cy="713232"/>
          </a:xfrm>
          <a:prstGeom prst="rect">
            <a:avLst/>
          </a:prstGeom>
          <a:noFill/>
          <a:ln/>
        </p:spPr>
        <p:txBody>
          <a:bodyPr wrap="square" rtlCol="0" anchor="ctr"/>
          <a:lstStyle/>
          <a:p>
            <a:pPr indent="0" marL="0">
              <a:buNone/>
            </a:pPr>
            <a:r>
              <a:rPr lang="en-US" sz="900" i="1" dirty="0">
                <a:solidFill>
                  <a:srgbClr val="016A6A"/>
                </a:solidFill>
                <a:latin typeface="Calibri" pitchFamily="34" charset="0"/>
                <a:ea typeface="Calibri" pitchFamily="34" charset="-122"/>
                <a:cs typeface="Calibri" pitchFamily="34" charset="-120"/>
              </a:rPr>
              <a:t>"메인 화면을 ASCII 와이어프레임으로 그려줘"</a:t>
            </a:r>
            <a:endParaRPr lang="en-US" sz="900" dirty="0"/>
          </a:p>
        </p:txBody>
      </p:sp>
      <p:sp>
        <p:nvSpPr>
          <p:cNvPr id="34" name="Shape 32"/>
          <p:cNvSpPr/>
          <p:nvPr/>
        </p:nvSpPr>
        <p:spPr>
          <a:xfrm>
            <a:off x="457200" y="4800600"/>
            <a:ext cx="8229600" cy="256032"/>
          </a:xfrm>
          <a:prstGeom prst="roundRect">
            <a:avLst>
              <a:gd name="adj" fmla="val 17857"/>
            </a:avLst>
          </a:prstGeom>
          <a:solidFill>
            <a:srgbClr val="FFF3E0"/>
          </a:solidFill>
          <a:ln w="12700">
            <a:solidFill>
              <a:srgbClr val="FF8C00"/>
            </a:solidFill>
            <a:prstDash val="solid"/>
          </a:ln>
        </p:spPr>
      </p:sp>
      <p:sp>
        <p:nvSpPr>
          <p:cNvPr id="35" name="Text 33"/>
          <p:cNvSpPr/>
          <p:nvPr/>
        </p:nvSpPr>
        <p:spPr>
          <a:xfrm>
            <a:off x="548640" y="4800600"/>
            <a:ext cx="8046720" cy="256032"/>
          </a:xfrm>
          <a:prstGeom prst="rect">
            <a:avLst/>
          </a:prstGeom>
          <a:noFill/>
          <a:ln/>
        </p:spPr>
        <p:txBody>
          <a:bodyPr wrap="square" rtlCol="0" anchor="ctr"/>
          <a:lstStyle/>
          <a:p>
            <a:pPr indent="0" marL="0">
              <a:buNone/>
            </a:pPr>
            <a:r>
              <a:rPr lang="en-US" sz="1100" b="1" dirty="0">
                <a:solidFill>
                  <a:srgbClr val="CC5500"/>
                </a:solidFill>
                <a:latin typeface="Calibri" pitchFamily="34" charset="0"/>
                <a:ea typeface="Calibri" pitchFamily="34" charset="-122"/>
                <a:cs typeface="Calibri" pitchFamily="34" charset="-120"/>
              </a:rPr>
              <a:t>⚠ 설계 없이 코딩 시작 = 나중에 전면 재작성 위험</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28090"/>
          </a:solidFill>
          <a:ln w="12700">
            <a:solidFill>
              <a:srgbClr val="028090"/>
            </a:solidFill>
            <a:prstDash val="solid"/>
          </a:ln>
        </p:spPr>
      </p:sp>
      <p:sp>
        <p:nvSpPr>
          <p:cNvPr id="3" name="Text 1"/>
          <p:cNvSpPr/>
          <p:nvPr/>
        </p:nvSpPr>
        <p:spPr>
          <a:xfrm>
            <a:off x="365760" y="0"/>
            <a:ext cx="8412480" cy="9144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유스케이스(Use Case)란?</a:t>
            </a:r>
            <a:endParaRPr lang="en-US" sz="2200" dirty="0"/>
          </a:p>
        </p:txBody>
      </p:sp>
      <p:sp>
        <p:nvSpPr>
          <p:cNvPr id="4" name="Shape 2"/>
          <p:cNvSpPr/>
          <p:nvPr/>
        </p:nvSpPr>
        <p:spPr>
          <a:xfrm>
            <a:off x="274320" y="1005840"/>
            <a:ext cx="4114800" cy="914400"/>
          </a:xfrm>
          <a:prstGeom prst="roundRect">
            <a:avLst>
              <a:gd name="adj" fmla="val 10000"/>
            </a:avLst>
          </a:prstGeom>
          <a:solidFill>
            <a:srgbClr val="F0F7FF"/>
          </a:solidFill>
          <a:ln w="12700">
            <a:solidFill>
              <a:srgbClr val="C8E0E8"/>
            </a:solidFill>
            <a:prstDash val="solid"/>
          </a:ln>
          <a:effectLst>
            <a:outerShdw sx="100000" sy="100000" kx="0" ky="0" algn="bl" rotWithShape="0" blurRad="101600" dist="25400" dir="2700000">
              <a:srgbClr val="000000">
                <a:alpha val="10000"/>
              </a:srgbClr>
            </a:outerShdw>
          </a:effectLst>
        </p:spPr>
      </p:sp>
      <p:sp>
        <p:nvSpPr>
          <p:cNvPr id="5" name="Text 3"/>
          <p:cNvSpPr/>
          <p:nvPr/>
        </p:nvSpPr>
        <p:spPr>
          <a:xfrm>
            <a:off x="457200" y="1024128"/>
            <a:ext cx="3749040" cy="877824"/>
          </a:xfrm>
          <a:prstGeom prst="rect">
            <a:avLst/>
          </a:prstGeom>
          <a:noFill/>
          <a:ln/>
        </p:spPr>
        <p:txBody>
          <a:bodyPr wrap="square" rtlCol="0" anchor="ctr"/>
          <a:lstStyle/>
          <a:p>
            <a:pPr algn="ctr" indent="0" marL="0">
              <a:buNone/>
            </a:pPr>
            <a:r>
              <a:rPr lang="en-US" sz="1200" dirty="0">
                <a:solidFill>
                  <a:srgbClr val="1A2B3C"/>
                </a:solidFill>
                <a:latin typeface="Calibri" pitchFamily="34" charset="0"/>
                <a:ea typeface="Calibri" pitchFamily="34" charset="-122"/>
                <a:cs typeface="Calibri" pitchFamily="34" charset="-120"/>
              </a:rPr>
              <a:t>사용자가 시스템을 통해 달성하려는 목표를</a:t>
            </a:r>
            <a:endParaRPr lang="en-US" sz="1200" dirty="0"/>
          </a:p>
          <a:p>
            <a:pPr algn="ctr" indent="0" marL="0">
              <a:buNone/>
            </a:pPr>
            <a:r>
              <a:rPr lang="en-US" sz="1200" dirty="0">
                <a:solidFill>
                  <a:srgbClr val="1A2B3C"/>
                </a:solidFill>
                <a:latin typeface="Calibri" pitchFamily="34" charset="0"/>
                <a:ea typeface="Calibri" pitchFamily="34" charset="-122"/>
                <a:cs typeface="Calibri" pitchFamily="34" charset="-120"/>
              </a:rPr>
              <a:t>시나리오로 표현한 것</a:t>
            </a:r>
            <a:endParaRPr lang="en-US" sz="1200" dirty="0"/>
          </a:p>
        </p:txBody>
      </p:sp>
      <p:sp>
        <p:nvSpPr>
          <p:cNvPr id="6" name="Shape 4"/>
          <p:cNvSpPr/>
          <p:nvPr/>
        </p:nvSpPr>
        <p:spPr>
          <a:xfrm>
            <a:off x="274320" y="2029968"/>
            <a:ext cx="4114800" cy="585216"/>
          </a:xfrm>
          <a:prstGeom prst="roundRect">
            <a:avLst>
              <a:gd name="adj" fmla="val 10938"/>
            </a:avLst>
          </a:prstGeom>
          <a:solidFill>
            <a:srgbClr val="E8F4F8"/>
          </a:solidFill>
          <a:ln w="12700">
            <a:solidFill>
              <a:srgbClr val="C8E0E8"/>
            </a:solidFill>
            <a:prstDash val="solid"/>
          </a:ln>
        </p:spPr>
      </p:sp>
      <p:sp>
        <p:nvSpPr>
          <p:cNvPr id="7" name="Text 5"/>
          <p:cNvSpPr/>
          <p:nvPr/>
        </p:nvSpPr>
        <p:spPr>
          <a:xfrm>
            <a:off x="411480" y="2048256"/>
            <a:ext cx="1463040" cy="548640"/>
          </a:xfrm>
          <a:prstGeom prst="rect">
            <a:avLst/>
          </a:prstGeom>
          <a:noFill/>
          <a:ln/>
        </p:spPr>
        <p:txBody>
          <a:bodyPr wrap="square" rtlCol="0" anchor="ctr"/>
          <a:lstStyle/>
          <a:p>
            <a:pPr indent="0" marL="0">
              <a:buNone/>
            </a:pPr>
            <a:r>
              <a:rPr lang="en-US" sz="1000" b="1" dirty="0">
                <a:solidFill>
                  <a:srgbClr val="028090"/>
                </a:solidFill>
                <a:latin typeface="Calibri" pitchFamily="34" charset="0"/>
                <a:ea typeface="Calibri" pitchFamily="34" charset="-122"/>
                <a:cs typeface="Calibri" pitchFamily="34" charset="-120"/>
              </a:rPr>
              <a:t>👤  Actor (누가)</a:t>
            </a:r>
            <a:endParaRPr lang="en-US" sz="1000" dirty="0"/>
          </a:p>
        </p:txBody>
      </p:sp>
      <p:sp>
        <p:nvSpPr>
          <p:cNvPr id="8" name="Text 6"/>
          <p:cNvSpPr/>
          <p:nvPr/>
        </p:nvSpPr>
        <p:spPr>
          <a:xfrm>
            <a:off x="1920240" y="2048256"/>
            <a:ext cx="2377440" cy="548640"/>
          </a:xfrm>
          <a:prstGeom prst="rect">
            <a:avLst/>
          </a:prstGeom>
          <a:noFill/>
          <a:ln/>
        </p:spPr>
        <p:txBody>
          <a:bodyPr wrap="square" rtlCol="0" anchor="ctr"/>
          <a:lstStyle/>
          <a:p>
            <a:pPr indent="0" marL="0">
              <a:buNone/>
            </a:pPr>
            <a:r>
              <a:rPr lang="en-US" sz="1000" dirty="0">
                <a:solidFill>
                  <a:srgbClr val="1A2B3C"/>
                </a:solidFill>
                <a:latin typeface="Calibri" pitchFamily="34" charset="0"/>
                <a:ea typeface="Calibri" pitchFamily="34" charset="-122"/>
                <a:cs typeface="Calibri" pitchFamily="34" charset="-120"/>
              </a:rPr>
              <a:t>수질 데이터를 조회하는 사용자</a:t>
            </a:r>
            <a:endParaRPr lang="en-US" sz="1000" dirty="0"/>
          </a:p>
        </p:txBody>
      </p:sp>
      <p:sp>
        <p:nvSpPr>
          <p:cNvPr id="9" name="Shape 7"/>
          <p:cNvSpPr/>
          <p:nvPr/>
        </p:nvSpPr>
        <p:spPr>
          <a:xfrm>
            <a:off x="274320" y="2688336"/>
            <a:ext cx="4114800" cy="585216"/>
          </a:xfrm>
          <a:prstGeom prst="roundRect">
            <a:avLst>
              <a:gd name="adj" fmla="val 10938"/>
            </a:avLst>
          </a:prstGeom>
          <a:solidFill>
            <a:srgbClr val="F0F7FF"/>
          </a:solidFill>
          <a:ln w="12700">
            <a:solidFill>
              <a:srgbClr val="C8E0E8"/>
            </a:solidFill>
            <a:prstDash val="solid"/>
          </a:ln>
        </p:spPr>
      </p:sp>
      <p:sp>
        <p:nvSpPr>
          <p:cNvPr id="10" name="Text 8"/>
          <p:cNvSpPr/>
          <p:nvPr/>
        </p:nvSpPr>
        <p:spPr>
          <a:xfrm>
            <a:off x="411480" y="2706624"/>
            <a:ext cx="1463040" cy="548640"/>
          </a:xfrm>
          <a:prstGeom prst="rect">
            <a:avLst/>
          </a:prstGeom>
          <a:noFill/>
          <a:ln/>
        </p:spPr>
        <p:txBody>
          <a:bodyPr wrap="square" rtlCol="0" anchor="ctr"/>
          <a:lstStyle/>
          <a:p>
            <a:pPr indent="0" marL="0">
              <a:buNone/>
            </a:pPr>
            <a:r>
              <a:rPr lang="en-US" sz="1000" b="1" dirty="0">
                <a:solidFill>
                  <a:srgbClr val="028090"/>
                </a:solidFill>
                <a:latin typeface="Calibri" pitchFamily="34" charset="0"/>
                <a:ea typeface="Calibri" pitchFamily="34" charset="-122"/>
                <a:cs typeface="Calibri" pitchFamily="34" charset="-120"/>
              </a:rPr>
              <a:t>🎯  Goal (무엇을)</a:t>
            </a:r>
            <a:endParaRPr lang="en-US" sz="1000" dirty="0"/>
          </a:p>
        </p:txBody>
      </p:sp>
      <p:sp>
        <p:nvSpPr>
          <p:cNvPr id="11" name="Text 9"/>
          <p:cNvSpPr/>
          <p:nvPr/>
        </p:nvSpPr>
        <p:spPr>
          <a:xfrm>
            <a:off x="1920240" y="2706624"/>
            <a:ext cx="2377440" cy="548640"/>
          </a:xfrm>
          <a:prstGeom prst="rect">
            <a:avLst/>
          </a:prstGeom>
          <a:noFill/>
          <a:ln/>
        </p:spPr>
        <p:txBody>
          <a:bodyPr wrap="square" rtlCol="0" anchor="ctr"/>
          <a:lstStyle/>
          <a:p>
            <a:pPr indent="0" marL="0">
              <a:buNone/>
            </a:pPr>
            <a:r>
              <a:rPr lang="en-US" sz="1000" dirty="0">
                <a:solidFill>
                  <a:srgbClr val="1A2B3C"/>
                </a:solidFill>
                <a:latin typeface="Calibri" pitchFamily="34" charset="0"/>
                <a:ea typeface="Calibri" pitchFamily="34" charset="-122"/>
                <a:cs typeface="Calibri" pitchFamily="34" charset="-120"/>
              </a:rPr>
              <a:t>특정 정수장의 수질 현황을 확인</a:t>
            </a:r>
            <a:endParaRPr lang="en-US" sz="1000" dirty="0"/>
          </a:p>
        </p:txBody>
      </p:sp>
      <p:sp>
        <p:nvSpPr>
          <p:cNvPr id="12" name="Shape 10"/>
          <p:cNvSpPr/>
          <p:nvPr/>
        </p:nvSpPr>
        <p:spPr>
          <a:xfrm>
            <a:off x="274320" y="3346704"/>
            <a:ext cx="4114800" cy="585216"/>
          </a:xfrm>
          <a:prstGeom prst="roundRect">
            <a:avLst>
              <a:gd name="adj" fmla="val 10938"/>
            </a:avLst>
          </a:prstGeom>
          <a:solidFill>
            <a:srgbClr val="E8F4F8"/>
          </a:solidFill>
          <a:ln w="12700">
            <a:solidFill>
              <a:srgbClr val="C8E0E8"/>
            </a:solidFill>
            <a:prstDash val="solid"/>
          </a:ln>
        </p:spPr>
      </p:sp>
      <p:sp>
        <p:nvSpPr>
          <p:cNvPr id="13" name="Text 11"/>
          <p:cNvSpPr/>
          <p:nvPr/>
        </p:nvSpPr>
        <p:spPr>
          <a:xfrm>
            <a:off x="411480" y="3364992"/>
            <a:ext cx="1463040" cy="548640"/>
          </a:xfrm>
          <a:prstGeom prst="rect">
            <a:avLst/>
          </a:prstGeom>
          <a:noFill/>
          <a:ln/>
        </p:spPr>
        <p:txBody>
          <a:bodyPr wrap="square" rtlCol="0" anchor="ctr"/>
          <a:lstStyle/>
          <a:p>
            <a:pPr indent="0" marL="0">
              <a:buNone/>
            </a:pPr>
            <a:r>
              <a:rPr lang="en-US" sz="1000" b="1" dirty="0">
                <a:solidFill>
                  <a:srgbClr val="028090"/>
                </a:solidFill>
                <a:latin typeface="Calibri" pitchFamily="34" charset="0"/>
                <a:ea typeface="Calibri" pitchFamily="34" charset="-122"/>
                <a:cs typeface="Calibri" pitchFamily="34" charset="-120"/>
              </a:rPr>
              <a:t>▶  Basic Flow (어떻게)</a:t>
            </a:r>
            <a:endParaRPr lang="en-US" sz="1000" dirty="0"/>
          </a:p>
        </p:txBody>
      </p:sp>
      <p:sp>
        <p:nvSpPr>
          <p:cNvPr id="14" name="Text 12"/>
          <p:cNvSpPr/>
          <p:nvPr/>
        </p:nvSpPr>
        <p:spPr>
          <a:xfrm>
            <a:off x="1920240" y="3364992"/>
            <a:ext cx="2377440" cy="548640"/>
          </a:xfrm>
          <a:prstGeom prst="rect">
            <a:avLst/>
          </a:prstGeom>
          <a:noFill/>
          <a:ln/>
        </p:spPr>
        <p:txBody>
          <a:bodyPr wrap="square" rtlCol="0" anchor="ctr"/>
          <a:lstStyle/>
          <a:p>
            <a:pPr indent="0" marL="0">
              <a:buNone/>
            </a:pPr>
            <a:r>
              <a:rPr lang="en-US" sz="1000" dirty="0">
                <a:solidFill>
                  <a:srgbClr val="1A2B3C"/>
                </a:solidFill>
                <a:latin typeface="Calibri" pitchFamily="34" charset="0"/>
                <a:ea typeface="Calibri" pitchFamily="34" charset="-122"/>
                <a:cs typeface="Calibri" pitchFamily="34" charset="-120"/>
              </a:rPr>
              <a:t>정수장 선택 → 기간 입력 → 데이터 조회</a:t>
            </a:r>
            <a:endParaRPr lang="en-US" sz="1000" dirty="0"/>
          </a:p>
        </p:txBody>
      </p:sp>
      <p:sp>
        <p:nvSpPr>
          <p:cNvPr id="15" name="Shape 13"/>
          <p:cNvSpPr/>
          <p:nvPr/>
        </p:nvSpPr>
        <p:spPr>
          <a:xfrm>
            <a:off x="274320" y="4005072"/>
            <a:ext cx="4114800" cy="585216"/>
          </a:xfrm>
          <a:prstGeom prst="roundRect">
            <a:avLst>
              <a:gd name="adj" fmla="val 10938"/>
            </a:avLst>
          </a:prstGeom>
          <a:solidFill>
            <a:srgbClr val="F0F7FF"/>
          </a:solidFill>
          <a:ln w="12700">
            <a:solidFill>
              <a:srgbClr val="C8E0E8"/>
            </a:solidFill>
            <a:prstDash val="solid"/>
          </a:ln>
        </p:spPr>
      </p:sp>
      <p:sp>
        <p:nvSpPr>
          <p:cNvPr id="16" name="Text 14"/>
          <p:cNvSpPr/>
          <p:nvPr/>
        </p:nvSpPr>
        <p:spPr>
          <a:xfrm>
            <a:off x="411480" y="4023360"/>
            <a:ext cx="1463040" cy="548640"/>
          </a:xfrm>
          <a:prstGeom prst="rect">
            <a:avLst/>
          </a:prstGeom>
          <a:noFill/>
          <a:ln/>
        </p:spPr>
        <p:txBody>
          <a:bodyPr wrap="square" rtlCol="0" anchor="ctr"/>
          <a:lstStyle/>
          <a:p>
            <a:pPr indent="0" marL="0">
              <a:buNone/>
            </a:pPr>
            <a:r>
              <a:rPr lang="en-US" sz="1000" b="1" dirty="0">
                <a:solidFill>
                  <a:srgbClr val="028090"/>
                </a:solidFill>
                <a:latin typeface="Calibri" pitchFamily="34" charset="0"/>
                <a:ea typeface="Calibri" pitchFamily="34" charset="-122"/>
                <a:cs typeface="Calibri" pitchFamily="34" charset="-120"/>
              </a:rPr>
              <a:t>⚠  Exception Flow (실패시)</a:t>
            </a:r>
            <a:endParaRPr lang="en-US" sz="1000" dirty="0"/>
          </a:p>
        </p:txBody>
      </p:sp>
      <p:sp>
        <p:nvSpPr>
          <p:cNvPr id="17" name="Text 15"/>
          <p:cNvSpPr/>
          <p:nvPr/>
        </p:nvSpPr>
        <p:spPr>
          <a:xfrm>
            <a:off x="1920240" y="4023360"/>
            <a:ext cx="2377440" cy="548640"/>
          </a:xfrm>
          <a:prstGeom prst="rect">
            <a:avLst/>
          </a:prstGeom>
          <a:noFill/>
          <a:ln/>
        </p:spPr>
        <p:txBody>
          <a:bodyPr wrap="square" rtlCol="0" anchor="ctr"/>
          <a:lstStyle/>
          <a:p>
            <a:pPr indent="0" marL="0">
              <a:buNone/>
            </a:pPr>
            <a:r>
              <a:rPr lang="en-US" sz="1000" dirty="0">
                <a:solidFill>
                  <a:srgbClr val="1A2B3C"/>
                </a:solidFill>
                <a:latin typeface="Calibri" pitchFamily="34" charset="0"/>
                <a:ea typeface="Calibri" pitchFamily="34" charset="-122"/>
                <a:cs typeface="Calibri" pitchFamily="34" charset="-120"/>
              </a:rPr>
              <a:t>API 오류 시 캐시 데이터 표시</a:t>
            </a:r>
            <a:endParaRPr lang="en-US" sz="1000" dirty="0"/>
          </a:p>
        </p:txBody>
      </p:sp>
      <p:sp>
        <p:nvSpPr>
          <p:cNvPr id="18" name="Shape 16"/>
          <p:cNvSpPr/>
          <p:nvPr/>
        </p:nvSpPr>
        <p:spPr>
          <a:xfrm>
            <a:off x="4754880" y="1005840"/>
            <a:ext cx="4114800" cy="3977640"/>
          </a:xfrm>
          <a:prstGeom prst="roundRect">
            <a:avLst>
              <a:gd name="adj" fmla="val 2759"/>
            </a:avLst>
          </a:prstGeom>
          <a:solidFill>
            <a:srgbClr val="E8F4F8"/>
          </a:solidFill>
          <a:ln w="12700">
            <a:solidFill>
              <a:srgbClr val="028090"/>
            </a:solidFill>
            <a:prstDash val="solid"/>
          </a:ln>
          <a:effectLst>
            <a:outerShdw sx="100000" sy="100000" kx="0" ky="0" algn="bl" rotWithShape="0" blurRad="101600" dist="25400" dir="2700000">
              <a:srgbClr val="000000">
                <a:alpha val="10000"/>
              </a:srgbClr>
            </a:outerShdw>
          </a:effectLst>
        </p:spPr>
      </p:sp>
      <p:sp>
        <p:nvSpPr>
          <p:cNvPr id="19" name="Text 17"/>
          <p:cNvSpPr/>
          <p:nvPr/>
        </p:nvSpPr>
        <p:spPr>
          <a:xfrm>
            <a:off x="4937760" y="1051560"/>
            <a:ext cx="3749040" cy="365760"/>
          </a:xfrm>
          <a:prstGeom prst="rect">
            <a:avLst/>
          </a:prstGeom>
          <a:noFill/>
          <a:ln/>
        </p:spPr>
        <p:txBody>
          <a:bodyPr wrap="square"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UC-001: 수질 현황 조회</a:t>
            </a:r>
            <a:endParaRPr lang="en-US" sz="1300" dirty="0"/>
          </a:p>
        </p:txBody>
      </p:sp>
      <p:sp>
        <p:nvSpPr>
          <p:cNvPr id="20" name="Text 18"/>
          <p:cNvSpPr/>
          <p:nvPr/>
        </p:nvSpPr>
        <p:spPr>
          <a:xfrm>
            <a:off x="4937760" y="1481328"/>
            <a:ext cx="1005840" cy="256032"/>
          </a:xfrm>
          <a:prstGeom prst="rect">
            <a:avLst/>
          </a:prstGeom>
          <a:noFill/>
          <a:ln/>
        </p:spPr>
        <p:txBody>
          <a:bodyPr wrap="square" rtlCol="0" anchor="ctr"/>
          <a:lstStyle/>
          <a:p>
            <a:pPr indent="0" marL="0">
              <a:buNone/>
            </a:pPr>
            <a:r>
              <a:rPr lang="en-US" sz="1000" b="1" dirty="0">
                <a:solidFill>
                  <a:srgbClr val="4A6A80"/>
                </a:solidFill>
                <a:latin typeface="Calibri" pitchFamily="34" charset="0"/>
                <a:ea typeface="Calibri" pitchFamily="34" charset="-122"/>
                <a:cs typeface="Calibri" pitchFamily="34" charset="-120"/>
              </a:rPr>
              <a:t>Actor:</a:t>
            </a:r>
            <a:endParaRPr lang="en-US" sz="1000" dirty="0"/>
          </a:p>
        </p:txBody>
      </p:sp>
      <p:sp>
        <p:nvSpPr>
          <p:cNvPr id="21" name="Text 19"/>
          <p:cNvSpPr/>
          <p:nvPr/>
        </p:nvSpPr>
        <p:spPr>
          <a:xfrm>
            <a:off x="5943600" y="1481328"/>
            <a:ext cx="2743200" cy="502920"/>
          </a:xfrm>
          <a:prstGeom prst="rect">
            <a:avLst/>
          </a:prstGeom>
          <a:noFill/>
          <a:ln/>
        </p:spPr>
        <p:txBody>
          <a:bodyPr wrap="square" rtlCol="0" anchor="ctr"/>
          <a:lstStyle/>
          <a:p>
            <a:pPr indent="0" marL="0">
              <a:buNone/>
            </a:pPr>
            <a:r>
              <a:rPr lang="en-US" sz="1000" dirty="0">
                <a:solidFill>
                  <a:srgbClr val="1A2B3C"/>
                </a:solidFill>
                <a:latin typeface="Calibri" pitchFamily="34" charset="0"/>
                <a:ea typeface="Calibri" pitchFamily="34" charset="-122"/>
                <a:cs typeface="Calibri" pitchFamily="34" charset="-120"/>
              </a:rPr>
              <a:t>일반 사용자</a:t>
            </a:r>
            <a:endParaRPr lang="en-US" sz="1000" dirty="0"/>
          </a:p>
        </p:txBody>
      </p:sp>
      <p:sp>
        <p:nvSpPr>
          <p:cNvPr id="22" name="Text 20"/>
          <p:cNvSpPr/>
          <p:nvPr/>
        </p:nvSpPr>
        <p:spPr>
          <a:xfrm>
            <a:off x="4937760" y="2121408"/>
            <a:ext cx="1005840" cy="256032"/>
          </a:xfrm>
          <a:prstGeom prst="rect">
            <a:avLst/>
          </a:prstGeom>
          <a:noFill/>
          <a:ln/>
        </p:spPr>
        <p:txBody>
          <a:bodyPr wrap="square" rtlCol="0" anchor="ctr"/>
          <a:lstStyle/>
          <a:p>
            <a:pPr indent="0" marL="0">
              <a:buNone/>
            </a:pPr>
            <a:r>
              <a:rPr lang="en-US" sz="1000" b="1" dirty="0">
                <a:solidFill>
                  <a:srgbClr val="4A6A80"/>
                </a:solidFill>
                <a:latin typeface="Calibri" pitchFamily="34" charset="0"/>
                <a:ea typeface="Calibri" pitchFamily="34" charset="-122"/>
                <a:cs typeface="Calibri" pitchFamily="34" charset="-120"/>
              </a:rPr>
              <a:t>Goal:</a:t>
            </a:r>
            <a:endParaRPr lang="en-US" sz="1000" dirty="0"/>
          </a:p>
        </p:txBody>
      </p:sp>
      <p:sp>
        <p:nvSpPr>
          <p:cNvPr id="23" name="Text 21"/>
          <p:cNvSpPr/>
          <p:nvPr/>
        </p:nvSpPr>
        <p:spPr>
          <a:xfrm>
            <a:off x="5943600" y="2121408"/>
            <a:ext cx="2743200" cy="502920"/>
          </a:xfrm>
          <a:prstGeom prst="rect">
            <a:avLst/>
          </a:prstGeom>
          <a:noFill/>
          <a:ln/>
        </p:spPr>
        <p:txBody>
          <a:bodyPr wrap="square" rtlCol="0" anchor="ctr"/>
          <a:lstStyle/>
          <a:p>
            <a:pPr indent="0" marL="0">
              <a:buNone/>
            </a:pPr>
            <a:r>
              <a:rPr lang="en-US" sz="1000" dirty="0">
                <a:solidFill>
                  <a:srgbClr val="1A2B3C"/>
                </a:solidFill>
                <a:latin typeface="Calibri" pitchFamily="34" charset="0"/>
                <a:ea typeface="Calibri" pitchFamily="34" charset="-122"/>
                <a:cs typeface="Calibri" pitchFamily="34" charset="-120"/>
              </a:rPr>
              <a:t>정수장의 수질 데이터를 조회한다</a:t>
            </a:r>
            <a:endParaRPr lang="en-US" sz="1000" dirty="0"/>
          </a:p>
        </p:txBody>
      </p:sp>
      <p:sp>
        <p:nvSpPr>
          <p:cNvPr id="24" name="Text 22"/>
          <p:cNvSpPr/>
          <p:nvPr/>
        </p:nvSpPr>
        <p:spPr>
          <a:xfrm>
            <a:off x="4937760" y="2761488"/>
            <a:ext cx="1005840" cy="256032"/>
          </a:xfrm>
          <a:prstGeom prst="rect">
            <a:avLst/>
          </a:prstGeom>
          <a:noFill/>
          <a:ln/>
        </p:spPr>
        <p:txBody>
          <a:bodyPr wrap="square" rtlCol="0" anchor="ctr"/>
          <a:lstStyle/>
          <a:p>
            <a:pPr indent="0" marL="0">
              <a:buNone/>
            </a:pPr>
            <a:r>
              <a:rPr lang="en-US" sz="1000" b="1" dirty="0">
                <a:solidFill>
                  <a:srgbClr val="4A6A80"/>
                </a:solidFill>
                <a:latin typeface="Calibri" pitchFamily="34" charset="0"/>
                <a:ea typeface="Calibri" pitchFamily="34" charset="-122"/>
                <a:cs typeface="Calibri" pitchFamily="34" charset="-120"/>
              </a:rPr>
              <a:t>Basic Flow:</a:t>
            </a:r>
            <a:endParaRPr lang="en-US" sz="1000" dirty="0"/>
          </a:p>
        </p:txBody>
      </p:sp>
      <p:sp>
        <p:nvSpPr>
          <p:cNvPr id="25" name="Text 23"/>
          <p:cNvSpPr/>
          <p:nvPr/>
        </p:nvSpPr>
        <p:spPr>
          <a:xfrm>
            <a:off x="5943600" y="2761488"/>
            <a:ext cx="2743200" cy="502920"/>
          </a:xfrm>
          <a:prstGeom prst="rect">
            <a:avLst/>
          </a:prstGeom>
          <a:noFill/>
          <a:ln/>
        </p:spPr>
        <p:txBody>
          <a:bodyPr wrap="square" rtlCol="0" anchor="ctr"/>
          <a:lstStyle/>
          <a:p>
            <a:pPr indent="0" marL="0">
              <a:buNone/>
            </a:pPr>
            <a:r>
              <a:rPr lang="en-US" sz="1000" dirty="0">
                <a:solidFill>
                  <a:srgbClr val="1A2B3C"/>
                </a:solidFill>
                <a:latin typeface="Calibri" pitchFamily="34" charset="0"/>
                <a:ea typeface="Calibri" pitchFamily="34" charset="-122"/>
                <a:cs typeface="Calibri" pitchFamily="34" charset="-120"/>
              </a:rPr>
              <a:t>1. 정수장 목록 클릭</a:t>
            </a:r>
            <a:endParaRPr lang="en-US" sz="1000" dirty="0"/>
          </a:p>
          <a:p>
            <a:pPr indent="0" marL="0">
              <a:buNone/>
            </a:pPr>
            <a:r>
              <a:rPr lang="en-US" sz="1000" dirty="0">
                <a:solidFill>
                  <a:srgbClr val="1A2B3C"/>
                </a:solidFill>
                <a:latin typeface="Calibri" pitchFamily="34" charset="0"/>
                <a:ea typeface="Calibri" pitchFamily="34" charset="-122"/>
                <a:cs typeface="Calibri" pitchFamily="34" charset="-120"/>
              </a:rPr>
              <a:t>2. 조회 기간 선택</a:t>
            </a:r>
            <a:endParaRPr lang="en-US" sz="1000" dirty="0"/>
          </a:p>
          <a:p>
            <a:pPr indent="0" marL="0">
              <a:buNone/>
            </a:pPr>
            <a:r>
              <a:rPr lang="en-US" sz="1000" dirty="0">
                <a:solidFill>
                  <a:srgbClr val="1A2B3C"/>
                </a:solidFill>
                <a:latin typeface="Calibri" pitchFamily="34" charset="0"/>
                <a:ea typeface="Calibri" pitchFamily="34" charset="-122"/>
                <a:cs typeface="Calibri" pitchFamily="34" charset="-120"/>
              </a:rPr>
              <a:t>3. 수질 데이터 카드 표시</a:t>
            </a:r>
            <a:endParaRPr lang="en-US" sz="1000" dirty="0"/>
          </a:p>
        </p:txBody>
      </p:sp>
      <p:sp>
        <p:nvSpPr>
          <p:cNvPr id="26" name="Text 24"/>
          <p:cNvSpPr/>
          <p:nvPr/>
        </p:nvSpPr>
        <p:spPr>
          <a:xfrm>
            <a:off x="4937760" y="3401568"/>
            <a:ext cx="1005840" cy="256032"/>
          </a:xfrm>
          <a:prstGeom prst="rect">
            <a:avLst/>
          </a:prstGeom>
          <a:noFill/>
          <a:ln/>
        </p:spPr>
        <p:txBody>
          <a:bodyPr wrap="square" rtlCol="0" anchor="ctr"/>
          <a:lstStyle/>
          <a:p>
            <a:pPr indent="0" marL="0">
              <a:buNone/>
            </a:pPr>
            <a:r>
              <a:rPr lang="en-US" sz="1000" b="1" dirty="0">
                <a:solidFill>
                  <a:srgbClr val="4A6A80"/>
                </a:solidFill>
                <a:latin typeface="Calibri" pitchFamily="34" charset="0"/>
                <a:ea typeface="Calibri" pitchFamily="34" charset="-122"/>
                <a:cs typeface="Calibri" pitchFamily="34" charset="-120"/>
              </a:rPr>
              <a:t>Exception:</a:t>
            </a:r>
            <a:endParaRPr lang="en-US" sz="1000" dirty="0"/>
          </a:p>
        </p:txBody>
      </p:sp>
      <p:sp>
        <p:nvSpPr>
          <p:cNvPr id="27" name="Text 25"/>
          <p:cNvSpPr/>
          <p:nvPr/>
        </p:nvSpPr>
        <p:spPr>
          <a:xfrm>
            <a:off x="5943600" y="3401568"/>
            <a:ext cx="2743200" cy="502920"/>
          </a:xfrm>
          <a:prstGeom prst="rect">
            <a:avLst/>
          </a:prstGeom>
          <a:noFill/>
          <a:ln/>
        </p:spPr>
        <p:txBody>
          <a:bodyPr wrap="square" rtlCol="0" anchor="ctr"/>
          <a:lstStyle/>
          <a:p>
            <a:pPr indent="0" marL="0">
              <a:buNone/>
            </a:pPr>
            <a:r>
              <a:rPr lang="en-US" sz="1000" dirty="0">
                <a:solidFill>
                  <a:srgbClr val="1A2B3C"/>
                </a:solidFill>
                <a:latin typeface="Calibri" pitchFamily="34" charset="0"/>
                <a:ea typeface="Calibri" pitchFamily="34" charset="-122"/>
                <a:cs typeface="Calibri" pitchFamily="34" charset="-120"/>
              </a:rPr>
              <a:t>API 오류 → 캐시 데이터 제공</a:t>
            </a:r>
            <a:endParaRPr lang="en-US" sz="1000" dirty="0"/>
          </a:p>
          <a:p>
            <a:pPr indent="0" marL="0">
              <a:buNone/>
            </a:pPr>
            <a:r>
              <a:rPr lang="en-US" sz="1000" dirty="0">
                <a:solidFill>
                  <a:srgbClr val="1A2B3C"/>
                </a:solidFill>
                <a:latin typeface="Calibri" pitchFamily="34" charset="0"/>
                <a:ea typeface="Calibri" pitchFamily="34" charset="-122"/>
                <a:cs typeface="Calibri" pitchFamily="34" charset="-120"/>
              </a:rPr>
              <a:t>또는 '일시적 오류' 안내</a:t>
            </a:r>
            <a:endParaRPr lang="en-US" sz="1000" dirty="0"/>
          </a:p>
        </p:txBody>
      </p:sp>
      <p:sp>
        <p:nvSpPr>
          <p:cNvPr id="28" name="Shape 26"/>
          <p:cNvSpPr/>
          <p:nvPr/>
        </p:nvSpPr>
        <p:spPr>
          <a:xfrm>
            <a:off x="4754880" y="4206240"/>
            <a:ext cx="4114800" cy="777240"/>
          </a:xfrm>
          <a:prstGeom prst="roundRect">
            <a:avLst>
              <a:gd name="adj" fmla="val 9412"/>
            </a:avLst>
          </a:prstGeom>
          <a:solidFill>
            <a:srgbClr val="E8F7F4"/>
          </a:solidFill>
          <a:ln w="12700">
            <a:solidFill>
              <a:srgbClr val="02C39A"/>
            </a:solidFill>
            <a:prstDash val="solid"/>
          </a:ln>
        </p:spPr>
      </p:sp>
      <p:sp>
        <p:nvSpPr>
          <p:cNvPr id="29" name="Text 27"/>
          <p:cNvSpPr/>
          <p:nvPr/>
        </p:nvSpPr>
        <p:spPr>
          <a:xfrm>
            <a:off x="4892040" y="4224528"/>
            <a:ext cx="3840480" cy="740664"/>
          </a:xfrm>
          <a:prstGeom prst="rect">
            <a:avLst/>
          </a:prstGeom>
          <a:noFill/>
          <a:ln/>
        </p:spPr>
        <p:txBody>
          <a:bodyPr wrap="square" rtlCol="0" anchor="ctr"/>
          <a:lstStyle/>
          <a:p>
            <a:pPr indent="0" marL="0">
              <a:buNone/>
            </a:pPr>
            <a:r>
              <a:rPr lang="en-US" sz="900" i="1" dirty="0">
                <a:solidFill>
                  <a:srgbClr val="016A6A"/>
                </a:solidFill>
                <a:latin typeface="Calibri" pitchFamily="34" charset="0"/>
                <a:ea typeface="Calibri" pitchFamily="34" charset="-122"/>
                <a:cs typeface="Calibri" pitchFamily="34" charset="-120"/>
              </a:rPr>
              <a:t>AI 프롬프트: "우리 서비스의 사용자가 할 수 있는 모든 행동을 UC 형식으로 정리해줘. 각 UC에 기본흐름과 예외흐름을 포함해줘"</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28090"/>
          </a:solidFill>
          <a:ln w="12700">
            <a:solidFill>
              <a:srgbClr val="028090"/>
            </a:solidFill>
            <a:prstDash val="solid"/>
          </a:ln>
        </p:spPr>
      </p:sp>
      <p:sp>
        <p:nvSpPr>
          <p:cNvPr id="3" name="Text 1"/>
          <p:cNvSpPr/>
          <p:nvPr/>
        </p:nvSpPr>
        <p:spPr>
          <a:xfrm>
            <a:off x="365760" y="0"/>
            <a:ext cx="8412480" cy="9144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수자이 유스케이스 8개 — 실제 예시</a:t>
            </a:r>
            <a:endParaRPr lang="en-US" sz="2200" dirty="0"/>
          </a:p>
        </p:txBody>
      </p:sp>
      <p:sp>
        <p:nvSpPr>
          <p:cNvPr id="4" name="Shape 2"/>
          <p:cNvSpPr/>
          <p:nvPr/>
        </p:nvSpPr>
        <p:spPr>
          <a:xfrm>
            <a:off x="274320" y="1051560"/>
            <a:ext cx="4206240" cy="804672"/>
          </a:xfrm>
          <a:prstGeom prst="roundRect">
            <a:avLst>
              <a:gd name="adj" fmla="val 10227"/>
            </a:avLst>
          </a:prstGeom>
          <a:solidFill>
            <a:srgbClr val="F0F7FF"/>
          </a:solidFill>
          <a:ln w="12700">
            <a:solidFill>
              <a:srgbClr val="C8E0E8"/>
            </a:solidFill>
            <a:prstDash val="solid"/>
          </a:ln>
          <a:effectLst>
            <a:outerShdw sx="100000" sy="100000" kx="0" ky="0" algn="bl" rotWithShape="0" blurRad="101600" dist="25400" dir="2700000">
              <a:srgbClr val="000000">
                <a:alpha val="10000"/>
              </a:srgbClr>
            </a:outerShdw>
          </a:effectLst>
        </p:spPr>
      </p:sp>
      <p:sp>
        <p:nvSpPr>
          <p:cNvPr id="5" name="Text 3"/>
          <p:cNvSpPr/>
          <p:nvPr/>
        </p:nvSpPr>
        <p:spPr>
          <a:xfrm>
            <a:off x="384048" y="1097280"/>
            <a:ext cx="914400" cy="274320"/>
          </a:xfrm>
          <a:prstGeom prst="rect">
            <a:avLst/>
          </a:prstGeom>
          <a:noFill/>
          <a:ln/>
        </p:spPr>
        <p:txBody>
          <a:bodyPr wrap="square" rtlCol="0" anchor="ctr"/>
          <a:lstStyle/>
          <a:p>
            <a:pPr indent="0" marL="0">
              <a:buNone/>
            </a:pPr>
            <a:r>
              <a:rPr lang="en-US" sz="1000" b="1" dirty="0">
                <a:solidFill>
                  <a:srgbClr val="028090"/>
                </a:solidFill>
                <a:latin typeface="Calibri" pitchFamily="34" charset="0"/>
                <a:ea typeface="Calibri" pitchFamily="34" charset="-122"/>
                <a:cs typeface="Calibri" pitchFamily="34" charset="-120"/>
              </a:rPr>
              <a:t>UC-001</a:t>
            </a:r>
            <a:endParaRPr lang="en-US" sz="1000" dirty="0"/>
          </a:p>
        </p:txBody>
      </p:sp>
      <p:sp>
        <p:nvSpPr>
          <p:cNvPr id="6" name="Text 4"/>
          <p:cNvSpPr/>
          <p:nvPr/>
        </p:nvSpPr>
        <p:spPr>
          <a:xfrm>
            <a:off x="384048" y="1399032"/>
            <a:ext cx="2560320" cy="274320"/>
          </a:xfrm>
          <a:prstGeom prst="rect">
            <a:avLst/>
          </a:prstGeom>
          <a:noFill/>
          <a:ln/>
        </p:spPr>
        <p:txBody>
          <a:bodyPr wrap="square" rtlCol="0" anchor="ctr"/>
          <a:lstStyle/>
          <a:p>
            <a:pPr indent="0" marL="0">
              <a:buNone/>
            </a:pPr>
            <a:r>
              <a:rPr lang="en-US" sz="1100" b="1" dirty="0">
                <a:solidFill>
                  <a:srgbClr val="1A2B3C"/>
                </a:solidFill>
                <a:latin typeface="Calibri" pitchFamily="34" charset="0"/>
                <a:ea typeface="Calibri" pitchFamily="34" charset="-122"/>
                <a:cs typeface="Calibri" pitchFamily="34" charset="-120"/>
              </a:rPr>
              <a:t>수질 현황 조회</a:t>
            </a:r>
            <a:endParaRPr lang="en-US" sz="1100" dirty="0"/>
          </a:p>
        </p:txBody>
      </p:sp>
      <p:sp>
        <p:nvSpPr>
          <p:cNvPr id="7" name="Text 5"/>
          <p:cNvSpPr/>
          <p:nvPr/>
        </p:nvSpPr>
        <p:spPr>
          <a:xfrm>
            <a:off x="3017520" y="1097280"/>
            <a:ext cx="1325880" cy="256032"/>
          </a:xfrm>
          <a:prstGeom prst="rect">
            <a:avLst/>
          </a:prstGeom>
          <a:noFill/>
          <a:ln/>
        </p:spPr>
        <p:txBody>
          <a:bodyPr wrap="square" rtlCol="0" anchor="ctr"/>
          <a:lstStyle/>
          <a:p>
            <a:pPr indent="0" marL="0">
              <a:buNone/>
            </a:pPr>
            <a:r>
              <a:rPr lang="en-US" sz="900" dirty="0">
                <a:solidFill>
                  <a:srgbClr val="4A6A80"/>
                </a:solidFill>
                <a:latin typeface="Calibri" pitchFamily="34" charset="0"/>
                <a:ea typeface="Calibri" pitchFamily="34" charset="-122"/>
                <a:cs typeface="Calibri" pitchFamily="34" charset="-120"/>
              </a:rPr>
              <a:t>Actor: 사용자</a:t>
            </a:r>
            <a:endParaRPr lang="en-US" sz="900" dirty="0"/>
          </a:p>
        </p:txBody>
      </p:sp>
      <p:sp>
        <p:nvSpPr>
          <p:cNvPr id="8" name="Shape 6"/>
          <p:cNvSpPr/>
          <p:nvPr/>
        </p:nvSpPr>
        <p:spPr>
          <a:xfrm>
            <a:off x="3017520" y="1435608"/>
            <a:ext cx="1325880" cy="256032"/>
          </a:xfrm>
          <a:prstGeom prst="roundRect">
            <a:avLst>
              <a:gd name="adj" fmla="val 25000"/>
            </a:avLst>
          </a:prstGeom>
          <a:solidFill>
            <a:srgbClr val="E53E3E"/>
          </a:solidFill>
          <a:ln w="12700">
            <a:solidFill>
              <a:srgbClr val="E53E3E"/>
            </a:solidFill>
            <a:prstDash val="solid"/>
          </a:ln>
        </p:spPr>
      </p:sp>
      <p:sp>
        <p:nvSpPr>
          <p:cNvPr id="9" name="Text 7"/>
          <p:cNvSpPr/>
          <p:nvPr/>
        </p:nvSpPr>
        <p:spPr>
          <a:xfrm>
            <a:off x="3017520" y="1435608"/>
            <a:ext cx="13258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High</a:t>
            </a:r>
            <a:endParaRPr lang="en-US" sz="900" dirty="0"/>
          </a:p>
        </p:txBody>
      </p:sp>
      <p:sp>
        <p:nvSpPr>
          <p:cNvPr id="10" name="Shape 8"/>
          <p:cNvSpPr/>
          <p:nvPr/>
        </p:nvSpPr>
        <p:spPr>
          <a:xfrm>
            <a:off x="4663440" y="1051560"/>
            <a:ext cx="4206240" cy="804672"/>
          </a:xfrm>
          <a:prstGeom prst="roundRect">
            <a:avLst>
              <a:gd name="adj" fmla="val 10227"/>
            </a:avLst>
          </a:prstGeom>
          <a:solidFill>
            <a:srgbClr val="F0F7FF"/>
          </a:solidFill>
          <a:ln w="12700">
            <a:solidFill>
              <a:srgbClr val="C8E0E8"/>
            </a:solidFill>
            <a:prstDash val="solid"/>
          </a:ln>
          <a:effectLst>
            <a:outerShdw sx="100000" sy="100000" kx="0" ky="0" algn="bl" rotWithShape="0" blurRad="101600" dist="25400" dir="2700000">
              <a:srgbClr val="000000">
                <a:alpha val="10000"/>
              </a:srgbClr>
            </a:outerShdw>
          </a:effectLst>
        </p:spPr>
      </p:sp>
      <p:sp>
        <p:nvSpPr>
          <p:cNvPr id="11" name="Text 9"/>
          <p:cNvSpPr/>
          <p:nvPr/>
        </p:nvSpPr>
        <p:spPr>
          <a:xfrm>
            <a:off x="4773168" y="1097280"/>
            <a:ext cx="914400" cy="274320"/>
          </a:xfrm>
          <a:prstGeom prst="rect">
            <a:avLst/>
          </a:prstGeom>
          <a:noFill/>
          <a:ln/>
        </p:spPr>
        <p:txBody>
          <a:bodyPr wrap="square" rtlCol="0" anchor="ctr"/>
          <a:lstStyle/>
          <a:p>
            <a:pPr indent="0" marL="0">
              <a:buNone/>
            </a:pPr>
            <a:r>
              <a:rPr lang="en-US" sz="1000" b="1" dirty="0">
                <a:solidFill>
                  <a:srgbClr val="028090"/>
                </a:solidFill>
                <a:latin typeface="Calibri" pitchFamily="34" charset="0"/>
                <a:ea typeface="Calibri" pitchFamily="34" charset="-122"/>
                <a:cs typeface="Calibri" pitchFamily="34" charset="-120"/>
              </a:rPr>
              <a:t>UC-002</a:t>
            </a:r>
            <a:endParaRPr lang="en-US" sz="1000" dirty="0"/>
          </a:p>
        </p:txBody>
      </p:sp>
      <p:sp>
        <p:nvSpPr>
          <p:cNvPr id="12" name="Text 10"/>
          <p:cNvSpPr/>
          <p:nvPr/>
        </p:nvSpPr>
        <p:spPr>
          <a:xfrm>
            <a:off x="4773168" y="1399032"/>
            <a:ext cx="2560320" cy="274320"/>
          </a:xfrm>
          <a:prstGeom prst="rect">
            <a:avLst/>
          </a:prstGeom>
          <a:noFill/>
          <a:ln/>
        </p:spPr>
        <p:txBody>
          <a:bodyPr wrap="square" rtlCol="0" anchor="ctr"/>
          <a:lstStyle/>
          <a:p>
            <a:pPr indent="0" marL="0">
              <a:buNone/>
            </a:pPr>
            <a:r>
              <a:rPr lang="en-US" sz="1100" b="1" dirty="0">
                <a:solidFill>
                  <a:srgbClr val="1A2B3C"/>
                </a:solidFill>
                <a:latin typeface="Calibri" pitchFamily="34" charset="0"/>
                <a:ea typeface="Calibri" pitchFamily="34" charset="-122"/>
                <a:cs typeface="Calibri" pitchFamily="34" charset="-120"/>
              </a:rPr>
              <a:t>유량 현황 조회</a:t>
            </a:r>
            <a:endParaRPr lang="en-US" sz="1100" dirty="0"/>
          </a:p>
        </p:txBody>
      </p:sp>
      <p:sp>
        <p:nvSpPr>
          <p:cNvPr id="13" name="Text 11"/>
          <p:cNvSpPr/>
          <p:nvPr/>
        </p:nvSpPr>
        <p:spPr>
          <a:xfrm>
            <a:off x="7406640" y="1097280"/>
            <a:ext cx="1325880" cy="256032"/>
          </a:xfrm>
          <a:prstGeom prst="rect">
            <a:avLst/>
          </a:prstGeom>
          <a:noFill/>
          <a:ln/>
        </p:spPr>
        <p:txBody>
          <a:bodyPr wrap="square" rtlCol="0" anchor="ctr"/>
          <a:lstStyle/>
          <a:p>
            <a:pPr indent="0" marL="0">
              <a:buNone/>
            </a:pPr>
            <a:r>
              <a:rPr lang="en-US" sz="900" dirty="0">
                <a:solidFill>
                  <a:srgbClr val="4A6A80"/>
                </a:solidFill>
                <a:latin typeface="Calibri" pitchFamily="34" charset="0"/>
                <a:ea typeface="Calibri" pitchFamily="34" charset="-122"/>
                <a:cs typeface="Calibri" pitchFamily="34" charset="-120"/>
              </a:rPr>
              <a:t>Actor: 사용자</a:t>
            </a:r>
            <a:endParaRPr lang="en-US" sz="900" dirty="0"/>
          </a:p>
        </p:txBody>
      </p:sp>
      <p:sp>
        <p:nvSpPr>
          <p:cNvPr id="14" name="Shape 12"/>
          <p:cNvSpPr/>
          <p:nvPr/>
        </p:nvSpPr>
        <p:spPr>
          <a:xfrm>
            <a:off x="7406640" y="1435608"/>
            <a:ext cx="1325880" cy="256032"/>
          </a:xfrm>
          <a:prstGeom prst="roundRect">
            <a:avLst>
              <a:gd name="adj" fmla="val 25000"/>
            </a:avLst>
          </a:prstGeom>
          <a:solidFill>
            <a:srgbClr val="E53E3E"/>
          </a:solidFill>
          <a:ln w="12700">
            <a:solidFill>
              <a:srgbClr val="E53E3E"/>
            </a:solidFill>
            <a:prstDash val="solid"/>
          </a:ln>
        </p:spPr>
      </p:sp>
      <p:sp>
        <p:nvSpPr>
          <p:cNvPr id="15" name="Text 13"/>
          <p:cNvSpPr/>
          <p:nvPr/>
        </p:nvSpPr>
        <p:spPr>
          <a:xfrm>
            <a:off x="7406640" y="1435608"/>
            <a:ext cx="13258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High</a:t>
            </a:r>
            <a:endParaRPr lang="en-US" sz="900" dirty="0"/>
          </a:p>
        </p:txBody>
      </p:sp>
      <p:sp>
        <p:nvSpPr>
          <p:cNvPr id="16" name="Shape 14"/>
          <p:cNvSpPr/>
          <p:nvPr/>
        </p:nvSpPr>
        <p:spPr>
          <a:xfrm>
            <a:off x="274320" y="1984248"/>
            <a:ext cx="4206240" cy="804672"/>
          </a:xfrm>
          <a:prstGeom prst="roundRect">
            <a:avLst>
              <a:gd name="adj" fmla="val 10227"/>
            </a:avLst>
          </a:prstGeom>
          <a:solidFill>
            <a:srgbClr val="F0F7FF"/>
          </a:solidFill>
          <a:ln w="12700">
            <a:solidFill>
              <a:srgbClr val="C8E0E8"/>
            </a:solidFill>
            <a:prstDash val="solid"/>
          </a:ln>
          <a:effectLst>
            <a:outerShdw sx="100000" sy="100000" kx="0" ky="0" algn="bl" rotWithShape="0" blurRad="101600" dist="25400" dir="2700000">
              <a:srgbClr val="000000">
                <a:alpha val="10000"/>
              </a:srgbClr>
            </a:outerShdw>
          </a:effectLst>
        </p:spPr>
      </p:sp>
      <p:sp>
        <p:nvSpPr>
          <p:cNvPr id="17" name="Text 15"/>
          <p:cNvSpPr/>
          <p:nvPr/>
        </p:nvSpPr>
        <p:spPr>
          <a:xfrm>
            <a:off x="384048" y="2029968"/>
            <a:ext cx="914400" cy="274320"/>
          </a:xfrm>
          <a:prstGeom prst="rect">
            <a:avLst/>
          </a:prstGeom>
          <a:noFill/>
          <a:ln/>
        </p:spPr>
        <p:txBody>
          <a:bodyPr wrap="square" rtlCol="0" anchor="ctr"/>
          <a:lstStyle/>
          <a:p>
            <a:pPr indent="0" marL="0">
              <a:buNone/>
            </a:pPr>
            <a:r>
              <a:rPr lang="en-US" sz="1000" b="1" dirty="0">
                <a:solidFill>
                  <a:srgbClr val="028090"/>
                </a:solidFill>
                <a:latin typeface="Calibri" pitchFamily="34" charset="0"/>
                <a:ea typeface="Calibri" pitchFamily="34" charset="-122"/>
                <a:cs typeface="Calibri" pitchFamily="34" charset="-120"/>
              </a:rPr>
              <a:t>UC-003</a:t>
            </a:r>
            <a:endParaRPr lang="en-US" sz="1000" dirty="0"/>
          </a:p>
        </p:txBody>
      </p:sp>
      <p:sp>
        <p:nvSpPr>
          <p:cNvPr id="18" name="Text 16"/>
          <p:cNvSpPr/>
          <p:nvPr/>
        </p:nvSpPr>
        <p:spPr>
          <a:xfrm>
            <a:off x="384048" y="2331720"/>
            <a:ext cx="2560320" cy="274320"/>
          </a:xfrm>
          <a:prstGeom prst="rect">
            <a:avLst/>
          </a:prstGeom>
          <a:noFill/>
          <a:ln/>
        </p:spPr>
        <p:txBody>
          <a:bodyPr wrap="square" rtlCol="0" anchor="ctr"/>
          <a:lstStyle/>
          <a:p>
            <a:pPr indent="0" marL="0">
              <a:buNone/>
            </a:pPr>
            <a:r>
              <a:rPr lang="en-US" sz="1100" b="1" dirty="0">
                <a:solidFill>
                  <a:srgbClr val="1A2B3C"/>
                </a:solidFill>
                <a:latin typeface="Calibri" pitchFamily="34" charset="0"/>
                <a:ea typeface="Calibri" pitchFamily="34" charset="-122"/>
                <a:cs typeface="Calibri" pitchFamily="34" charset="-120"/>
              </a:rPr>
              <a:t>정수장 목록 조회</a:t>
            </a:r>
            <a:endParaRPr lang="en-US" sz="1100" dirty="0"/>
          </a:p>
        </p:txBody>
      </p:sp>
      <p:sp>
        <p:nvSpPr>
          <p:cNvPr id="19" name="Text 17"/>
          <p:cNvSpPr/>
          <p:nvPr/>
        </p:nvSpPr>
        <p:spPr>
          <a:xfrm>
            <a:off x="3017520" y="2029968"/>
            <a:ext cx="1325880" cy="256032"/>
          </a:xfrm>
          <a:prstGeom prst="rect">
            <a:avLst/>
          </a:prstGeom>
          <a:noFill/>
          <a:ln/>
        </p:spPr>
        <p:txBody>
          <a:bodyPr wrap="square" rtlCol="0" anchor="ctr"/>
          <a:lstStyle/>
          <a:p>
            <a:pPr indent="0" marL="0">
              <a:buNone/>
            </a:pPr>
            <a:r>
              <a:rPr lang="en-US" sz="900" dirty="0">
                <a:solidFill>
                  <a:srgbClr val="4A6A80"/>
                </a:solidFill>
                <a:latin typeface="Calibri" pitchFamily="34" charset="0"/>
                <a:ea typeface="Calibri" pitchFamily="34" charset="-122"/>
                <a:cs typeface="Calibri" pitchFamily="34" charset="-120"/>
              </a:rPr>
              <a:t>Actor: 사용자</a:t>
            </a:r>
            <a:endParaRPr lang="en-US" sz="900" dirty="0"/>
          </a:p>
        </p:txBody>
      </p:sp>
      <p:sp>
        <p:nvSpPr>
          <p:cNvPr id="20" name="Shape 18"/>
          <p:cNvSpPr/>
          <p:nvPr/>
        </p:nvSpPr>
        <p:spPr>
          <a:xfrm>
            <a:off x="3017520" y="2368296"/>
            <a:ext cx="1325880" cy="256032"/>
          </a:xfrm>
          <a:prstGeom prst="roundRect">
            <a:avLst>
              <a:gd name="adj" fmla="val 25000"/>
            </a:avLst>
          </a:prstGeom>
          <a:solidFill>
            <a:srgbClr val="E53E3E"/>
          </a:solidFill>
          <a:ln w="12700">
            <a:solidFill>
              <a:srgbClr val="E53E3E"/>
            </a:solidFill>
            <a:prstDash val="solid"/>
          </a:ln>
        </p:spPr>
      </p:sp>
      <p:sp>
        <p:nvSpPr>
          <p:cNvPr id="21" name="Text 19"/>
          <p:cNvSpPr/>
          <p:nvPr/>
        </p:nvSpPr>
        <p:spPr>
          <a:xfrm>
            <a:off x="3017520" y="2368296"/>
            <a:ext cx="13258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High</a:t>
            </a:r>
            <a:endParaRPr lang="en-US" sz="900" dirty="0"/>
          </a:p>
        </p:txBody>
      </p:sp>
      <p:sp>
        <p:nvSpPr>
          <p:cNvPr id="22" name="Shape 20"/>
          <p:cNvSpPr/>
          <p:nvPr/>
        </p:nvSpPr>
        <p:spPr>
          <a:xfrm>
            <a:off x="4663440" y="1984248"/>
            <a:ext cx="4206240" cy="804672"/>
          </a:xfrm>
          <a:prstGeom prst="roundRect">
            <a:avLst>
              <a:gd name="adj" fmla="val 10227"/>
            </a:avLst>
          </a:prstGeom>
          <a:solidFill>
            <a:srgbClr val="F0F7FF"/>
          </a:solidFill>
          <a:ln w="12700">
            <a:solidFill>
              <a:srgbClr val="C8E0E8"/>
            </a:solidFill>
            <a:prstDash val="solid"/>
          </a:ln>
          <a:effectLst>
            <a:outerShdw sx="100000" sy="100000" kx="0" ky="0" algn="bl" rotWithShape="0" blurRad="101600" dist="25400" dir="2700000">
              <a:srgbClr val="000000">
                <a:alpha val="10000"/>
              </a:srgbClr>
            </a:outerShdw>
          </a:effectLst>
        </p:spPr>
      </p:sp>
      <p:sp>
        <p:nvSpPr>
          <p:cNvPr id="23" name="Text 21"/>
          <p:cNvSpPr/>
          <p:nvPr/>
        </p:nvSpPr>
        <p:spPr>
          <a:xfrm>
            <a:off x="4773168" y="2029968"/>
            <a:ext cx="914400" cy="274320"/>
          </a:xfrm>
          <a:prstGeom prst="rect">
            <a:avLst/>
          </a:prstGeom>
          <a:noFill/>
          <a:ln/>
        </p:spPr>
        <p:txBody>
          <a:bodyPr wrap="square" rtlCol="0" anchor="ctr"/>
          <a:lstStyle/>
          <a:p>
            <a:pPr indent="0" marL="0">
              <a:buNone/>
            </a:pPr>
            <a:r>
              <a:rPr lang="en-US" sz="1000" b="1" dirty="0">
                <a:solidFill>
                  <a:srgbClr val="028090"/>
                </a:solidFill>
                <a:latin typeface="Calibri" pitchFamily="34" charset="0"/>
                <a:ea typeface="Calibri" pitchFamily="34" charset="-122"/>
                <a:cs typeface="Calibri" pitchFamily="34" charset="-120"/>
              </a:rPr>
              <a:t>UC-004</a:t>
            </a:r>
            <a:endParaRPr lang="en-US" sz="1000" dirty="0"/>
          </a:p>
        </p:txBody>
      </p:sp>
      <p:sp>
        <p:nvSpPr>
          <p:cNvPr id="24" name="Text 22"/>
          <p:cNvSpPr/>
          <p:nvPr/>
        </p:nvSpPr>
        <p:spPr>
          <a:xfrm>
            <a:off x="4773168" y="2331720"/>
            <a:ext cx="2560320" cy="274320"/>
          </a:xfrm>
          <a:prstGeom prst="rect">
            <a:avLst/>
          </a:prstGeom>
          <a:noFill/>
          <a:ln/>
        </p:spPr>
        <p:txBody>
          <a:bodyPr wrap="square" rtlCol="0" anchor="ctr"/>
          <a:lstStyle/>
          <a:p>
            <a:pPr indent="0" marL="0">
              <a:buNone/>
            </a:pPr>
            <a:r>
              <a:rPr lang="en-US" sz="1100" b="1" dirty="0">
                <a:solidFill>
                  <a:srgbClr val="1A2B3C"/>
                </a:solidFill>
                <a:latin typeface="Calibri" pitchFamily="34" charset="0"/>
                <a:ea typeface="Calibri" pitchFamily="34" charset="-122"/>
                <a:cs typeface="Calibri" pitchFamily="34" charset="-120"/>
              </a:rPr>
              <a:t>AI 수질 분석</a:t>
            </a:r>
            <a:endParaRPr lang="en-US" sz="1100" dirty="0"/>
          </a:p>
        </p:txBody>
      </p:sp>
      <p:sp>
        <p:nvSpPr>
          <p:cNvPr id="25" name="Text 23"/>
          <p:cNvSpPr/>
          <p:nvPr/>
        </p:nvSpPr>
        <p:spPr>
          <a:xfrm>
            <a:off x="7406640" y="2029968"/>
            <a:ext cx="1325880" cy="256032"/>
          </a:xfrm>
          <a:prstGeom prst="rect">
            <a:avLst/>
          </a:prstGeom>
          <a:noFill/>
          <a:ln/>
        </p:spPr>
        <p:txBody>
          <a:bodyPr wrap="square" rtlCol="0" anchor="ctr"/>
          <a:lstStyle/>
          <a:p>
            <a:pPr indent="0" marL="0">
              <a:buNone/>
            </a:pPr>
            <a:r>
              <a:rPr lang="en-US" sz="900" dirty="0">
                <a:solidFill>
                  <a:srgbClr val="4A6A80"/>
                </a:solidFill>
                <a:latin typeface="Calibri" pitchFamily="34" charset="0"/>
                <a:ea typeface="Calibri" pitchFamily="34" charset="-122"/>
                <a:cs typeface="Calibri" pitchFamily="34" charset="-120"/>
              </a:rPr>
              <a:t>Actor: 사용자</a:t>
            </a:r>
            <a:endParaRPr lang="en-US" sz="900" dirty="0"/>
          </a:p>
        </p:txBody>
      </p:sp>
      <p:sp>
        <p:nvSpPr>
          <p:cNvPr id="26" name="Shape 24"/>
          <p:cNvSpPr/>
          <p:nvPr/>
        </p:nvSpPr>
        <p:spPr>
          <a:xfrm>
            <a:off x="7406640" y="2368296"/>
            <a:ext cx="1325880" cy="256032"/>
          </a:xfrm>
          <a:prstGeom prst="roundRect">
            <a:avLst>
              <a:gd name="adj" fmla="val 25000"/>
            </a:avLst>
          </a:prstGeom>
          <a:solidFill>
            <a:srgbClr val="E53E3E"/>
          </a:solidFill>
          <a:ln w="12700">
            <a:solidFill>
              <a:srgbClr val="E53E3E"/>
            </a:solidFill>
            <a:prstDash val="solid"/>
          </a:ln>
        </p:spPr>
      </p:sp>
      <p:sp>
        <p:nvSpPr>
          <p:cNvPr id="27" name="Text 25"/>
          <p:cNvSpPr/>
          <p:nvPr/>
        </p:nvSpPr>
        <p:spPr>
          <a:xfrm>
            <a:off x="7406640" y="2368296"/>
            <a:ext cx="13258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High</a:t>
            </a:r>
            <a:endParaRPr lang="en-US" sz="900" dirty="0"/>
          </a:p>
        </p:txBody>
      </p:sp>
      <p:sp>
        <p:nvSpPr>
          <p:cNvPr id="28" name="Shape 26"/>
          <p:cNvSpPr/>
          <p:nvPr/>
        </p:nvSpPr>
        <p:spPr>
          <a:xfrm>
            <a:off x="274320" y="2916936"/>
            <a:ext cx="4206240" cy="804672"/>
          </a:xfrm>
          <a:prstGeom prst="roundRect">
            <a:avLst>
              <a:gd name="adj" fmla="val 10227"/>
            </a:avLst>
          </a:prstGeom>
          <a:solidFill>
            <a:srgbClr val="F0F7FF"/>
          </a:solidFill>
          <a:ln w="12700">
            <a:solidFill>
              <a:srgbClr val="C8E0E8"/>
            </a:solidFill>
            <a:prstDash val="solid"/>
          </a:ln>
          <a:effectLst>
            <a:outerShdw sx="100000" sy="100000" kx="0" ky="0" algn="bl" rotWithShape="0" blurRad="101600" dist="25400" dir="2700000">
              <a:srgbClr val="000000">
                <a:alpha val="10000"/>
              </a:srgbClr>
            </a:outerShdw>
          </a:effectLst>
        </p:spPr>
      </p:sp>
      <p:sp>
        <p:nvSpPr>
          <p:cNvPr id="29" name="Text 27"/>
          <p:cNvSpPr/>
          <p:nvPr/>
        </p:nvSpPr>
        <p:spPr>
          <a:xfrm>
            <a:off x="384048" y="2962656"/>
            <a:ext cx="914400" cy="274320"/>
          </a:xfrm>
          <a:prstGeom prst="rect">
            <a:avLst/>
          </a:prstGeom>
          <a:noFill/>
          <a:ln/>
        </p:spPr>
        <p:txBody>
          <a:bodyPr wrap="square" rtlCol="0" anchor="ctr"/>
          <a:lstStyle/>
          <a:p>
            <a:pPr indent="0" marL="0">
              <a:buNone/>
            </a:pPr>
            <a:r>
              <a:rPr lang="en-US" sz="1000" b="1" dirty="0">
                <a:solidFill>
                  <a:srgbClr val="028090"/>
                </a:solidFill>
                <a:latin typeface="Calibri" pitchFamily="34" charset="0"/>
                <a:ea typeface="Calibri" pitchFamily="34" charset="-122"/>
                <a:cs typeface="Calibri" pitchFamily="34" charset="-120"/>
              </a:rPr>
              <a:t>UC-005</a:t>
            </a:r>
            <a:endParaRPr lang="en-US" sz="1000" dirty="0"/>
          </a:p>
        </p:txBody>
      </p:sp>
      <p:sp>
        <p:nvSpPr>
          <p:cNvPr id="30" name="Text 28"/>
          <p:cNvSpPr/>
          <p:nvPr/>
        </p:nvSpPr>
        <p:spPr>
          <a:xfrm>
            <a:off x="384048" y="3264408"/>
            <a:ext cx="2560320" cy="274320"/>
          </a:xfrm>
          <a:prstGeom prst="rect">
            <a:avLst/>
          </a:prstGeom>
          <a:noFill/>
          <a:ln/>
        </p:spPr>
        <p:txBody>
          <a:bodyPr wrap="square" rtlCol="0" anchor="ctr"/>
          <a:lstStyle/>
          <a:p>
            <a:pPr indent="0" marL="0">
              <a:buNone/>
            </a:pPr>
            <a:r>
              <a:rPr lang="en-US" sz="1100" b="1" dirty="0">
                <a:solidFill>
                  <a:srgbClr val="1A2B3C"/>
                </a:solidFill>
                <a:latin typeface="Calibri" pitchFamily="34" charset="0"/>
                <a:ea typeface="Calibri" pitchFamily="34" charset="-122"/>
                <a:cs typeface="Calibri" pitchFamily="34" charset="-120"/>
              </a:rPr>
              <a:t>수질 관련 뉴스 조회</a:t>
            </a:r>
            <a:endParaRPr lang="en-US" sz="1100" dirty="0"/>
          </a:p>
        </p:txBody>
      </p:sp>
      <p:sp>
        <p:nvSpPr>
          <p:cNvPr id="31" name="Text 29"/>
          <p:cNvSpPr/>
          <p:nvPr/>
        </p:nvSpPr>
        <p:spPr>
          <a:xfrm>
            <a:off x="3017520" y="2962656"/>
            <a:ext cx="1325880" cy="256032"/>
          </a:xfrm>
          <a:prstGeom prst="rect">
            <a:avLst/>
          </a:prstGeom>
          <a:noFill/>
          <a:ln/>
        </p:spPr>
        <p:txBody>
          <a:bodyPr wrap="square" rtlCol="0" anchor="ctr"/>
          <a:lstStyle/>
          <a:p>
            <a:pPr indent="0" marL="0">
              <a:buNone/>
            </a:pPr>
            <a:r>
              <a:rPr lang="en-US" sz="900" dirty="0">
                <a:solidFill>
                  <a:srgbClr val="4A6A80"/>
                </a:solidFill>
                <a:latin typeface="Calibri" pitchFamily="34" charset="0"/>
                <a:ea typeface="Calibri" pitchFamily="34" charset="-122"/>
                <a:cs typeface="Calibri" pitchFamily="34" charset="-120"/>
              </a:rPr>
              <a:t>Actor: 사용자</a:t>
            </a:r>
            <a:endParaRPr lang="en-US" sz="900" dirty="0"/>
          </a:p>
        </p:txBody>
      </p:sp>
      <p:sp>
        <p:nvSpPr>
          <p:cNvPr id="32" name="Shape 30"/>
          <p:cNvSpPr/>
          <p:nvPr/>
        </p:nvSpPr>
        <p:spPr>
          <a:xfrm>
            <a:off x="3017520" y="3300984"/>
            <a:ext cx="1325880" cy="256032"/>
          </a:xfrm>
          <a:prstGeom prst="roundRect">
            <a:avLst>
              <a:gd name="adj" fmla="val 25000"/>
            </a:avLst>
          </a:prstGeom>
          <a:solidFill>
            <a:srgbClr val="DD6B20"/>
          </a:solidFill>
          <a:ln w="12700">
            <a:solidFill>
              <a:srgbClr val="DD6B20"/>
            </a:solidFill>
            <a:prstDash val="solid"/>
          </a:ln>
        </p:spPr>
      </p:sp>
      <p:sp>
        <p:nvSpPr>
          <p:cNvPr id="33" name="Text 31"/>
          <p:cNvSpPr/>
          <p:nvPr/>
        </p:nvSpPr>
        <p:spPr>
          <a:xfrm>
            <a:off x="3017520" y="3300984"/>
            <a:ext cx="13258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Medium</a:t>
            </a:r>
            <a:endParaRPr lang="en-US" sz="900" dirty="0"/>
          </a:p>
        </p:txBody>
      </p:sp>
      <p:sp>
        <p:nvSpPr>
          <p:cNvPr id="34" name="Shape 32"/>
          <p:cNvSpPr/>
          <p:nvPr/>
        </p:nvSpPr>
        <p:spPr>
          <a:xfrm>
            <a:off x="4663440" y="2916936"/>
            <a:ext cx="4206240" cy="804672"/>
          </a:xfrm>
          <a:prstGeom prst="roundRect">
            <a:avLst>
              <a:gd name="adj" fmla="val 10227"/>
            </a:avLst>
          </a:prstGeom>
          <a:solidFill>
            <a:srgbClr val="F0F7FF"/>
          </a:solidFill>
          <a:ln w="12700">
            <a:solidFill>
              <a:srgbClr val="C8E0E8"/>
            </a:solidFill>
            <a:prstDash val="solid"/>
          </a:ln>
          <a:effectLst>
            <a:outerShdw sx="100000" sy="100000" kx="0" ky="0" algn="bl" rotWithShape="0" blurRad="101600" dist="25400" dir="2700000">
              <a:srgbClr val="000000">
                <a:alpha val="10000"/>
              </a:srgbClr>
            </a:outerShdw>
          </a:effectLst>
        </p:spPr>
      </p:sp>
      <p:sp>
        <p:nvSpPr>
          <p:cNvPr id="35" name="Text 33"/>
          <p:cNvSpPr/>
          <p:nvPr/>
        </p:nvSpPr>
        <p:spPr>
          <a:xfrm>
            <a:off x="4773168" y="2962656"/>
            <a:ext cx="914400" cy="274320"/>
          </a:xfrm>
          <a:prstGeom prst="rect">
            <a:avLst/>
          </a:prstGeom>
          <a:noFill/>
          <a:ln/>
        </p:spPr>
        <p:txBody>
          <a:bodyPr wrap="square" rtlCol="0" anchor="ctr"/>
          <a:lstStyle/>
          <a:p>
            <a:pPr indent="0" marL="0">
              <a:buNone/>
            </a:pPr>
            <a:r>
              <a:rPr lang="en-US" sz="1000" b="1" dirty="0">
                <a:solidFill>
                  <a:srgbClr val="028090"/>
                </a:solidFill>
                <a:latin typeface="Calibri" pitchFamily="34" charset="0"/>
                <a:ea typeface="Calibri" pitchFamily="34" charset="-122"/>
                <a:cs typeface="Calibri" pitchFamily="34" charset="-120"/>
              </a:rPr>
              <a:t>UC-006</a:t>
            </a:r>
            <a:endParaRPr lang="en-US" sz="1000" dirty="0"/>
          </a:p>
        </p:txBody>
      </p:sp>
      <p:sp>
        <p:nvSpPr>
          <p:cNvPr id="36" name="Text 34"/>
          <p:cNvSpPr/>
          <p:nvPr/>
        </p:nvSpPr>
        <p:spPr>
          <a:xfrm>
            <a:off x="4773168" y="3264408"/>
            <a:ext cx="2560320" cy="274320"/>
          </a:xfrm>
          <a:prstGeom prst="rect">
            <a:avLst/>
          </a:prstGeom>
          <a:noFill/>
          <a:ln/>
        </p:spPr>
        <p:txBody>
          <a:bodyPr wrap="square" rtlCol="0" anchor="ctr"/>
          <a:lstStyle/>
          <a:p>
            <a:pPr indent="0" marL="0">
              <a:buNone/>
            </a:pPr>
            <a:r>
              <a:rPr lang="en-US" sz="1100" b="1" dirty="0">
                <a:solidFill>
                  <a:srgbClr val="1A2B3C"/>
                </a:solidFill>
                <a:latin typeface="Calibri" pitchFamily="34" charset="0"/>
                <a:ea typeface="Calibri" pitchFamily="34" charset="-122"/>
                <a:cs typeface="Calibri" pitchFamily="34" charset="-120"/>
              </a:rPr>
              <a:t>캐시 데이터 조회</a:t>
            </a:r>
            <a:endParaRPr lang="en-US" sz="1100" dirty="0"/>
          </a:p>
        </p:txBody>
      </p:sp>
      <p:sp>
        <p:nvSpPr>
          <p:cNvPr id="37" name="Text 35"/>
          <p:cNvSpPr/>
          <p:nvPr/>
        </p:nvSpPr>
        <p:spPr>
          <a:xfrm>
            <a:off x="7406640" y="2962656"/>
            <a:ext cx="1325880" cy="256032"/>
          </a:xfrm>
          <a:prstGeom prst="rect">
            <a:avLst/>
          </a:prstGeom>
          <a:noFill/>
          <a:ln/>
        </p:spPr>
        <p:txBody>
          <a:bodyPr wrap="square" rtlCol="0" anchor="ctr"/>
          <a:lstStyle/>
          <a:p>
            <a:pPr indent="0" marL="0">
              <a:buNone/>
            </a:pPr>
            <a:r>
              <a:rPr lang="en-US" sz="900" dirty="0">
                <a:solidFill>
                  <a:srgbClr val="4A6A80"/>
                </a:solidFill>
                <a:latin typeface="Calibri" pitchFamily="34" charset="0"/>
                <a:ea typeface="Calibri" pitchFamily="34" charset="-122"/>
                <a:cs typeface="Calibri" pitchFamily="34" charset="-120"/>
              </a:rPr>
              <a:t>Actor: 시스템</a:t>
            </a:r>
            <a:endParaRPr lang="en-US" sz="900" dirty="0"/>
          </a:p>
        </p:txBody>
      </p:sp>
      <p:sp>
        <p:nvSpPr>
          <p:cNvPr id="38" name="Shape 36"/>
          <p:cNvSpPr/>
          <p:nvPr/>
        </p:nvSpPr>
        <p:spPr>
          <a:xfrm>
            <a:off x="7406640" y="3300984"/>
            <a:ext cx="1325880" cy="256032"/>
          </a:xfrm>
          <a:prstGeom prst="roundRect">
            <a:avLst>
              <a:gd name="adj" fmla="val 25000"/>
            </a:avLst>
          </a:prstGeom>
          <a:solidFill>
            <a:srgbClr val="DD6B20"/>
          </a:solidFill>
          <a:ln w="12700">
            <a:solidFill>
              <a:srgbClr val="DD6B20"/>
            </a:solidFill>
            <a:prstDash val="solid"/>
          </a:ln>
        </p:spPr>
      </p:sp>
      <p:sp>
        <p:nvSpPr>
          <p:cNvPr id="39" name="Text 37"/>
          <p:cNvSpPr/>
          <p:nvPr/>
        </p:nvSpPr>
        <p:spPr>
          <a:xfrm>
            <a:off x="7406640" y="3300984"/>
            <a:ext cx="13258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Medium</a:t>
            </a:r>
            <a:endParaRPr lang="en-US" sz="900" dirty="0"/>
          </a:p>
        </p:txBody>
      </p:sp>
      <p:sp>
        <p:nvSpPr>
          <p:cNvPr id="40" name="Shape 38"/>
          <p:cNvSpPr/>
          <p:nvPr/>
        </p:nvSpPr>
        <p:spPr>
          <a:xfrm>
            <a:off x="274320" y="3849624"/>
            <a:ext cx="4206240" cy="804672"/>
          </a:xfrm>
          <a:prstGeom prst="roundRect">
            <a:avLst>
              <a:gd name="adj" fmla="val 10227"/>
            </a:avLst>
          </a:prstGeom>
          <a:solidFill>
            <a:srgbClr val="F0F7FF"/>
          </a:solidFill>
          <a:ln w="12700">
            <a:solidFill>
              <a:srgbClr val="C8E0E8"/>
            </a:solidFill>
            <a:prstDash val="solid"/>
          </a:ln>
          <a:effectLst>
            <a:outerShdw sx="100000" sy="100000" kx="0" ky="0" algn="bl" rotWithShape="0" blurRad="101600" dist="25400" dir="2700000">
              <a:srgbClr val="000000">
                <a:alpha val="10000"/>
              </a:srgbClr>
            </a:outerShdw>
          </a:effectLst>
        </p:spPr>
      </p:sp>
      <p:sp>
        <p:nvSpPr>
          <p:cNvPr id="41" name="Text 39"/>
          <p:cNvSpPr/>
          <p:nvPr/>
        </p:nvSpPr>
        <p:spPr>
          <a:xfrm>
            <a:off x="384048" y="3895344"/>
            <a:ext cx="914400" cy="274320"/>
          </a:xfrm>
          <a:prstGeom prst="rect">
            <a:avLst/>
          </a:prstGeom>
          <a:noFill/>
          <a:ln/>
        </p:spPr>
        <p:txBody>
          <a:bodyPr wrap="square" rtlCol="0" anchor="ctr"/>
          <a:lstStyle/>
          <a:p>
            <a:pPr indent="0" marL="0">
              <a:buNone/>
            </a:pPr>
            <a:r>
              <a:rPr lang="en-US" sz="1000" b="1" dirty="0">
                <a:solidFill>
                  <a:srgbClr val="028090"/>
                </a:solidFill>
                <a:latin typeface="Calibri" pitchFamily="34" charset="0"/>
                <a:ea typeface="Calibri" pitchFamily="34" charset="-122"/>
                <a:cs typeface="Calibri" pitchFamily="34" charset="-120"/>
              </a:rPr>
              <a:t>UC-007</a:t>
            </a:r>
            <a:endParaRPr lang="en-US" sz="1000" dirty="0"/>
          </a:p>
        </p:txBody>
      </p:sp>
      <p:sp>
        <p:nvSpPr>
          <p:cNvPr id="42" name="Text 40"/>
          <p:cNvSpPr/>
          <p:nvPr/>
        </p:nvSpPr>
        <p:spPr>
          <a:xfrm>
            <a:off x="384048" y="4197096"/>
            <a:ext cx="2560320" cy="274320"/>
          </a:xfrm>
          <a:prstGeom prst="rect">
            <a:avLst/>
          </a:prstGeom>
          <a:noFill/>
          <a:ln/>
        </p:spPr>
        <p:txBody>
          <a:bodyPr wrap="square" rtlCol="0" anchor="ctr"/>
          <a:lstStyle/>
          <a:p>
            <a:pPr indent="0" marL="0">
              <a:buNone/>
            </a:pPr>
            <a:r>
              <a:rPr lang="en-US" sz="1100" b="1" dirty="0">
                <a:solidFill>
                  <a:srgbClr val="1A2B3C"/>
                </a:solidFill>
                <a:latin typeface="Calibri" pitchFamily="34" charset="0"/>
                <a:ea typeface="Calibri" pitchFamily="34" charset="-122"/>
                <a:cs typeface="Calibri" pitchFamily="34" charset="-120"/>
              </a:rPr>
              <a:t>API 오류 대응</a:t>
            </a:r>
            <a:endParaRPr lang="en-US" sz="1100" dirty="0"/>
          </a:p>
        </p:txBody>
      </p:sp>
      <p:sp>
        <p:nvSpPr>
          <p:cNvPr id="43" name="Text 41"/>
          <p:cNvSpPr/>
          <p:nvPr/>
        </p:nvSpPr>
        <p:spPr>
          <a:xfrm>
            <a:off x="3017520" y="3895344"/>
            <a:ext cx="1325880" cy="256032"/>
          </a:xfrm>
          <a:prstGeom prst="rect">
            <a:avLst/>
          </a:prstGeom>
          <a:noFill/>
          <a:ln/>
        </p:spPr>
        <p:txBody>
          <a:bodyPr wrap="square" rtlCol="0" anchor="ctr"/>
          <a:lstStyle/>
          <a:p>
            <a:pPr indent="0" marL="0">
              <a:buNone/>
            </a:pPr>
            <a:r>
              <a:rPr lang="en-US" sz="900" dirty="0">
                <a:solidFill>
                  <a:srgbClr val="4A6A80"/>
                </a:solidFill>
                <a:latin typeface="Calibri" pitchFamily="34" charset="0"/>
                <a:ea typeface="Calibri" pitchFamily="34" charset="-122"/>
                <a:cs typeface="Calibri" pitchFamily="34" charset="-120"/>
              </a:rPr>
              <a:t>Actor: 시스템</a:t>
            </a:r>
            <a:endParaRPr lang="en-US" sz="900" dirty="0"/>
          </a:p>
        </p:txBody>
      </p:sp>
      <p:sp>
        <p:nvSpPr>
          <p:cNvPr id="44" name="Shape 42"/>
          <p:cNvSpPr/>
          <p:nvPr/>
        </p:nvSpPr>
        <p:spPr>
          <a:xfrm>
            <a:off x="3017520" y="4233672"/>
            <a:ext cx="1325880" cy="256032"/>
          </a:xfrm>
          <a:prstGeom prst="roundRect">
            <a:avLst>
              <a:gd name="adj" fmla="val 25000"/>
            </a:avLst>
          </a:prstGeom>
          <a:solidFill>
            <a:srgbClr val="E53E3E"/>
          </a:solidFill>
          <a:ln w="12700">
            <a:solidFill>
              <a:srgbClr val="E53E3E"/>
            </a:solidFill>
            <a:prstDash val="solid"/>
          </a:ln>
        </p:spPr>
      </p:sp>
      <p:sp>
        <p:nvSpPr>
          <p:cNvPr id="45" name="Text 43"/>
          <p:cNvSpPr/>
          <p:nvPr/>
        </p:nvSpPr>
        <p:spPr>
          <a:xfrm>
            <a:off x="3017520" y="4233672"/>
            <a:ext cx="13258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High</a:t>
            </a:r>
            <a:endParaRPr lang="en-US" sz="900" dirty="0"/>
          </a:p>
        </p:txBody>
      </p:sp>
      <p:sp>
        <p:nvSpPr>
          <p:cNvPr id="46" name="Shape 44"/>
          <p:cNvSpPr/>
          <p:nvPr/>
        </p:nvSpPr>
        <p:spPr>
          <a:xfrm>
            <a:off x="4663440" y="3849624"/>
            <a:ext cx="4206240" cy="804672"/>
          </a:xfrm>
          <a:prstGeom prst="roundRect">
            <a:avLst>
              <a:gd name="adj" fmla="val 10227"/>
            </a:avLst>
          </a:prstGeom>
          <a:solidFill>
            <a:srgbClr val="F0F7FF"/>
          </a:solidFill>
          <a:ln w="12700">
            <a:solidFill>
              <a:srgbClr val="C8E0E8"/>
            </a:solidFill>
            <a:prstDash val="solid"/>
          </a:ln>
          <a:effectLst>
            <a:outerShdw sx="100000" sy="100000" kx="0" ky="0" algn="bl" rotWithShape="0" blurRad="101600" dist="25400" dir="2700000">
              <a:srgbClr val="000000">
                <a:alpha val="10000"/>
              </a:srgbClr>
            </a:outerShdw>
          </a:effectLst>
        </p:spPr>
      </p:sp>
      <p:sp>
        <p:nvSpPr>
          <p:cNvPr id="47" name="Text 45"/>
          <p:cNvSpPr/>
          <p:nvPr/>
        </p:nvSpPr>
        <p:spPr>
          <a:xfrm>
            <a:off x="4773168" y="3895344"/>
            <a:ext cx="914400" cy="274320"/>
          </a:xfrm>
          <a:prstGeom prst="rect">
            <a:avLst/>
          </a:prstGeom>
          <a:noFill/>
          <a:ln/>
        </p:spPr>
        <p:txBody>
          <a:bodyPr wrap="square" rtlCol="0" anchor="ctr"/>
          <a:lstStyle/>
          <a:p>
            <a:pPr indent="0" marL="0">
              <a:buNone/>
            </a:pPr>
            <a:r>
              <a:rPr lang="en-US" sz="1000" b="1" dirty="0">
                <a:solidFill>
                  <a:srgbClr val="028090"/>
                </a:solidFill>
                <a:latin typeface="Calibri" pitchFamily="34" charset="0"/>
                <a:ea typeface="Calibri" pitchFamily="34" charset="-122"/>
                <a:cs typeface="Calibri" pitchFamily="34" charset="-120"/>
              </a:rPr>
              <a:t>UC-008</a:t>
            </a:r>
            <a:endParaRPr lang="en-US" sz="1000" dirty="0"/>
          </a:p>
        </p:txBody>
      </p:sp>
      <p:sp>
        <p:nvSpPr>
          <p:cNvPr id="48" name="Text 46"/>
          <p:cNvSpPr/>
          <p:nvPr/>
        </p:nvSpPr>
        <p:spPr>
          <a:xfrm>
            <a:off x="4773168" y="4197096"/>
            <a:ext cx="2560320" cy="274320"/>
          </a:xfrm>
          <a:prstGeom prst="rect">
            <a:avLst/>
          </a:prstGeom>
          <a:noFill/>
          <a:ln/>
        </p:spPr>
        <p:txBody>
          <a:bodyPr wrap="square" rtlCol="0" anchor="ctr"/>
          <a:lstStyle/>
          <a:p>
            <a:pPr indent="0" marL="0">
              <a:buNone/>
            </a:pPr>
            <a:r>
              <a:rPr lang="en-US" sz="1100" b="1" dirty="0">
                <a:solidFill>
                  <a:srgbClr val="1A2B3C"/>
                </a:solidFill>
                <a:latin typeface="Calibri" pitchFamily="34" charset="0"/>
                <a:ea typeface="Calibri" pitchFamily="34" charset="-122"/>
                <a:cs typeface="Calibri" pitchFamily="34" charset="-120"/>
              </a:rPr>
              <a:t>데이터 갱신</a:t>
            </a:r>
            <a:endParaRPr lang="en-US" sz="1100" dirty="0"/>
          </a:p>
        </p:txBody>
      </p:sp>
      <p:sp>
        <p:nvSpPr>
          <p:cNvPr id="49" name="Text 47"/>
          <p:cNvSpPr/>
          <p:nvPr/>
        </p:nvSpPr>
        <p:spPr>
          <a:xfrm>
            <a:off x="7406640" y="3895344"/>
            <a:ext cx="1325880" cy="256032"/>
          </a:xfrm>
          <a:prstGeom prst="rect">
            <a:avLst/>
          </a:prstGeom>
          <a:noFill/>
          <a:ln/>
        </p:spPr>
        <p:txBody>
          <a:bodyPr wrap="square" rtlCol="0" anchor="ctr"/>
          <a:lstStyle/>
          <a:p>
            <a:pPr indent="0" marL="0">
              <a:buNone/>
            </a:pPr>
            <a:r>
              <a:rPr lang="en-US" sz="900" dirty="0">
                <a:solidFill>
                  <a:srgbClr val="4A6A80"/>
                </a:solidFill>
                <a:latin typeface="Calibri" pitchFamily="34" charset="0"/>
                <a:ea typeface="Calibri" pitchFamily="34" charset="-122"/>
                <a:cs typeface="Calibri" pitchFamily="34" charset="-120"/>
              </a:rPr>
              <a:t>Actor: 시스템</a:t>
            </a:r>
            <a:endParaRPr lang="en-US" sz="900" dirty="0"/>
          </a:p>
        </p:txBody>
      </p:sp>
      <p:sp>
        <p:nvSpPr>
          <p:cNvPr id="50" name="Shape 48"/>
          <p:cNvSpPr/>
          <p:nvPr/>
        </p:nvSpPr>
        <p:spPr>
          <a:xfrm>
            <a:off x="7406640" y="4233672"/>
            <a:ext cx="1325880" cy="256032"/>
          </a:xfrm>
          <a:prstGeom prst="roundRect">
            <a:avLst>
              <a:gd name="adj" fmla="val 25000"/>
            </a:avLst>
          </a:prstGeom>
          <a:solidFill>
            <a:srgbClr val="38A169"/>
          </a:solidFill>
          <a:ln w="12700">
            <a:solidFill>
              <a:srgbClr val="38A169"/>
            </a:solidFill>
            <a:prstDash val="solid"/>
          </a:ln>
        </p:spPr>
      </p:sp>
      <p:sp>
        <p:nvSpPr>
          <p:cNvPr id="51" name="Text 49"/>
          <p:cNvSpPr/>
          <p:nvPr/>
        </p:nvSpPr>
        <p:spPr>
          <a:xfrm>
            <a:off x="7406640" y="4233672"/>
            <a:ext cx="13258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Low</a:t>
            </a:r>
            <a:endParaRPr lang="en-US" sz="900" dirty="0"/>
          </a:p>
        </p:txBody>
      </p:sp>
      <p:sp>
        <p:nvSpPr>
          <p:cNvPr id="52" name="Shape 50"/>
          <p:cNvSpPr/>
          <p:nvPr/>
        </p:nvSpPr>
        <p:spPr>
          <a:xfrm>
            <a:off x="274320" y="4754880"/>
            <a:ext cx="8595360" cy="292608"/>
          </a:xfrm>
          <a:prstGeom prst="roundRect">
            <a:avLst>
              <a:gd name="adj" fmla="val 18750"/>
            </a:avLst>
          </a:prstGeom>
          <a:solidFill>
            <a:srgbClr val="FFF3E0"/>
          </a:solidFill>
          <a:ln w="12700">
            <a:solidFill>
              <a:srgbClr val="FF8C00"/>
            </a:solidFill>
            <a:prstDash val="solid"/>
          </a:ln>
        </p:spPr>
      </p:sp>
      <p:sp>
        <p:nvSpPr>
          <p:cNvPr id="53" name="Text 51"/>
          <p:cNvSpPr/>
          <p:nvPr/>
        </p:nvSpPr>
        <p:spPr>
          <a:xfrm>
            <a:off x="457200" y="4754880"/>
            <a:ext cx="8229600" cy="292608"/>
          </a:xfrm>
          <a:prstGeom prst="rect">
            <a:avLst/>
          </a:prstGeom>
          <a:noFill/>
          <a:ln/>
        </p:spPr>
        <p:txBody>
          <a:bodyPr wrap="square" rtlCol="0" anchor="ctr"/>
          <a:lstStyle/>
          <a:p>
            <a:pPr indent="0" marL="0">
              <a:buNone/>
            </a:pPr>
            <a:r>
              <a:rPr lang="en-US" sz="1000" b="1" dirty="0">
                <a:solidFill>
                  <a:srgbClr val="CC5500"/>
                </a:solidFill>
                <a:latin typeface="Calibri" pitchFamily="34" charset="0"/>
                <a:ea typeface="Calibri" pitchFamily="34" charset="-122"/>
                <a:cs typeface="Calibri" pitchFamily="34" charset="-120"/>
              </a:rPr>
              <a:t>💡 예외 흐름이 나중에 에러 처리 코드의 기반이 된다  |  AI에게 예외 상황을 추가로 물어보기</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28090"/>
          </a:solidFill>
          <a:ln w="12700">
            <a:solidFill>
              <a:srgbClr val="028090"/>
            </a:solidFill>
            <a:prstDash val="solid"/>
          </a:ln>
        </p:spPr>
      </p:sp>
      <p:sp>
        <p:nvSpPr>
          <p:cNvPr id="3" name="Text 1"/>
          <p:cNvSpPr/>
          <p:nvPr/>
        </p:nvSpPr>
        <p:spPr>
          <a:xfrm>
            <a:off x="365760" y="0"/>
            <a:ext cx="8412480" cy="9144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시스템 아키텍처 어떻게 결정하나?</a:t>
            </a:r>
            <a:endParaRPr lang="en-US" sz="2200" dirty="0"/>
          </a:p>
        </p:txBody>
      </p:sp>
      <p:sp>
        <p:nvSpPr>
          <p:cNvPr id="4" name="Shape 2"/>
          <p:cNvSpPr/>
          <p:nvPr/>
        </p:nvSpPr>
        <p:spPr>
          <a:xfrm>
            <a:off x="274320" y="1005840"/>
            <a:ext cx="1965960" cy="502920"/>
          </a:xfrm>
          <a:prstGeom prst="roundRect">
            <a:avLst>
              <a:gd name="adj" fmla="val 14545"/>
            </a:avLst>
          </a:prstGeom>
          <a:solidFill>
            <a:srgbClr val="028090">
              <a:alpha val="15000"/>
            </a:srgbClr>
          </a:solidFill>
          <a:ln w="12700">
            <a:solidFill>
              <a:srgbClr val="028090"/>
            </a:solidFill>
            <a:prstDash val="solid"/>
          </a:ln>
        </p:spPr>
      </p:sp>
      <p:sp>
        <p:nvSpPr>
          <p:cNvPr id="5" name="Text 3"/>
          <p:cNvSpPr/>
          <p:nvPr/>
        </p:nvSpPr>
        <p:spPr>
          <a:xfrm>
            <a:off x="274320" y="1005840"/>
            <a:ext cx="1965960" cy="502920"/>
          </a:xfrm>
          <a:prstGeom prst="rect">
            <a:avLst/>
          </a:prstGeom>
          <a:noFill/>
          <a:ln/>
        </p:spPr>
        <p:txBody>
          <a:bodyPr wrap="square" rtlCol="0" anchor="ctr"/>
          <a:lstStyle/>
          <a:p>
            <a:pPr algn="ctr" indent="0" marL="0">
              <a:buNone/>
            </a:pPr>
            <a:r>
              <a:rPr lang="en-US" sz="1100" b="1" dirty="0">
                <a:solidFill>
                  <a:srgbClr val="028090"/>
                </a:solidFill>
                <a:latin typeface="Calibri" pitchFamily="34" charset="0"/>
                <a:ea typeface="Calibri" pitchFamily="34" charset="-122"/>
                <a:cs typeface="Calibri" pitchFamily="34" charset="-120"/>
              </a:rPr>
              <a:t>팀 규모</a:t>
            </a:r>
            <a:endParaRPr lang="en-US" sz="1100" dirty="0"/>
          </a:p>
        </p:txBody>
      </p:sp>
      <p:sp>
        <p:nvSpPr>
          <p:cNvPr id="6" name="Shape 4"/>
          <p:cNvSpPr/>
          <p:nvPr/>
        </p:nvSpPr>
        <p:spPr>
          <a:xfrm>
            <a:off x="2423160" y="1005840"/>
            <a:ext cx="1965960" cy="502920"/>
          </a:xfrm>
          <a:prstGeom prst="roundRect">
            <a:avLst>
              <a:gd name="adj" fmla="val 14545"/>
            </a:avLst>
          </a:prstGeom>
          <a:solidFill>
            <a:srgbClr val="028090">
              <a:alpha val="15000"/>
            </a:srgbClr>
          </a:solidFill>
          <a:ln w="12700">
            <a:solidFill>
              <a:srgbClr val="028090"/>
            </a:solidFill>
            <a:prstDash val="solid"/>
          </a:ln>
        </p:spPr>
      </p:sp>
      <p:sp>
        <p:nvSpPr>
          <p:cNvPr id="7" name="Text 5"/>
          <p:cNvSpPr/>
          <p:nvPr/>
        </p:nvSpPr>
        <p:spPr>
          <a:xfrm>
            <a:off x="2423160" y="1005840"/>
            <a:ext cx="1965960" cy="502920"/>
          </a:xfrm>
          <a:prstGeom prst="rect">
            <a:avLst/>
          </a:prstGeom>
          <a:noFill/>
          <a:ln/>
        </p:spPr>
        <p:txBody>
          <a:bodyPr wrap="square" rtlCol="0" anchor="ctr"/>
          <a:lstStyle/>
          <a:p>
            <a:pPr algn="ctr" indent="0" marL="0">
              <a:buNone/>
            </a:pPr>
            <a:r>
              <a:rPr lang="en-US" sz="1100" b="1" dirty="0">
                <a:solidFill>
                  <a:srgbClr val="028090"/>
                </a:solidFill>
                <a:latin typeface="Calibri" pitchFamily="34" charset="0"/>
                <a:ea typeface="Calibri" pitchFamily="34" charset="-122"/>
                <a:cs typeface="Calibri" pitchFamily="34" charset="-120"/>
              </a:rPr>
              <a:t>기술 숙련도</a:t>
            </a:r>
            <a:endParaRPr lang="en-US" sz="1100" dirty="0"/>
          </a:p>
        </p:txBody>
      </p:sp>
      <p:sp>
        <p:nvSpPr>
          <p:cNvPr id="8" name="Shape 6"/>
          <p:cNvSpPr/>
          <p:nvPr/>
        </p:nvSpPr>
        <p:spPr>
          <a:xfrm>
            <a:off x="4572000" y="1005840"/>
            <a:ext cx="1965960" cy="502920"/>
          </a:xfrm>
          <a:prstGeom prst="roundRect">
            <a:avLst>
              <a:gd name="adj" fmla="val 14545"/>
            </a:avLst>
          </a:prstGeom>
          <a:solidFill>
            <a:srgbClr val="028090">
              <a:alpha val="15000"/>
            </a:srgbClr>
          </a:solidFill>
          <a:ln w="12700">
            <a:solidFill>
              <a:srgbClr val="028090"/>
            </a:solidFill>
            <a:prstDash val="solid"/>
          </a:ln>
        </p:spPr>
      </p:sp>
      <p:sp>
        <p:nvSpPr>
          <p:cNvPr id="9" name="Text 7"/>
          <p:cNvSpPr/>
          <p:nvPr/>
        </p:nvSpPr>
        <p:spPr>
          <a:xfrm>
            <a:off x="4572000" y="1005840"/>
            <a:ext cx="1965960" cy="502920"/>
          </a:xfrm>
          <a:prstGeom prst="rect">
            <a:avLst/>
          </a:prstGeom>
          <a:noFill/>
          <a:ln/>
        </p:spPr>
        <p:txBody>
          <a:bodyPr wrap="square" rtlCol="0" anchor="ctr"/>
          <a:lstStyle/>
          <a:p>
            <a:pPr algn="ctr" indent="0" marL="0">
              <a:buNone/>
            </a:pPr>
            <a:r>
              <a:rPr lang="en-US" sz="1100" b="1" dirty="0">
                <a:solidFill>
                  <a:srgbClr val="028090"/>
                </a:solidFill>
                <a:latin typeface="Calibri" pitchFamily="34" charset="0"/>
                <a:ea typeface="Calibri" pitchFamily="34" charset="-122"/>
                <a:cs typeface="Calibri" pitchFamily="34" charset="-120"/>
              </a:rPr>
              <a:t>MVP 범위</a:t>
            </a:r>
            <a:endParaRPr lang="en-US" sz="1100" dirty="0"/>
          </a:p>
        </p:txBody>
      </p:sp>
      <p:sp>
        <p:nvSpPr>
          <p:cNvPr id="10" name="Shape 8"/>
          <p:cNvSpPr/>
          <p:nvPr/>
        </p:nvSpPr>
        <p:spPr>
          <a:xfrm>
            <a:off x="6720840" y="1005840"/>
            <a:ext cx="1965960" cy="502920"/>
          </a:xfrm>
          <a:prstGeom prst="roundRect">
            <a:avLst>
              <a:gd name="adj" fmla="val 14545"/>
            </a:avLst>
          </a:prstGeom>
          <a:solidFill>
            <a:srgbClr val="028090">
              <a:alpha val="15000"/>
            </a:srgbClr>
          </a:solidFill>
          <a:ln w="12700">
            <a:solidFill>
              <a:srgbClr val="028090"/>
            </a:solidFill>
            <a:prstDash val="solid"/>
          </a:ln>
        </p:spPr>
      </p:sp>
      <p:sp>
        <p:nvSpPr>
          <p:cNvPr id="11" name="Text 9"/>
          <p:cNvSpPr/>
          <p:nvPr/>
        </p:nvSpPr>
        <p:spPr>
          <a:xfrm>
            <a:off x="6720840" y="1005840"/>
            <a:ext cx="1965960" cy="502920"/>
          </a:xfrm>
          <a:prstGeom prst="rect">
            <a:avLst/>
          </a:prstGeom>
          <a:noFill/>
          <a:ln/>
        </p:spPr>
        <p:txBody>
          <a:bodyPr wrap="square" rtlCol="0" anchor="ctr"/>
          <a:lstStyle/>
          <a:p>
            <a:pPr algn="ctr" indent="0" marL="0">
              <a:buNone/>
            </a:pPr>
            <a:r>
              <a:rPr lang="en-US" sz="1100" b="1" dirty="0">
                <a:solidFill>
                  <a:srgbClr val="028090"/>
                </a:solidFill>
                <a:latin typeface="Calibri" pitchFamily="34" charset="0"/>
                <a:ea typeface="Calibri" pitchFamily="34" charset="-122"/>
                <a:cs typeface="Calibri" pitchFamily="34" charset="-120"/>
              </a:rPr>
              <a:t>확장 계획</a:t>
            </a:r>
            <a:endParaRPr lang="en-US" sz="1100" dirty="0"/>
          </a:p>
        </p:txBody>
      </p:sp>
      <p:sp>
        <p:nvSpPr>
          <p:cNvPr id="12" name="Shape 10"/>
          <p:cNvSpPr/>
          <p:nvPr/>
        </p:nvSpPr>
        <p:spPr>
          <a:xfrm>
            <a:off x="274320" y="1645920"/>
            <a:ext cx="2743200" cy="3017520"/>
          </a:xfrm>
          <a:prstGeom prst="roundRect">
            <a:avLst>
              <a:gd name="adj" fmla="val 4000"/>
            </a:avLst>
          </a:prstGeom>
          <a:solidFill>
            <a:srgbClr val="FFFFFF"/>
          </a:solidFill>
          <a:ln w="12700">
            <a:solidFill>
              <a:srgbClr val="C8E0E8"/>
            </a:solidFill>
            <a:prstDash val="solid"/>
          </a:ln>
          <a:effectLst>
            <a:outerShdw sx="100000" sy="100000" kx="0" ky="0" algn="bl" rotWithShape="0" blurRad="101600" dist="25400" dir="2700000">
              <a:srgbClr val="000000">
                <a:alpha val="10000"/>
              </a:srgbClr>
            </a:outerShdw>
          </a:effectLst>
        </p:spPr>
      </p:sp>
      <p:sp>
        <p:nvSpPr>
          <p:cNvPr id="13" name="Text 11"/>
          <p:cNvSpPr/>
          <p:nvPr/>
        </p:nvSpPr>
        <p:spPr>
          <a:xfrm>
            <a:off x="274320" y="1664208"/>
            <a:ext cx="2743200" cy="365760"/>
          </a:xfrm>
          <a:prstGeom prst="rect">
            <a:avLst/>
          </a:prstGeom>
          <a:noFill/>
          <a:ln/>
        </p:spPr>
        <p:txBody>
          <a:bodyPr wrap="square" rtlCol="0" anchor="ctr"/>
          <a:lstStyle/>
          <a:p>
            <a:pPr algn="ctr" indent="0" marL="0">
              <a:buNone/>
            </a:pPr>
            <a:r>
              <a:rPr lang="en-US" sz="1400" b="1" dirty="0">
                <a:solidFill>
                  <a:srgbClr val="1A2B3C"/>
                </a:solidFill>
                <a:latin typeface="Calibri" pitchFamily="34" charset="0"/>
                <a:ea typeface="Calibri" pitchFamily="34" charset="-122"/>
                <a:cs typeface="Calibri" pitchFamily="34" charset="-120"/>
              </a:rPr>
              <a:t>Monolith</a:t>
            </a:r>
            <a:endParaRPr lang="en-US" sz="1400" dirty="0"/>
          </a:p>
        </p:txBody>
      </p:sp>
      <p:sp>
        <p:nvSpPr>
          <p:cNvPr id="14" name="Text 12"/>
          <p:cNvSpPr/>
          <p:nvPr/>
        </p:nvSpPr>
        <p:spPr>
          <a:xfrm>
            <a:off x="411480" y="2103120"/>
            <a:ext cx="548640" cy="228600"/>
          </a:xfrm>
          <a:prstGeom prst="rect">
            <a:avLst/>
          </a:prstGeom>
          <a:noFill/>
          <a:ln/>
        </p:spPr>
        <p:txBody>
          <a:bodyPr wrap="square" rtlCol="0" anchor="ctr"/>
          <a:lstStyle/>
          <a:p>
            <a:pPr indent="0" marL="0">
              <a:buNone/>
            </a:pPr>
            <a:r>
              <a:rPr lang="en-US" sz="1000" b="1" dirty="0">
                <a:solidFill>
                  <a:srgbClr val="38A169"/>
                </a:solidFill>
                <a:latin typeface="Calibri" pitchFamily="34" charset="0"/>
                <a:ea typeface="Calibri" pitchFamily="34" charset="-122"/>
                <a:cs typeface="Calibri" pitchFamily="34" charset="-120"/>
              </a:rPr>
              <a:t>장점</a:t>
            </a:r>
            <a:endParaRPr lang="en-US" sz="1000" dirty="0"/>
          </a:p>
        </p:txBody>
      </p:sp>
      <p:sp>
        <p:nvSpPr>
          <p:cNvPr id="15" name="Text 13"/>
          <p:cNvSpPr/>
          <p:nvPr/>
        </p:nvSpPr>
        <p:spPr>
          <a:xfrm>
            <a:off x="411480" y="2331720"/>
            <a:ext cx="2468880" cy="594360"/>
          </a:xfrm>
          <a:prstGeom prst="rect">
            <a:avLst/>
          </a:prstGeom>
          <a:noFill/>
          <a:ln/>
        </p:spPr>
        <p:txBody>
          <a:bodyPr wrap="square" rtlCol="0" anchor="ctr"/>
          <a:lstStyle/>
          <a:p>
            <a:pPr indent="0" marL="0">
              <a:buNone/>
            </a:pPr>
            <a:r>
              <a:rPr lang="en-US" sz="1000" dirty="0">
                <a:solidFill>
                  <a:srgbClr val="1A2B3C"/>
                </a:solidFill>
                <a:latin typeface="Calibri" pitchFamily="34" charset="0"/>
                <a:ea typeface="Calibri" pitchFamily="34" charset="-122"/>
                <a:cs typeface="Calibri" pitchFamily="34" charset="-120"/>
              </a:rPr>
              <a:t>구현 빠름</a:t>
            </a:r>
            <a:endParaRPr lang="en-US" sz="1000" dirty="0"/>
          </a:p>
          <a:p>
            <a:pPr indent="0" marL="0">
              <a:buNone/>
            </a:pPr>
            <a:r>
              <a:rPr lang="en-US" sz="1000" dirty="0">
                <a:solidFill>
                  <a:srgbClr val="1A2B3C"/>
                </a:solidFill>
                <a:latin typeface="Calibri" pitchFamily="34" charset="0"/>
                <a:ea typeface="Calibri" pitchFamily="34" charset="-122"/>
                <a:cs typeface="Calibri" pitchFamily="34" charset="-120"/>
              </a:rPr>
              <a:t>배포 간단</a:t>
            </a:r>
            <a:endParaRPr lang="en-US" sz="1000" dirty="0"/>
          </a:p>
        </p:txBody>
      </p:sp>
      <p:sp>
        <p:nvSpPr>
          <p:cNvPr id="16" name="Text 14"/>
          <p:cNvSpPr/>
          <p:nvPr/>
        </p:nvSpPr>
        <p:spPr>
          <a:xfrm>
            <a:off x="411480" y="2971800"/>
            <a:ext cx="548640" cy="228600"/>
          </a:xfrm>
          <a:prstGeom prst="rect">
            <a:avLst/>
          </a:prstGeom>
          <a:noFill/>
          <a:ln/>
        </p:spPr>
        <p:txBody>
          <a:bodyPr wrap="square" rtlCol="0" anchor="ctr"/>
          <a:lstStyle/>
          <a:p>
            <a:pPr indent="0" marL="0">
              <a:buNone/>
            </a:pPr>
            <a:r>
              <a:rPr lang="en-US" sz="1000" b="1" dirty="0">
                <a:solidFill>
                  <a:srgbClr val="E53E3E"/>
                </a:solidFill>
                <a:latin typeface="Calibri" pitchFamily="34" charset="0"/>
                <a:ea typeface="Calibri" pitchFamily="34" charset="-122"/>
                <a:cs typeface="Calibri" pitchFamily="34" charset="-120"/>
              </a:rPr>
              <a:t>단점</a:t>
            </a:r>
            <a:endParaRPr lang="en-US" sz="1000" dirty="0"/>
          </a:p>
        </p:txBody>
      </p:sp>
      <p:sp>
        <p:nvSpPr>
          <p:cNvPr id="17" name="Text 15"/>
          <p:cNvSpPr/>
          <p:nvPr/>
        </p:nvSpPr>
        <p:spPr>
          <a:xfrm>
            <a:off x="411480" y="3200400"/>
            <a:ext cx="2468880" cy="502920"/>
          </a:xfrm>
          <a:prstGeom prst="rect">
            <a:avLst/>
          </a:prstGeom>
          <a:noFill/>
          <a:ln/>
        </p:spPr>
        <p:txBody>
          <a:bodyPr wrap="square" rtlCol="0" anchor="ctr"/>
          <a:lstStyle/>
          <a:p>
            <a:pPr indent="0" marL="0">
              <a:buNone/>
            </a:pPr>
            <a:r>
              <a:rPr lang="en-US" sz="1000" dirty="0">
                <a:solidFill>
                  <a:srgbClr val="1A2B3C"/>
                </a:solidFill>
                <a:latin typeface="Calibri" pitchFamily="34" charset="0"/>
                <a:ea typeface="Calibri" pitchFamily="34" charset="-122"/>
                <a:cs typeface="Calibri" pitchFamily="34" charset="-120"/>
              </a:rPr>
              <a:t>확장 어려움</a:t>
            </a:r>
            <a:endParaRPr lang="en-US" sz="1000" dirty="0"/>
          </a:p>
          <a:p>
            <a:pPr indent="0" marL="0">
              <a:buNone/>
            </a:pPr>
            <a:r>
              <a:rPr lang="en-US" sz="1000" dirty="0">
                <a:solidFill>
                  <a:srgbClr val="1A2B3C"/>
                </a:solidFill>
                <a:latin typeface="Calibri" pitchFamily="34" charset="0"/>
                <a:ea typeface="Calibri" pitchFamily="34" charset="-122"/>
                <a:cs typeface="Calibri" pitchFamily="34" charset="-120"/>
              </a:rPr>
              <a:t>팀 충돌 가능</a:t>
            </a:r>
            <a:endParaRPr lang="en-US" sz="1000" dirty="0"/>
          </a:p>
        </p:txBody>
      </p:sp>
      <p:sp>
        <p:nvSpPr>
          <p:cNvPr id="18" name="Text 16"/>
          <p:cNvSpPr/>
          <p:nvPr/>
        </p:nvSpPr>
        <p:spPr>
          <a:xfrm>
            <a:off x="411480" y="3749040"/>
            <a:ext cx="548640" cy="228600"/>
          </a:xfrm>
          <a:prstGeom prst="rect">
            <a:avLst/>
          </a:prstGeom>
          <a:noFill/>
          <a:ln/>
        </p:spPr>
        <p:txBody>
          <a:bodyPr wrap="square" rtlCol="0" anchor="ctr"/>
          <a:lstStyle/>
          <a:p>
            <a:pPr indent="0" marL="0">
              <a:buNone/>
            </a:pPr>
            <a:r>
              <a:rPr lang="en-US" sz="1000" b="1" dirty="0">
                <a:solidFill>
                  <a:srgbClr val="4A6A80"/>
                </a:solidFill>
                <a:latin typeface="Calibri" pitchFamily="34" charset="0"/>
                <a:ea typeface="Calibri" pitchFamily="34" charset="-122"/>
                <a:cs typeface="Calibri" pitchFamily="34" charset="-120"/>
              </a:rPr>
              <a:t>적합</a:t>
            </a:r>
            <a:endParaRPr lang="en-US" sz="1000" dirty="0"/>
          </a:p>
        </p:txBody>
      </p:sp>
      <p:sp>
        <p:nvSpPr>
          <p:cNvPr id="19" name="Text 17"/>
          <p:cNvSpPr/>
          <p:nvPr/>
        </p:nvSpPr>
        <p:spPr>
          <a:xfrm>
            <a:off x="411480" y="3977640"/>
            <a:ext cx="2468880" cy="457200"/>
          </a:xfrm>
          <a:prstGeom prst="rect">
            <a:avLst/>
          </a:prstGeom>
          <a:noFill/>
          <a:ln/>
        </p:spPr>
        <p:txBody>
          <a:bodyPr wrap="square" rtlCol="0" anchor="ctr"/>
          <a:lstStyle/>
          <a:p>
            <a:pPr indent="0" marL="0">
              <a:buNone/>
            </a:pPr>
            <a:r>
              <a:rPr lang="en-US" sz="1000" dirty="0">
                <a:solidFill>
                  <a:srgbClr val="4A6A80"/>
                </a:solidFill>
                <a:latin typeface="Calibri" pitchFamily="34" charset="0"/>
                <a:ea typeface="Calibri" pitchFamily="34" charset="-122"/>
                <a:cs typeface="Calibri" pitchFamily="34" charset="-120"/>
              </a:rPr>
              <a:t>1인 개발</a:t>
            </a:r>
            <a:endParaRPr lang="en-US" sz="1000" dirty="0"/>
          </a:p>
          <a:p>
            <a:pPr indent="0" marL="0">
              <a:buNone/>
            </a:pPr>
            <a:r>
              <a:rPr lang="en-US" sz="1000" dirty="0">
                <a:solidFill>
                  <a:srgbClr val="4A6A80"/>
                </a:solidFill>
                <a:latin typeface="Calibri" pitchFamily="34" charset="0"/>
                <a:ea typeface="Calibri" pitchFamily="34" charset="-122"/>
                <a:cs typeface="Calibri" pitchFamily="34" charset="-120"/>
              </a:rPr>
              <a:t>빠른 프로토타입</a:t>
            </a:r>
            <a:endParaRPr lang="en-US" sz="1000" dirty="0"/>
          </a:p>
        </p:txBody>
      </p:sp>
      <p:sp>
        <p:nvSpPr>
          <p:cNvPr id="20" name="Shape 18"/>
          <p:cNvSpPr/>
          <p:nvPr/>
        </p:nvSpPr>
        <p:spPr>
          <a:xfrm>
            <a:off x="3200400" y="1645920"/>
            <a:ext cx="2743200" cy="3017520"/>
          </a:xfrm>
          <a:prstGeom prst="roundRect">
            <a:avLst>
              <a:gd name="adj" fmla="val 4000"/>
            </a:avLst>
          </a:prstGeom>
          <a:solidFill>
            <a:srgbClr val="E8F4F8"/>
          </a:solidFill>
          <a:ln w="25400">
            <a:solidFill>
              <a:srgbClr val="028090"/>
            </a:solidFill>
            <a:prstDash val="solid"/>
          </a:ln>
          <a:effectLst>
            <a:outerShdw sx="100000" sy="100000" kx="0" ky="0" algn="bl" rotWithShape="0" blurRad="101600" dist="25400" dir="2700000">
              <a:srgbClr val="000000">
                <a:alpha val="10000"/>
              </a:srgbClr>
            </a:outerShdw>
          </a:effectLst>
        </p:spPr>
      </p:sp>
      <p:sp>
        <p:nvSpPr>
          <p:cNvPr id="21" name="Text 19"/>
          <p:cNvSpPr/>
          <p:nvPr/>
        </p:nvSpPr>
        <p:spPr>
          <a:xfrm>
            <a:off x="3200400" y="1664208"/>
            <a:ext cx="2743200" cy="365760"/>
          </a:xfrm>
          <a:prstGeom prst="rect">
            <a:avLst/>
          </a:prstGeom>
          <a:noFill/>
          <a:ln/>
        </p:spPr>
        <p:txBody>
          <a:bodyPr wrap="square" rtlCol="0" anchor="ctr"/>
          <a:lstStyle/>
          <a:p>
            <a:pPr algn="ctr" indent="0" marL="0">
              <a:buNone/>
            </a:pPr>
            <a:r>
              <a:rPr lang="en-US" sz="1400" b="1" dirty="0">
                <a:solidFill>
                  <a:srgbClr val="028090"/>
                </a:solidFill>
                <a:latin typeface="Calibri" pitchFamily="34" charset="0"/>
                <a:ea typeface="Calibri" pitchFamily="34" charset="-122"/>
                <a:cs typeface="Calibri" pitchFamily="34" charset="-120"/>
              </a:rPr>
              <a:t>MVC 계층형</a:t>
            </a:r>
            <a:endParaRPr lang="en-US" sz="1400" dirty="0"/>
          </a:p>
        </p:txBody>
      </p:sp>
      <p:sp>
        <p:nvSpPr>
          <p:cNvPr id="22" name="Text 20"/>
          <p:cNvSpPr/>
          <p:nvPr/>
        </p:nvSpPr>
        <p:spPr>
          <a:xfrm>
            <a:off x="3337560" y="2103120"/>
            <a:ext cx="548640" cy="228600"/>
          </a:xfrm>
          <a:prstGeom prst="rect">
            <a:avLst/>
          </a:prstGeom>
          <a:noFill/>
          <a:ln/>
        </p:spPr>
        <p:txBody>
          <a:bodyPr wrap="square" rtlCol="0" anchor="ctr"/>
          <a:lstStyle/>
          <a:p>
            <a:pPr indent="0" marL="0">
              <a:buNone/>
            </a:pPr>
            <a:r>
              <a:rPr lang="en-US" sz="1000" b="1" dirty="0">
                <a:solidFill>
                  <a:srgbClr val="38A169"/>
                </a:solidFill>
                <a:latin typeface="Calibri" pitchFamily="34" charset="0"/>
                <a:ea typeface="Calibri" pitchFamily="34" charset="-122"/>
                <a:cs typeface="Calibri" pitchFamily="34" charset="-120"/>
              </a:rPr>
              <a:t>장점</a:t>
            </a:r>
            <a:endParaRPr lang="en-US" sz="1000" dirty="0"/>
          </a:p>
        </p:txBody>
      </p:sp>
      <p:sp>
        <p:nvSpPr>
          <p:cNvPr id="23" name="Text 21"/>
          <p:cNvSpPr/>
          <p:nvPr/>
        </p:nvSpPr>
        <p:spPr>
          <a:xfrm>
            <a:off x="3337560" y="2331720"/>
            <a:ext cx="2468880" cy="594360"/>
          </a:xfrm>
          <a:prstGeom prst="rect">
            <a:avLst/>
          </a:prstGeom>
          <a:noFill/>
          <a:ln/>
        </p:spPr>
        <p:txBody>
          <a:bodyPr wrap="square" rtlCol="0" anchor="ctr"/>
          <a:lstStyle/>
          <a:p>
            <a:pPr indent="0" marL="0">
              <a:buNone/>
            </a:pPr>
            <a:r>
              <a:rPr lang="en-US" sz="1000" dirty="0">
                <a:solidFill>
                  <a:srgbClr val="1A2B3C"/>
                </a:solidFill>
                <a:latin typeface="Calibri" pitchFamily="34" charset="0"/>
                <a:ea typeface="Calibri" pitchFamily="34" charset="-122"/>
                <a:cs typeface="Calibri" pitchFamily="34" charset="-120"/>
              </a:rPr>
              <a:t>역할 분리 명확</a:t>
            </a:r>
            <a:endParaRPr lang="en-US" sz="1000" dirty="0"/>
          </a:p>
          <a:p>
            <a:pPr indent="0" marL="0">
              <a:buNone/>
            </a:pPr>
            <a:r>
              <a:rPr lang="en-US" sz="1000" dirty="0">
                <a:solidFill>
                  <a:srgbClr val="1A2B3C"/>
                </a:solidFill>
                <a:latin typeface="Calibri" pitchFamily="34" charset="0"/>
                <a:ea typeface="Calibri" pitchFamily="34" charset="-122"/>
                <a:cs typeface="Calibri" pitchFamily="34" charset="-120"/>
              </a:rPr>
              <a:t>소규모 팀 적합</a:t>
            </a:r>
            <a:endParaRPr lang="en-US" sz="1000" dirty="0"/>
          </a:p>
        </p:txBody>
      </p:sp>
      <p:sp>
        <p:nvSpPr>
          <p:cNvPr id="24" name="Text 22"/>
          <p:cNvSpPr/>
          <p:nvPr/>
        </p:nvSpPr>
        <p:spPr>
          <a:xfrm>
            <a:off x="3337560" y="2971800"/>
            <a:ext cx="548640" cy="228600"/>
          </a:xfrm>
          <a:prstGeom prst="rect">
            <a:avLst/>
          </a:prstGeom>
          <a:noFill/>
          <a:ln/>
        </p:spPr>
        <p:txBody>
          <a:bodyPr wrap="square" rtlCol="0" anchor="ctr"/>
          <a:lstStyle/>
          <a:p>
            <a:pPr indent="0" marL="0">
              <a:buNone/>
            </a:pPr>
            <a:r>
              <a:rPr lang="en-US" sz="1000" b="1" dirty="0">
                <a:solidFill>
                  <a:srgbClr val="E53E3E"/>
                </a:solidFill>
                <a:latin typeface="Calibri" pitchFamily="34" charset="0"/>
                <a:ea typeface="Calibri" pitchFamily="34" charset="-122"/>
                <a:cs typeface="Calibri" pitchFamily="34" charset="-120"/>
              </a:rPr>
              <a:t>단점</a:t>
            </a:r>
            <a:endParaRPr lang="en-US" sz="1000" dirty="0"/>
          </a:p>
        </p:txBody>
      </p:sp>
      <p:sp>
        <p:nvSpPr>
          <p:cNvPr id="25" name="Text 23"/>
          <p:cNvSpPr/>
          <p:nvPr/>
        </p:nvSpPr>
        <p:spPr>
          <a:xfrm>
            <a:off x="3337560" y="3200400"/>
            <a:ext cx="2468880" cy="502920"/>
          </a:xfrm>
          <a:prstGeom prst="rect">
            <a:avLst/>
          </a:prstGeom>
          <a:noFill/>
          <a:ln/>
        </p:spPr>
        <p:txBody>
          <a:bodyPr wrap="square" rtlCol="0" anchor="ctr"/>
          <a:lstStyle/>
          <a:p>
            <a:pPr indent="0" marL="0">
              <a:buNone/>
            </a:pPr>
            <a:r>
              <a:rPr lang="en-US" sz="1000" dirty="0">
                <a:solidFill>
                  <a:srgbClr val="1A2B3C"/>
                </a:solidFill>
                <a:latin typeface="Calibri" pitchFamily="34" charset="0"/>
                <a:ea typeface="Calibri" pitchFamily="34" charset="-122"/>
                <a:cs typeface="Calibri" pitchFamily="34" charset="-120"/>
              </a:rPr>
              <a:t>계층 간 의존성</a:t>
            </a:r>
            <a:endParaRPr lang="en-US" sz="1000" dirty="0"/>
          </a:p>
          <a:p>
            <a:pPr indent="0" marL="0">
              <a:buNone/>
            </a:pPr>
            <a:r>
              <a:rPr lang="en-US" sz="1000" dirty="0">
                <a:solidFill>
                  <a:srgbClr val="1A2B3C"/>
                </a:solidFill>
                <a:latin typeface="Calibri" pitchFamily="34" charset="0"/>
                <a:ea typeface="Calibri" pitchFamily="34" charset="-122"/>
                <a:cs typeface="Calibri" pitchFamily="34" charset="-120"/>
              </a:rPr>
              <a:t>유의 필요</a:t>
            </a:r>
            <a:endParaRPr lang="en-US" sz="1000" dirty="0"/>
          </a:p>
        </p:txBody>
      </p:sp>
      <p:sp>
        <p:nvSpPr>
          <p:cNvPr id="26" name="Text 24"/>
          <p:cNvSpPr/>
          <p:nvPr/>
        </p:nvSpPr>
        <p:spPr>
          <a:xfrm>
            <a:off x="3337560" y="3749040"/>
            <a:ext cx="548640" cy="228600"/>
          </a:xfrm>
          <a:prstGeom prst="rect">
            <a:avLst/>
          </a:prstGeom>
          <a:noFill/>
          <a:ln/>
        </p:spPr>
        <p:txBody>
          <a:bodyPr wrap="square" rtlCol="0" anchor="ctr"/>
          <a:lstStyle/>
          <a:p>
            <a:pPr indent="0" marL="0">
              <a:buNone/>
            </a:pPr>
            <a:r>
              <a:rPr lang="en-US" sz="1000" b="1" dirty="0">
                <a:solidFill>
                  <a:srgbClr val="4A6A80"/>
                </a:solidFill>
                <a:latin typeface="Calibri" pitchFamily="34" charset="0"/>
                <a:ea typeface="Calibri" pitchFamily="34" charset="-122"/>
                <a:cs typeface="Calibri" pitchFamily="34" charset="-120"/>
              </a:rPr>
              <a:t>적합</a:t>
            </a:r>
            <a:endParaRPr lang="en-US" sz="1000" dirty="0"/>
          </a:p>
        </p:txBody>
      </p:sp>
      <p:sp>
        <p:nvSpPr>
          <p:cNvPr id="27" name="Text 25"/>
          <p:cNvSpPr/>
          <p:nvPr/>
        </p:nvSpPr>
        <p:spPr>
          <a:xfrm>
            <a:off x="3337560" y="3977640"/>
            <a:ext cx="2468880" cy="457200"/>
          </a:xfrm>
          <a:prstGeom prst="rect">
            <a:avLst/>
          </a:prstGeom>
          <a:noFill/>
          <a:ln/>
        </p:spPr>
        <p:txBody>
          <a:bodyPr wrap="square" rtlCol="0" anchor="ctr"/>
          <a:lstStyle/>
          <a:p>
            <a:pPr indent="0" marL="0">
              <a:buNone/>
            </a:pPr>
            <a:r>
              <a:rPr lang="en-US" sz="1000" b="1" dirty="0">
                <a:solidFill>
                  <a:srgbClr val="028090"/>
                </a:solidFill>
                <a:latin typeface="Calibri" pitchFamily="34" charset="0"/>
                <a:ea typeface="Calibri" pitchFamily="34" charset="-122"/>
                <a:cs typeface="Calibri" pitchFamily="34" charset="-120"/>
              </a:rPr>
              <a:t>✓ 수자이 선택</a:t>
            </a:r>
            <a:endParaRPr lang="en-US" sz="1000" dirty="0"/>
          </a:p>
          <a:p>
            <a:pPr indent="0" marL="0">
              <a:buNone/>
            </a:pPr>
            <a:r>
              <a:rPr lang="en-US" sz="1000" b="1" dirty="0">
                <a:solidFill>
                  <a:srgbClr val="028090"/>
                </a:solidFill>
                <a:latin typeface="Calibri" pitchFamily="34" charset="0"/>
                <a:ea typeface="Calibri" pitchFamily="34" charset="-122"/>
                <a:cs typeface="Calibri" pitchFamily="34" charset="-120"/>
              </a:rPr>
              <a:t>4~5인 팀</a:t>
            </a:r>
            <a:endParaRPr lang="en-US" sz="1000" dirty="0"/>
          </a:p>
        </p:txBody>
      </p:sp>
      <p:sp>
        <p:nvSpPr>
          <p:cNvPr id="28" name="Shape 26"/>
          <p:cNvSpPr/>
          <p:nvPr/>
        </p:nvSpPr>
        <p:spPr>
          <a:xfrm>
            <a:off x="6126480" y="1645920"/>
            <a:ext cx="2743200" cy="3017520"/>
          </a:xfrm>
          <a:prstGeom prst="roundRect">
            <a:avLst>
              <a:gd name="adj" fmla="val 4000"/>
            </a:avLst>
          </a:prstGeom>
          <a:solidFill>
            <a:srgbClr val="FFFFFF"/>
          </a:solidFill>
          <a:ln w="12700">
            <a:solidFill>
              <a:srgbClr val="C8E0E8"/>
            </a:solidFill>
            <a:prstDash val="solid"/>
          </a:ln>
          <a:effectLst>
            <a:outerShdw sx="100000" sy="100000" kx="0" ky="0" algn="bl" rotWithShape="0" blurRad="101600" dist="25400" dir="2700000">
              <a:srgbClr val="000000">
                <a:alpha val="10000"/>
              </a:srgbClr>
            </a:outerShdw>
          </a:effectLst>
        </p:spPr>
      </p:sp>
      <p:sp>
        <p:nvSpPr>
          <p:cNvPr id="29" name="Text 27"/>
          <p:cNvSpPr/>
          <p:nvPr/>
        </p:nvSpPr>
        <p:spPr>
          <a:xfrm>
            <a:off x="6126480" y="1664208"/>
            <a:ext cx="2743200" cy="365760"/>
          </a:xfrm>
          <a:prstGeom prst="rect">
            <a:avLst/>
          </a:prstGeom>
          <a:noFill/>
          <a:ln/>
        </p:spPr>
        <p:txBody>
          <a:bodyPr wrap="square" rtlCol="0" anchor="ctr"/>
          <a:lstStyle/>
          <a:p>
            <a:pPr algn="ctr" indent="0" marL="0">
              <a:buNone/>
            </a:pPr>
            <a:r>
              <a:rPr lang="en-US" sz="1400" b="1" dirty="0">
                <a:solidFill>
                  <a:srgbClr val="1A2B3C"/>
                </a:solidFill>
                <a:latin typeface="Calibri" pitchFamily="34" charset="0"/>
                <a:ea typeface="Calibri" pitchFamily="34" charset="-122"/>
                <a:cs typeface="Calibri" pitchFamily="34" charset="-120"/>
              </a:rPr>
              <a:t>Microservices</a:t>
            </a:r>
            <a:endParaRPr lang="en-US" sz="1400" dirty="0"/>
          </a:p>
        </p:txBody>
      </p:sp>
      <p:sp>
        <p:nvSpPr>
          <p:cNvPr id="30" name="Text 28"/>
          <p:cNvSpPr/>
          <p:nvPr/>
        </p:nvSpPr>
        <p:spPr>
          <a:xfrm>
            <a:off x="6263640" y="2103120"/>
            <a:ext cx="548640" cy="228600"/>
          </a:xfrm>
          <a:prstGeom prst="rect">
            <a:avLst/>
          </a:prstGeom>
          <a:noFill/>
          <a:ln/>
        </p:spPr>
        <p:txBody>
          <a:bodyPr wrap="square" rtlCol="0" anchor="ctr"/>
          <a:lstStyle/>
          <a:p>
            <a:pPr indent="0" marL="0">
              <a:buNone/>
            </a:pPr>
            <a:r>
              <a:rPr lang="en-US" sz="1000" b="1" dirty="0">
                <a:solidFill>
                  <a:srgbClr val="38A169"/>
                </a:solidFill>
                <a:latin typeface="Calibri" pitchFamily="34" charset="0"/>
                <a:ea typeface="Calibri" pitchFamily="34" charset="-122"/>
                <a:cs typeface="Calibri" pitchFamily="34" charset="-120"/>
              </a:rPr>
              <a:t>장점</a:t>
            </a:r>
            <a:endParaRPr lang="en-US" sz="1000" dirty="0"/>
          </a:p>
        </p:txBody>
      </p:sp>
      <p:sp>
        <p:nvSpPr>
          <p:cNvPr id="31" name="Text 29"/>
          <p:cNvSpPr/>
          <p:nvPr/>
        </p:nvSpPr>
        <p:spPr>
          <a:xfrm>
            <a:off x="6263640" y="2331720"/>
            <a:ext cx="2468880" cy="594360"/>
          </a:xfrm>
          <a:prstGeom prst="rect">
            <a:avLst/>
          </a:prstGeom>
          <a:noFill/>
          <a:ln/>
        </p:spPr>
        <p:txBody>
          <a:bodyPr wrap="square" rtlCol="0" anchor="ctr"/>
          <a:lstStyle/>
          <a:p>
            <a:pPr indent="0" marL="0">
              <a:buNone/>
            </a:pPr>
            <a:r>
              <a:rPr lang="en-US" sz="1000" dirty="0">
                <a:solidFill>
                  <a:srgbClr val="1A2B3C"/>
                </a:solidFill>
                <a:latin typeface="Calibri" pitchFamily="34" charset="0"/>
                <a:ea typeface="Calibri" pitchFamily="34" charset="-122"/>
                <a:cs typeface="Calibri" pitchFamily="34" charset="-120"/>
              </a:rPr>
              <a:t>독립 배포</a:t>
            </a:r>
            <a:endParaRPr lang="en-US" sz="1000" dirty="0"/>
          </a:p>
          <a:p>
            <a:pPr indent="0" marL="0">
              <a:buNone/>
            </a:pPr>
            <a:r>
              <a:rPr lang="en-US" sz="1000" dirty="0">
                <a:solidFill>
                  <a:srgbClr val="1A2B3C"/>
                </a:solidFill>
                <a:latin typeface="Calibri" pitchFamily="34" charset="0"/>
                <a:ea typeface="Calibri" pitchFamily="34" charset="-122"/>
                <a:cs typeface="Calibri" pitchFamily="34" charset="-120"/>
              </a:rPr>
              <a:t>확장 용이</a:t>
            </a:r>
            <a:endParaRPr lang="en-US" sz="1000" dirty="0"/>
          </a:p>
        </p:txBody>
      </p:sp>
      <p:sp>
        <p:nvSpPr>
          <p:cNvPr id="32" name="Text 30"/>
          <p:cNvSpPr/>
          <p:nvPr/>
        </p:nvSpPr>
        <p:spPr>
          <a:xfrm>
            <a:off x="6263640" y="2971800"/>
            <a:ext cx="548640" cy="228600"/>
          </a:xfrm>
          <a:prstGeom prst="rect">
            <a:avLst/>
          </a:prstGeom>
          <a:noFill/>
          <a:ln/>
        </p:spPr>
        <p:txBody>
          <a:bodyPr wrap="square" rtlCol="0" anchor="ctr"/>
          <a:lstStyle/>
          <a:p>
            <a:pPr indent="0" marL="0">
              <a:buNone/>
            </a:pPr>
            <a:r>
              <a:rPr lang="en-US" sz="1000" b="1" dirty="0">
                <a:solidFill>
                  <a:srgbClr val="E53E3E"/>
                </a:solidFill>
                <a:latin typeface="Calibri" pitchFamily="34" charset="0"/>
                <a:ea typeface="Calibri" pitchFamily="34" charset="-122"/>
                <a:cs typeface="Calibri" pitchFamily="34" charset="-120"/>
              </a:rPr>
              <a:t>단점</a:t>
            </a:r>
            <a:endParaRPr lang="en-US" sz="1000" dirty="0"/>
          </a:p>
        </p:txBody>
      </p:sp>
      <p:sp>
        <p:nvSpPr>
          <p:cNvPr id="33" name="Text 31"/>
          <p:cNvSpPr/>
          <p:nvPr/>
        </p:nvSpPr>
        <p:spPr>
          <a:xfrm>
            <a:off x="6263640" y="3200400"/>
            <a:ext cx="2468880" cy="502920"/>
          </a:xfrm>
          <a:prstGeom prst="rect">
            <a:avLst/>
          </a:prstGeom>
          <a:noFill/>
          <a:ln/>
        </p:spPr>
        <p:txBody>
          <a:bodyPr wrap="square" rtlCol="0" anchor="ctr"/>
          <a:lstStyle/>
          <a:p>
            <a:pPr indent="0" marL="0">
              <a:buNone/>
            </a:pPr>
            <a:r>
              <a:rPr lang="en-US" sz="1000" dirty="0">
                <a:solidFill>
                  <a:srgbClr val="1A2B3C"/>
                </a:solidFill>
                <a:latin typeface="Calibri" pitchFamily="34" charset="0"/>
                <a:ea typeface="Calibri" pitchFamily="34" charset="-122"/>
                <a:cs typeface="Calibri" pitchFamily="34" charset="-120"/>
              </a:rPr>
              <a:t>복잡도 높음</a:t>
            </a:r>
            <a:endParaRPr lang="en-US" sz="1000" dirty="0"/>
          </a:p>
          <a:p>
            <a:pPr indent="0" marL="0">
              <a:buNone/>
            </a:pPr>
            <a:r>
              <a:rPr lang="en-US" sz="1000" dirty="0">
                <a:solidFill>
                  <a:srgbClr val="1A2B3C"/>
                </a:solidFill>
                <a:latin typeface="Calibri" pitchFamily="34" charset="0"/>
                <a:ea typeface="Calibri" pitchFamily="34" charset="-122"/>
                <a:cs typeface="Calibri" pitchFamily="34" charset="-120"/>
              </a:rPr>
              <a:t>운영 비용 큼</a:t>
            </a:r>
            <a:endParaRPr lang="en-US" sz="1000" dirty="0"/>
          </a:p>
        </p:txBody>
      </p:sp>
      <p:sp>
        <p:nvSpPr>
          <p:cNvPr id="34" name="Text 32"/>
          <p:cNvSpPr/>
          <p:nvPr/>
        </p:nvSpPr>
        <p:spPr>
          <a:xfrm>
            <a:off x="6263640" y="3749040"/>
            <a:ext cx="548640" cy="228600"/>
          </a:xfrm>
          <a:prstGeom prst="rect">
            <a:avLst/>
          </a:prstGeom>
          <a:noFill/>
          <a:ln/>
        </p:spPr>
        <p:txBody>
          <a:bodyPr wrap="square" rtlCol="0" anchor="ctr"/>
          <a:lstStyle/>
          <a:p>
            <a:pPr indent="0" marL="0">
              <a:buNone/>
            </a:pPr>
            <a:r>
              <a:rPr lang="en-US" sz="1000" b="1" dirty="0">
                <a:solidFill>
                  <a:srgbClr val="4A6A80"/>
                </a:solidFill>
                <a:latin typeface="Calibri" pitchFamily="34" charset="0"/>
                <a:ea typeface="Calibri" pitchFamily="34" charset="-122"/>
                <a:cs typeface="Calibri" pitchFamily="34" charset="-120"/>
              </a:rPr>
              <a:t>적합</a:t>
            </a:r>
            <a:endParaRPr lang="en-US" sz="1000" dirty="0"/>
          </a:p>
        </p:txBody>
      </p:sp>
      <p:sp>
        <p:nvSpPr>
          <p:cNvPr id="35" name="Text 33"/>
          <p:cNvSpPr/>
          <p:nvPr/>
        </p:nvSpPr>
        <p:spPr>
          <a:xfrm>
            <a:off x="6263640" y="3977640"/>
            <a:ext cx="2468880" cy="457200"/>
          </a:xfrm>
          <a:prstGeom prst="rect">
            <a:avLst/>
          </a:prstGeom>
          <a:noFill/>
          <a:ln/>
        </p:spPr>
        <p:txBody>
          <a:bodyPr wrap="square" rtlCol="0" anchor="ctr"/>
          <a:lstStyle/>
          <a:p>
            <a:pPr indent="0" marL="0">
              <a:buNone/>
            </a:pPr>
            <a:r>
              <a:rPr lang="en-US" sz="1000" dirty="0">
                <a:solidFill>
                  <a:srgbClr val="4A6A80"/>
                </a:solidFill>
                <a:latin typeface="Calibri" pitchFamily="34" charset="0"/>
                <a:ea typeface="Calibri" pitchFamily="34" charset="-122"/>
                <a:cs typeface="Calibri" pitchFamily="34" charset="-120"/>
              </a:rPr>
              <a:t>대규모 서비스</a:t>
            </a:r>
            <a:endParaRPr lang="en-US" sz="1000" dirty="0"/>
          </a:p>
          <a:p>
            <a:pPr indent="0" marL="0">
              <a:buNone/>
            </a:pPr>
            <a:r>
              <a:rPr lang="en-US" sz="1000" dirty="0">
                <a:solidFill>
                  <a:srgbClr val="4A6A80"/>
                </a:solidFill>
                <a:latin typeface="Calibri" pitchFamily="34" charset="0"/>
                <a:ea typeface="Calibri" pitchFamily="34" charset="-122"/>
                <a:cs typeface="Calibri" pitchFamily="34" charset="-120"/>
              </a:rPr>
              <a:t> DevOps 필수</a:t>
            </a:r>
            <a:endParaRPr lang="en-US" sz="1000" dirty="0"/>
          </a:p>
        </p:txBody>
      </p:sp>
      <p:sp>
        <p:nvSpPr>
          <p:cNvPr id="36" name="Shape 34"/>
          <p:cNvSpPr/>
          <p:nvPr/>
        </p:nvSpPr>
        <p:spPr>
          <a:xfrm>
            <a:off x="274320" y="4736592"/>
            <a:ext cx="8595360" cy="292608"/>
          </a:xfrm>
          <a:prstGeom prst="roundRect">
            <a:avLst>
              <a:gd name="adj" fmla="val 18750"/>
            </a:avLst>
          </a:prstGeom>
          <a:solidFill>
            <a:srgbClr val="E8F7F4"/>
          </a:solidFill>
          <a:ln w="12700">
            <a:solidFill>
              <a:srgbClr val="02C39A"/>
            </a:solidFill>
            <a:prstDash val="solid"/>
          </a:ln>
        </p:spPr>
      </p:sp>
      <p:sp>
        <p:nvSpPr>
          <p:cNvPr id="37" name="Text 35"/>
          <p:cNvSpPr/>
          <p:nvPr/>
        </p:nvSpPr>
        <p:spPr>
          <a:xfrm>
            <a:off x="411480" y="4736592"/>
            <a:ext cx="8321040" cy="292608"/>
          </a:xfrm>
          <a:prstGeom prst="rect">
            <a:avLst/>
          </a:prstGeom>
          <a:noFill/>
          <a:ln/>
        </p:spPr>
        <p:txBody>
          <a:bodyPr wrap="square" rtlCol="0" anchor="ctr"/>
          <a:lstStyle/>
          <a:p>
            <a:pPr indent="0" marL="0">
              <a:buNone/>
            </a:pPr>
            <a:r>
              <a:rPr lang="en-US" sz="950" i="1" dirty="0">
                <a:solidFill>
                  <a:srgbClr val="016A6A"/>
                </a:solidFill>
                <a:latin typeface="Calibri" pitchFamily="34" charset="0"/>
                <a:ea typeface="Calibri" pitchFamily="34" charset="-122"/>
                <a:cs typeface="Calibri" pitchFamily="34" charset="-120"/>
              </a:rPr>
              <a:t>AI: "4~5명 팀이 Spring Boot로 수질 모니터링을 만드는데 어떤 아키텍처가 적합해? 장단점과 함께 추천해줘"</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28090"/>
          </a:solidFill>
          <a:ln w="12700">
            <a:solidFill>
              <a:srgbClr val="028090"/>
            </a:solidFill>
            <a:prstDash val="solid"/>
          </a:ln>
        </p:spPr>
      </p:sp>
      <p:sp>
        <p:nvSpPr>
          <p:cNvPr id="3" name="Text 1"/>
          <p:cNvSpPr/>
          <p:nvPr/>
        </p:nvSpPr>
        <p:spPr>
          <a:xfrm>
            <a:off x="365760" y="0"/>
            <a:ext cx="8412480" cy="9144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Spring Boot 레이어 구조 — 수자이 예시</a:t>
            </a:r>
            <a:endParaRPr lang="en-US" sz="2200" dirty="0"/>
          </a:p>
        </p:txBody>
      </p:sp>
      <p:sp>
        <p:nvSpPr>
          <p:cNvPr id="4" name="Shape 2"/>
          <p:cNvSpPr/>
          <p:nvPr/>
        </p:nvSpPr>
        <p:spPr>
          <a:xfrm>
            <a:off x="274320" y="1051560"/>
            <a:ext cx="5303520" cy="777240"/>
          </a:xfrm>
          <a:prstGeom prst="roundRect">
            <a:avLst>
              <a:gd name="adj" fmla="val 11765"/>
            </a:avLst>
          </a:prstGeom>
          <a:solidFill>
            <a:srgbClr val="028090">
              <a:alpha val="12000"/>
            </a:srgbClr>
          </a:solidFill>
          <a:ln w="12700">
            <a:solidFill>
              <a:srgbClr val="028090"/>
            </a:solidFill>
            <a:prstDash val="solid"/>
          </a:ln>
          <a:effectLst>
            <a:outerShdw sx="100000" sy="100000" kx="0" ky="0" algn="bl" rotWithShape="0" blurRad="101600" dist="25400" dir="2700000">
              <a:srgbClr val="000000">
                <a:alpha val="10000"/>
              </a:srgbClr>
            </a:outerShdw>
          </a:effectLst>
        </p:spPr>
      </p:sp>
      <p:sp>
        <p:nvSpPr>
          <p:cNvPr id="5" name="Shape 3"/>
          <p:cNvSpPr/>
          <p:nvPr/>
        </p:nvSpPr>
        <p:spPr>
          <a:xfrm>
            <a:off x="274320" y="1051560"/>
            <a:ext cx="1188720" cy="777240"/>
          </a:xfrm>
          <a:prstGeom prst="roundRect">
            <a:avLst>
              <a:gd name="adj" fmla="val 11765"/>
            </a:avLst>
          </a:prstGeom>
          <a:solidFill>
            <a:srgbClr val="028090"/>
          </a:solidFill>
          <a:ln w="12700">
            <a:solidFill>
              <a:srgbClr val="028090"/>
            </a:solidFill>
            <a:prstDash val="solid"/>
          </a:ln>
        </p:spPr>
      </p:sp>
      <p:sp>
        <p:nvSpPr>
          <p:cNvPr id="6" name="Text 4"/>
          <p:cNvSpPr/>
          <p:nvPr/>
        </p:nvSpPr>
        <p:spPr>
          <a:xfrm>
            <a:off x="274320" y="1051560"/>
            <a:ext cx="1188720" cy="7772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Frontend</a:t>
            </a:r>
            <a:endParaRPr lang="en-US" sz="1200" dirty="0"/>
          </a:p>
        </p:txBody>
      </p:sp>
      <p:sp>
        <p:nvSpPr>
          <p:cNvPr id="7" name="Text 5"/>
          <p:cNvSpPr/>
          <p:nvPr/>
        </p:nvSpPr>
        <p:spPr>
          <a:xfrm>
            <a:off x="1600200" y="1069848"/>
            <a:ext cx="3840480" cy="329184"/>
          </a:xfrm>
          <a:prstGeom prst="rect">
            <a:avLst/>
          </a:prstGeom>
          <a:noFill/>
          <a:ln/>
        </p:spPr>
        <p:txBody>
          <a:bodyPr wrap="square" rtlCol="0" anchor="ctr"/>
          <a:lstStyle/>
          <a:p>
            <a:pPr indent="0" marL="0">
              <a:buNone/>
            </a:pPr>
            <a:r>
              <a:rPr lang="en-US" sz="1000" b="1" dirty="0">
                <a:solidFill>
                  <a:srgbClr val="1A2B3C"/>
                </a:solidFill>
                <a:latin typeface="Calibri" pitchFamily="34" charset="0"/>
                <a:ea typeface="Calibri" pitchFamily="34" charset="-122"/>
                <a:cs typeface="Calibri" pitchFamily="34" charset="-120"/>
              </a:rPr>
              <a:t>HTML/CSS/JS 단일 파일 SPA</a:t>
            </a:r>
            <a:endParaRPr lang="en-US" sz="1000" dirty="0"/>
          </a:p>
        </p:txBody>
      </p:sp>
      <p:sp>
        <p:nvSpPr>
          <p:cNvPr id="8" name="Text 6"/>
          <p:cNvSpPr/>
          <p:nvPr/>
        </p:nvSpPr>
        <p:spPr>
          <a:xfrm>
            <a:off x="1600200" y="1435608"/>
            <a:ext cx="3840480" cy="329184"/>
          </a:xfrm>
          <a:prstGeom prst="rect">
            <a:avLst/>
          </a:prstGeom>
          <a:noFill/>
          <a:ln/>
        </p:spPr>
        <p:txBody>
          <a:bodyPr wrap="square" rtlCol="0" anchor="ctr"/>
          <a:lstStyle/>
          <a:p>
            <a:pPr indent="0" marL="0">
              <a:buNone/>
            </a:pPr>
            <a:r>
              <a:rPr lang="en-US" sz="900" i="1" dirty="0">
                <a:solidFill>
                  <a:srgbClr val="028090"/>
                </a:solidFill>
                <a:latin typeface="Calibri" pitchFamily="34" charset="0"/>
                <a:ea typeface="Calibri" pitchFamily="34" charset="-122"/>
                <a:cs typeface="Calibri" pitchFamily="34" charset="-120"/>
              </a:rPr>
              <a:t>index.html (Vanilla JS)</a:t>
            </a:r>
            <a:endParaRPr lang="en-US" sz="900" dirty="0"/>
          </a:p>
        </p:txBody>
      </p:sp>
      <p:sp>
        <p:nvSpPr>
          <p:cNvPr id="9" name="Text 7"/>
          <p:cNvSpPr/>
          <p:nvPr/>
        </p:nvSpPr>
        <p:spPr>
          <a:xfrm>
            <a:off x="640080" y="1828800"/>
            <a:ext cx="548640" cy="137160"/>
          </a:xfrm>
          <a:prstGeom prst="rect">
            <a:avLst/>
          </a:prstGeom>
          <a:noFill/>
          <a:ln/>
        </p:spPr>
        <p:txBody>
          <a:bodyPr wrap="square" rtlCol="0" anchor="ctr"/>
          <a:lstStyle/>
          <a:p>
            <a:pPr algn="ctr" indent="0" marL="0">
              <a:buNone/>
            </a:pPr>
            <a:r>
              <a:rPr lang="en-US" sz="1400" dirty="0">
                <a:solidFill>
                  <a:srgbClr val="028090"/>
                </a:solidFill>
                <a:latin typeface="Calibri" pitchFamily="34" charset="0"/>
                <a:ea typeface="Calibri" pitchFamily="34" charset="-122"/>
                <a:cs typeface="Calibri" pitchFamily="34" charset="-120"/>
              </a:rPr>
              <a:t>↓</a:t>
            </a:r>
            <a:endParaRPr lang="en-US" sz="1400" dirty="0"/>
          </a:p>
        </p:txBody>
      </p:sp>
      <p:sp>
        <p:nvSpPr>
          <p:cNvPr id="10" name="Shape 8"/>
          <p:cNvSpPr/>
          <p:nvPr/>
        </p:nvSpPr>
        <p:spPr>
          <a:xfrm>
            <a:off x="274320" y="1965960"/>
            <a:ext cx="5303520" cy="777240"/>
          </a:xfrm>
          <a:prstGeom prst="roundRect">
            <a:avLst>
              <a:gd name="adj" fmla="val 11765"/>
            </a:avLst>
          </a:prstGeom>
          <a:solidFill>
            <a:srgbClr val="0369A1">
              <a:alpha val="12000"/>
            </a:srgbClr>
          </a:solidFill>
          <a:ln w="12700">
            <a:solidFill>
              <a:srgbClr val="0369A1"/>
            </a:solidFill>
            <a:prstDash val="solid"/>
          </a:ln>
          <a:effectLst>
            <a:outerShdw sx="100000" sy="100000" kx="0" ky="0" algn="bl" rotWithShape="0" blurRad="101600" dist="25400" dir="2700000">
              <a:srgbClr val="000000">
                <a:alpha val="10000"/>
              </a:srgbClr>
            </a:outerShdw>
          </a:effectLst>
        </p:spPr>
      </p:sp>
      <p:sp>
        <p:nvSpPr>
          <p:cNvPr id="11" name="Shape 9"/>
          <p:cNvSpPr/>
          <p:nvPr/>
        </p:nvSpPr>
        <p:spPr>
          <a:xfrm>
            <a:off x="274320" y="1965960"/>
            <a:ext cx="1188720" cy="777240"/>
          </a:xfrm>
          <a:prstGeom prst="roundRect">
            <a:avLst>
              <a:gd name="adj" fmla="val 11765"/>
            </a:avLst>
          </a:prstGeom>
          <a:solidFill>
            <a:srgbClr val="0369A1"/>
          </a:solidFill>
          <a:ln w="12700">
            <a:solidFill>
              <a:srgbClr val="0369A1"/>
            </a:solidFill>
            <a:prstDash val="solid"/>
          </a:ln>
        </p:spPr>
      </p:sp>
      <p:sp>
        <p:nvSpPr>
          <p:cNvPr id="12" name="Text 10"/>
          <p:cNvSpPr/>
          <p:nvPr/>
        </p:nvSpPr>
        <p:spPr>
          <a:xfrm>
            <a:off x="274320" y="1965960"/>
            <a:ext cx="1188720" cy="7772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Controller</a:t>
            </a:r>
            <a:endParaRPr lang="en-US" sz="1200" dirty="0"/>
          </a:p>
        </p:txBody>
      </p:sp>
      <p:sp>
        <p:nvSpPr>
          <p:cNvPr id="13" name="Text 11"/>
          <p:cNvSpPr/>
          <p:nvPr/>
        </p:nvSpPr>
        <p:spPr>
          <a:xfrm>
            <a:off x="1600200" y="1984248"/>
            <a:ext cx="3840480" cy="329184"/>
          </a:xfrm>
          <a:prstGeom prst="rect">
            <a:avLst/>
          </a:prstGeom>
          <a:noFill/>
          <a:ln/>
        </p:spPr>
        <p:txBody>
          <a:bodyPr wrap="square" rtlCol="0" anchor="ctr"/>
          <a:lstStyle/>
          <a:p>
            <a:pPr indent="0" marL="0">
              <a:buNone/>
            </a:pPr>
            <a:r>
              <a:rPr lang="en-US" sz="1000" b="1" dirty="0">
                <a:solidFill>
                  <a:srgbClr val="1A2B3C"/>
                </a:solidFill>
                <a:latin typeface="Calibri" pitchFamily="34" charset="0"/>
                <a:ea typeface="Calibri" pitchFamily="34" charset="-122"/>
                <a:cs typeface="Calibri" pitchFamily="34" charset="-120"/>
              </a:rPr>
              <a:t>HTTP 요청 라우팅, 파라미터 검증</a:t>
            </a:r>
            <a:endParaRPr lang="en-US" sz="1000" dirty="0"/>
          </a:p>
        </p:txBody>
      </p:sp>
      <p:sp>
        <p:nvSpPr>
          <p:cNvPr id="14" name="Text 12"/>
          <p:cNvSpPr/>
          <p:nvPr/>
        </p:nvSpPr>
        <p:spPr>
          <a:xfrm>
            <a:off x="1600200" y="2350008"/>
            <a:ext cx="3840480" cy="329184"/>
          </a:xfrm>
          <a:prstGeom prst="rect">
            <a:avLst/>
          </a:prstGeom>
          <a:noFill/>
          <a:ln/>
        </p:spPr>
        <p:txBody>
          <a:bodyPr wrap="square" rtlCol="0" anchor="ctr"/>
          <a:lstStyle/>
          <a:p>
            <a:pPr indent="0" marL="0">
              <a:buNone/>
            </a:pPr>
            <a:r>
              <a:rPr lang="en-US" sz="900" i="1" dirty="0">
                <a:solidFill>
                  <a:srgbClr val="0369A1"/>
                </a:solidFill>
                <a:latin typeface="Calibri" pitchFamily="34" charset="0"/>
                <a:ea typeface="Calibri" pitchFamily="34" charset="-122"/>
                <a:cs typeface="Calibri" pitchFamily="34" charset="-120"/>
              </a:rPr>
              <a:t>ApiController.java</a:t>
            </a:r>
            <a:endParaRPr lang="en-US" sz="900" dirty="0"/>
          </a:p>
        </p:txBody>
      </p:sp>
      <p:sp>
        <p:nvSpPr>
          <p:cNvPr id="15" name="Text 13"/>
          <p:cNvSpPr/>
          <p:nvPr/>
        </p:nvSpPr>
        <p:spPr>
          <a:xfrm>
            <a:off x="640080" y="2743200"/>
            <a:ext cx="548640" cy="137160"/>
          </a:xfrm>
          <a:prstGeom prst="rect">
            <a:avLst/>
          </a:prstGeom>
          <a:noFill/>
          <a:ln/>
        </p:spPr>
        <p:txBody>
          <a:bodyPr wrap="square" rtlCol="0" anchor="ctr"/>
          <a:lstStyle/>
          <a:p>
            <a:pPr algn="ctr" indent="0" marL="0">
              <a:buNone/>
            </a:pPr>
            <a:r>
              <a:rPr lang="en-US" sz="1400" dirty="0">
                <a:solidFill>
                  <a:srgbClr val="028090"/>
                </a:solidFill>
                <a:latin typeface="Calibri" pitchFamily="34" charset="0"/>
                <a:ea typeface="Calibri" pitchFamily="34" charset="-122"/>
                <a:cs typeface="Calibri" pitchFamily="34" charset="-120"/>
              </a:rPr>
              <a:t>↓</a:t>
            </a:r>
            <a:endParaRPr lang="en-US" sz="1400" dirty="0"/>
          </a:p>
        </p:txBody>
      </p:sp>
      <p:sp>
        <p:nvSpPr>
          <p:cNvPr id="16" name="Shape 14"/>
          <p:cNvSpPr/>
          <p:nvPr/>
        </p:nvSpPr>
        <p:spPr>
          <a:xfrm>
            <a:off x="274320" y="2880360"/>
            <a:ext cx="5303520" cy="777240"/>
          </a:xfrm>
          <a:prstGeom prst="roundRect">
            <a:avLst>
              <a:gd name="adj" fmla="val 11765"/>
            </a:avLst>
          </a:prstGeom>
          <a:solidFill>
            <a:srgbClr val="7C3AED">
              <a:alpha val="12000"/>
            </a:srgbClr>
          </a:solidFill>
          <a:ln w="12700">
            <a:solidFill>
              <a:srgbClr val="7C3AED"/>
            </a:solidFill>
            <a:prstDash val="solid"/>
          </a:ln>
          <a:effectLst>
            <a:outerShdw sx="100000" sy="100000" kx="0" ky="0" algn="bl" rotWithShape="0" blurRad="101600" dist="25400" dir="2700000">
              <a:srgbClr val="000000">
                <a:alpha val="10000"/>
              </a:srgbClr>
            </a:outerShdw>
          </a:effectLst>
        </p:spPr>
      </p:sp>
      <p:sp>
        <p:nvSpPr>
          <p:cNvPr id="17" name="Shape 15"/>
          <p:cNvSpPr/>
          <p:nvPr/>
        </p:nvSpPr>
        <p:spPr>
          <a:xfrm>
            <a:off x="274320" y="2880360"/>
            <a:ext cx="1188720" cy="777240"/>
          </a:xfrm>
          <a:prstGeom prst="roundRect">
            <a:avLst>
              <a:gd name="adj" fmla="val 11765"/>
            </a:avLst>
          </a:prstGeom>
          <a:solidFill>
            <a:srgbClr val="7C3AED"/>
          </a:solidFill>
          <a:ln w="12700">
            <a:solidFill>
              <a:srgbClr val="7C3AED"/>
            </a:solidFill>
            <a:prstDash val="solid"/>
          </a:ln>
        </p:spPr>
      </p:sp>
      <p:sp>
        <p:nvSpPr>
          <p:cNvPr id="18" name="Text 16"/>
          <p:cNvSpPr/>
          <p:nvPr/>
        </p:nvSpPr>
        <p:spPr>
          <a:xfrm>
            <a:off x="274320" y="2880360"/>
            <a:ext cx="1188720" cy="7772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Service (Cache)</a:t>
            </a:r>
            <a:endParaRPr lang="en-US" sz="1200" dirty="0"/>
          </a:p>
        </p:txBody>
      </p:sp>
      <p:sp>
        <p:nvSpPr>
          <p:cNvPr id="19" name="Text 17"/>
          <p:cNvSpPr/>
          <p:nvPr/>
        </p:nvSpPr>
        <p:spPr>
          <a:xfrm>
            <a:off x="1600200" y="2898648"/>
            <a:ext cx="3840480" cy="329184"/>
          </a:xfrm>
          <a:prstGeom prst="rect">
            <a:avLst/>
          </a:prstGeom>
          <a:noFill/>
          <a:ln/>
        </p:spPr>
        <p:txBody>
          <a:bodyPr wrap="square" rtlCol="0" anchor="ctr"/>
          <a:lstStyle/>
          <a:p>
            <a:pPr indent="0" marL="0">
              <a:buNone/>
            </a:pPr>
            <a:r>
              <a:rPr lang="en-US" sz="1000" b="1" dirty="0">
                <a:solidFill>
                  <a:srgbClr val="1A2B3C"/>
                </a:solidFill>
                <a:latin typeface="Calibri" pitchFamily="34" charset="0"/>
                <a:ea typeface="Calibri" pitchFamily="34" charset="-122"/>
                <a:cs typeface="Calibri" pitchFamily="34" charset="-120"/>
              </a:rPr>
              <a:t>비즈니스 로직, TTL 캐시 관리</a:t>
            </a:r>
            <a:endParaRPr lang="en-US" sz="1000" dirty="0"/>
          </a:p>
        </p:txBody>
      </p:sp>
      <p:sp>
        <p:nvSpPr>
          <p:cNvPr id="20" name="Text 18"/>
          <p:cNvSpPr/>
          <p:nvPr/>
        </p:nvSpPr>
        <p:spPr>
          <a:xfrm>
            <a:off x="1600200" y="3264408"/>
            <a:ext cx="3840480" cy="329184"/>
          </a:xfrm>
          <a:prstGeom prst="rect">
            <a:avLst/>
          </a:prstGeom>
          <a:noFill/>
          <a:ln/>
        </p:spPr>
        <p:txBody>
          <a:bodyPr wrap="square" rtlCol="0" anchor="ctr"/>
          <a:lstStyle/>
          <a:p>
            <a:pPr indent="0" marL="0">
              <a:buNone/>
            </a:pPr>
            <a:r>
              <a:rPr lang="en-US" sz="900" i="1" dirty="0">
                <a:solidFill>
                  <a:srgbClr val="7C3AED"/>
                </a:solidFill>
                <a:latin typeface="Calibri" pitchFamily="34" charset="0"/>
                <a:ea typeface="Calibri" pitchFamily="34" charset="-122"/>
                <a:cs typeface="Calibri" pitchFamily="34" charset="-120"/>
              </a:rPr>
              <a:t>WaterQualityService, WaterFlowService, GroqService</a:t>
            </a:r>
            <a:endParaRPr lang="en-US" sz="900" dirty="0"/>
          </a:p>
        </p:txBody>
      </p:sp>
      <p:sp>
        <p:nvSpPr>
          <p:cNvPr id="21" name="Text 19"/>
          <p:cNvSpPr/>
          <p:nvPr/>
        </p:nvSpPr>
        <p:spPr>
          <a:xfrm>
            <a:off x="640080" y="3657600"/>
            <a:ext cx="548640" cy="137160"/>
          </a:xfrm>
          <a:prstGeom prst="rect">
            <a:avLst/>
          </a:prstGeom>
          <a:noFill/>
          <a:ln/>
        </p:spPr>
        <p:txBody>
          <a:bodyPr wrap="square" rtlCol="0" anchor="ctr"/>
          <a:lstStyle/>
          <a:p>
            <a:pPr algn="ctr" indent="0" marL="0">
              <a:buNone/>
            </a:pPr>
            <a:r>
              <a:rPr lang="en-US" sz="1400" dirty="0">
                <a:solidFill>
                  <a:srgbClr val="028090"/>
                </a:solidFill>
                <a:latin typeface="Calibri" pitchFamily="34" charset="0"/>
                <a:ea typeface="Calibri" pitchFamily="34" charset="-122"/>
                <a:cs typeface="Calibri" pitchFamily="34" charset="-120"/>
              </a:rPr>
              <a:t>↓</a:t>
            </a:r>
            <a:endParaRPr lang="en-US" sz="1400" dirty="0"/>
          </a:p>
        </p:txBody>
      </p:sp>
      <p:sp>
        <p:nvSpPr>
          <p:cNvPr id="22" name="Shape 20"/>
          <p:cNvSpPr/>
          <p:nvPr/>
        </p:nvSpPr>
        <p:spPr>
          <a:xfrm>
            <a:off x="274320" y="3794760"/>
            <a:ext cx="5303520" cy="777240"/>
          </a:xfrm>
          <a:prstGeom prst="roundRect">
            <a:avLst>
              <a:gd name="adj" fmla="val 11765"/>
            </a:avLst>
          </a:prstGeom>
          <a:solidFill>
            <a:srgbClr val="B45309">
              <a:alpha val="12000"/>
            </a:srgbClr>
          </a:solidFill>
          <a:ln w="12700">
            <a:solidFill>
              <a:srgbClr val="B45309"/>
            </a:solidFill>
            <a:prstDash val="solid"/>
          </a:ln>
          <a:effectLst>
            <a:outerShdw sx="100000" sy="100000" kx="0" ky="0" algn="bl" rotWithShape="0" blurRad="101600" dist="25400" dir="2700000">
              <a:srgbClr val="000000">
                <a:alpha val="10000"/>
              </a:srgbClr>
            </a:outerShdw>
          </a:effectLst>
        </p:spPr>
      </p:sp>
      <p:sp>
        <p:nvSpPr>
          <p:cNvPr id="23" name="Shape 21"/>
          <p:cNvSpPr/>
          <p:nvPr/>
        </p:nvSpPr>
        <p:spPr>
          <a:xfrm>
            <a:off x="274320" y="3794760"/>
            <a:ext cx="1188720" cy="777240"/>
          </a:xfrm>
          <a:prstGeom prst="roundRect">
            <a:avLst>
              <a:gd name="adj" fmla="val 11765"/>
            </a:avLst>
          </a:prstGeom>
          <a:solidFill>
            <a:srgbClr val="B45309"/>
          </a:solidFill>
          <a:ln w="12700">
            <a:solidFill>
              <a:srgbClr val="B45309"/>
            </a:solidFill>
            <a:prstDash val="solid"/>
          </a:ln>
        </p:spPr>
      </p:sp>
      <p:sp>
        <p:nvSpPr>
          <p:cNvPr id="24" name="Text 22"/>
          <p:cNvSpPr/>
          <p:nvPr/>
        </p:nvSpPr>
        <p:spPr>
          <a:xfrm>
            <a:off x="274320" y="3794760"/>
            <a:ext cx="1188720" cy="7772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ApiClient</a:t>
            </a:r>
            <a:endParaRPr lang="en-US" sz="1200" dirty="0"/>
          </a:p>
        </p:txBody>
      </p:sp>
      <p:sp>
        <p:nvSpPr>
          <p:cNvPr id="25" name="Text 23"/>
          <p:cNvSpPr/>
          <p:nvPr/>
        </p:nvSpPr>
        <p:spPr>
          <a:xfrm>
            <a:off x="1600200" y="3813048"/>
            <a:ext cx="3840480" cy="329184"/>
          </a:xfrm>
          <a:prstGeom prst="rect">
            <a:avLst/>
          </a:prstGeom>
          <a:noFill/>
          <a:ln/>
        </p:spPr>
        <p:txBody>
          <a:bodyPr wrap="square" rtlCol="0" anchor="ctr"/>
          <a:lstStyle/>
          <a:p>
            <a:pPr indent="0" marL="0">
              <a:buNone/>
            </a:pPr>
            <a:r>
              <a:rPr lang="en-US" sz="1000" b="1" dirty="0">
                <a:solidFill>
                  <a:srgbClr val="1A2B3C"/>
                </a:solidFill>
                <a:latin typeface="Calibri" pitchFamily="34" charset="0"/>
                <a:ea typeface="Calibri" pitchFamily="34" charset="-122"/>
                <a:cs typeface="Calibri" pitchFamily="34" charset="-120"/>
              </a:rPr>
              <a:t>외부 API 호출 (K-water, Groq)</a:t>
            </a:r>
            <a:endParaRPr lang="en-US" sz="1000" dirty="0"/>
          </a:p>
        </p:txBody>
      </p:sp>
      <p:sp>
        <p:nvSpPr>
          <p:cNvPr id="26" name="Text 24"/>
          <p:cNvSpPr/>
          <p:nvPr/>
        </p:nvSpPr>
        <p:spPr>
          <a:xfrm>
            <a:off x="1600200" y="4178808"/>
            <a:ext cx="3840480" cy="329184"/>
          </a:xfrm>
          <a:prstGeom prst="rect">
            <a:avLst/>
          </a:prstGeom>
          <a:noFill/>
          <a:ln/>
        </p:spPr>
        <p:txBody>
          <a:bodyPr wrap="square" rtlCol="0" anchor="ctr"/>
          <a:lstStyle/>
          <a:p>
            <a:pPr indent="0" marL="0">
              <a:buNone/>
            </a:pPr>
            <a:r>
              <a:rPr lang="en-US" sz="900" i="1" dirty="0">
                <a:solidFill>
                  <a:srgbClr val="B45309"/>
                </a:solidFill>
                <a:latin typeface="Calibri" pitchFamily="34" charset="0"/>
                <a:ea typeface="Calibri" pitchFamily="34" charset="-122"/>
                <a:cs typeface="Calibri" pitchFamily="34" charset="-120"/>
              </a:rPr>
              <a:t>WaterQualityApiClient, WaterFlowApiClient, GroqApiClient</a:t>
            </a:r>
            <a:endParaRPr lang="en-US" sz="900" dirty="0"/>
          </a:p>
        </p:txBody>
      </p:sp>
      <p:sp>
        <p:nvSpPr>
          <p:cNvPr id="27" name="Shape 25"/>
          <p:cNvSpPr/>
          <p:nvPr/>
        </p:nvSpPr>
        <p:spPr>
          <a:xfrm>
            <a:off x="5852160" y="1051560"/>
            <a:ext cx="3017520" cy="3246120"/>
          </a:xfrm>
          <a:prstGeom prst="roundRect">
            <a:avLst>
              <a:gd name="adj" fmla="val 3636"/>
            </a:avLst>
          </a:prstGeom>
          <a:solidFill>
            <a:srgbClr val="F0F7FF"/>
          </a:solidFill>
          <a:ln w="12700">
            <a:solidFill>
              <a:srgbClr val="C8E0E8"/>
            </a:solidFill>
            <a:prstDash val="solid"/>
          </a:ln>
          <a:effectLst>
            <a:outerShdw sx="100000" sy="100000" kx="0" ky="0" algn="bl" rotWithShape="0" blurRad="101600" dist="25400" dir="2700000">
              <a:srgbClr val="000000">
                <a:alpha val="10000"/>
              </a:srgbClr>
            </a:outerShdw>
          </a:effectLst>
        </p:spPr>
      </p:sp>
      <p:sp>
        <p:nvSpPr>
          <p:cNvPr id="28" name="Text 26"/>
          <p:cNvSpPr/>
          <p:nvPr/>
        </p:nvSpPr>
        <p:spPr>
          <a:xfrm>
            <a:off x="5989320" y="1115568"/>
            <a:ext cx="2743200" cy="347472"/>
          </a:xfrm>
          <a:prstGeom prst="rect">
            <a:avLst/>
          </a:prstGeom>
          <a:noFill/>
          <a:ln/>
        </p:spPr>
        <p:txBody>
          <a:bodyPr wrap="square" rtlCol="0" anchor="ctr"/>
          <a:lstStyle/>
          <a:p>
            <a:pPr algn="ctr" indent="0" marL="0">
              <a:buNone/>
            </a:pPr>
            <a:r>
              <a:rPr lang="en-US" sz="1300" b="1" dirty="0">
                <a:solidFill>
                  <a:srgbClr val="028090"/>
                </a:solidFill>
                <a:latin typeface="Calibri" pitchFamily="34" charset="0"/>
                <a:ea typeface="Calibri" pitchFamily="34" charset="-122"/>
                <a:cs typeface="Calibri" pitchFamily="34" charset="-120"/>
              </a:rPr>
              <a:t>1:1 네이밍 규칙</a:t>
            </a:r>
            <a:endParaRPr lang="en-US" sz="1300" dirty="0"/>
          </a:p>
        </p:txBody>
      </p:sp>
      <p:sp>
        <p:nvSpPr>
          <p:cNvPr id="29" name="Text 27"/>
          <p:cNvSpPr/>
          <p:nvPr/>
        </p:nvSpPr>
        <p:spPr>
          <a:xfrm>
            <a:off x="5989320" y="1463040"/>
            <a:ext cx="2743200" cy="256032"/>
          </a:xfrm>
          <a:prstGeom prst="rect">
            <a:avLst/>
          </a:prstGeom>
          <a:noFill/>
          <a:ln/>
        </p:spPr>
        <p:txBody>
          <a:bodyPr wrap="square" rtlCol="0" anchor="ctr"/>
          <a:lstStyle/>
          <a:p>
            <a:pPr algn="ctr" indent="0" marL="0">
              <a:buNone/>
            </a:pPr>
            <a:r>
              <a:rPr lang="en-US" sz="1000" i="1" dirty="0">
                <a:solidFill>
                  <a:srgbClr val="02C39A"/>
                </a:solidFill>
                <a:latin typeface="Calibri" pitchFamily="34" charset="0"/>
                <a:ea typeface="Calibri" pitchFamily="34" charset="-122"/>
                <a:cs typeface="Calibri" pitchFamily="34" charset="-120"/>
              </a:rPr>
              <a:t>AI 제안 패턴</a:t>
            </a:r>
            <a:endParaRPr lang="en-US" sz="1000" dirty="0"/>
          </a:p>
        </p:txBody>
      </p:sp>
      <p:sp>
        <p:nvSpPr>
          <p:cNvPr id="30" name="Text 28"/>
          <p:cNvSpPr/>
          <p:nvPr/>
        </p:nvSpPr>
        <p:spPr>
          <a:xfrm>
            <a:off x="5943600" y="1755648"/>
            <a:ext cx="2834640" cy="2377440"/>
          </a:xfrm>
          <a:prstGeom prst="rect">
            <a:avLst/>
          </a:prstGeom>
          <a:noFill/>
          <a:ln/>
        </p:spPr>
        <p:txBody>
          <a:bodyPr wrap="square" rtlCol="0" anchor="t"/>
          <a:lstStyle/>
          <a:p>
            <a:pPr indent="0" marL="0">
              <a:buNone/>
            </a:pPr>
            <a:r>
              <a:rPr lang="en-US" sz="950" dirty="0">
                <a:solidFill>
                  <a:srgbClr val="1A2B3C"/>
                </a:solidFill>
                <a:latin typeface="Calibri" pitchFamily="34" charset="0"/>
                <a:ea typeface="Calibri" pitchFamily="34" charset="-122"/>
                <a:cs typeface="Calibri" pitchFamily="34" charset="-120"/>
              </a:rPr>
              <a:t>WaterQualityService</a:t>
            </a:r>
            <a:endParaRPr lang="en-US" sz="950" dirty="0"/>
          </a:p>
          <a:p>
            <a:pPr indent="0" marL="0">
              <a:buNone/>
            </a:pPr>
            <a:r>
              <a:rPr lang="en-US" sz="950" dirty="0">
                <a:solidFill>
                  <a:srgbClr val="1A2B3C"/>
                </a:solidFill>
                <a:latin typeface="Calibri" pitchFamily="34" charset="0"/>
                <a:ea typeface="Calibri" pitchFamily="34" charset="-122"/>
                <a:cs typeface="Calibri" pitchFamily="34" charset="-120"/>
              </a:rPr>
              <a:t>  ↕</a:t>
            </a:r>
            <a:endParaRPr lang="en-US" sz="950" dirty="0"/>
          </a:p>
          <a:p>
            <a:pPr indent="0" marL="0">
              <a:buNone/>
            </a:pPr>
            <a:r>
              <a:rPr lang="en-US" sz="950" dirty="0">
                <a:solidFill>
                  <a:srgbClr val="1A2B3C"/>
                </a:solidFill>
                <a:latin typeface="Calibri" pitchFamily="34" charset="0"/>
                <a:ea typeface="Calibri" pitchFamily="34" charset="-122"/>
                <a:cs typeface="Calibri" pitchFamily="34" charset="-120"/>
              </a:rPr>
              <a:t>WaterQualityApiClient</a:t>
            </a:r>
            <a:endParaRPr lang="en-US" sz="950" dirty="0"/>
          </a:p>
          <a:p>
            <a:pPr indent="0" marL="0">
              <a:buNone/>
            </a:pPr>
            <a:endParaRPr lang="en-US" sz="950" dirty="0"/>
          </a:p>
          <a:p>
            <a:pPr indent="0" marL="0">
              <a:buNone/>
            </a:pPr>
            <a:r>
              <a:rPr lang="en-US" sz="950" dirty="0">
                <a:solidFill>
                  <a:srgbClr val="1A2B3C"/>
                </a:solidFill>
                <a:latin typeface="Calibri" pitchFamily="34" charset="0"/>
                <a:ea typeface="Calibri" pitchFamily="34" charset="-122"/>
                <a:cs typeface="Calibri" pitchFamily="34" charset="-120"/>
              </a:rPr>
              <a:t>WaterFlowService</a:t>
            </a:r>
            <a:endParaRPr lang="en-US" sz="950" dirty="0"/>
          </a:p>
          <a:p>
            <a:pPr indent="0" marL="0">
              <a:buNone/>
            </a:pPr>
            <a:r>
              <a:rPr lang="en-US" sz="950" dirty="0">
                <a:solidFill>
                  <a:srgbClr val="1A2B3C"/>
                </a:solidFill>
                <a:latin typeface="Calibri" pitchFamily="34" charset="0"/>
                <a:ea typeface="Calibri" pitchFamily="34" charset="-122"/>
                <a:cs typeface="Calibri" pitchFamily="34" charset="-120"/>
              </a:rPr>
              <a:t>  ↕</a:t>
            </a:r>
            <a:endParaRPr lang="en-US" sz="950" dirty="0"/>
          </a:p>
          <a:p>
            <a:pPr indent="0" marL="0">
              <a:buNone/>
            </a:pPr>
            <a:r>
              <a:rPr lang="en-US" sz="950" dirty="0">
                <a:solidFill>
                  <a:srgbClr val="1A2B3C"/>
                </a:solidFill>
                <a:latin typeface="Calibri" pitchFamily="34" charset="0"/>
                <a:ea typeface="Calibri" pitchFamily="34" charset="-122"/>
                <a:cs typeface="Calibri" pitchFamily="34" charset="-120"/>
              </a:rPr>
              <a:t>WaterFlowApiClient</a:t>
            </a:r>
            <a:endParaRPr lang="en-US" sz="950" dirty="0"/>
          </a:p>
          <a:p>
            <a:pPr indent="0" marL="0">
              <a:buNone/>
            </a:pPr>
            <a:endParaRPr lang="en-US" sz="950" dirty="0"/>
          </a:p>
          <a:p>
            <a:pPr indent="0" marL="0">
              <a:buNone/>
            </a:pPr>
            <a:r>
              <a:rPr lang="en-US" sz="950" dirty="0">
                <a:solidFill>
                  <a:srgbClr val="1A2B3C"/>
                </a:solidFill>
                <a:latin typeface="Calibri" pitchFamily="34" charset="0"/>
                <a:ea typeface="Calibri" pitchFamily="34" charset="-122"/>
                <a:cs typeface="Calibri" pitchFamily="34" charset="-120"/>
              </a:rPr>
              <a:t>GroqService</a:t>
            </a:r>
            <a:endParaRPr lang="en-US" sz="950" dirty="0"/>
          </a:p>
          <a:p>
            <a:pPr indent="0" marL="0">
              <a:buNone/>
            </a:pPr>
            <a:r>
              <a:rPr lang="en-US" sz="950" dirty="0">
                <a:solidFill>
                  <a:srgbClr val="1A2B3C"/>
                </a:solidFill>
                <a:latin typeface="Calibri" pitchFamily="34" charset="0"/>
                <a:ea typeface="Calibri" pitchFamily="34" charset="-122"/>
                <a:cs typeface="Calibri" pitchFamily="34" charset="-120"/>
              </a:rPr>
              <a:t>  ↕</a:t>
            </a:r>
            <a:endParaRPr lang="en-US" sz="950" dirty="0"/>
          </a:p>
          <a:p>
            <a:pPr indent="0" marL="0">
              <a:buNone/>
            </a:pPr>
            <a:r>
              <a:rPr lang="en-US" sz="950" dirty="0">
                <a:solidFill>
                  <a:srgbClr val="1A2B3C"/>
                </a:solidFill>
                <a:latin typeface="Calibri" pitchFamily="34" charset="0"/>
                <a:ea typeface="Calibri" pitchFamily="34" charset="-122"/>
                <a:cs typeface="Calibri" pitchFamily="34" charset="-120"/>
              </a:rPr>
              <a:t>GroqApiClient</a:t>
            </a:r>
            <a:endParaRPr lang="en-US" sz="950" dirty="0"/>
          </a:p>
        </p:txBody>
      </p:sp>
      <p:sp>
        <p:nvSpPr>
          <p:cNvPr id="31" name="Shape 29"/>
          <p:cNvSpPr/>
          <p:nvPr/>
        </p:nvSpPr>
        <p:spPr>
          <a:xfrm>
            <a:off x="274320" y="4709160"/>
            <a:ext cx="8595360" cy="320040"/>
          </a:xfrm>
          <a:prstGeom prst="roundRect">
            <a:avLst>
              <a:gd name="adj" fmla="val 17143"/>
            </a:avLst>
          </a:prstGeom>
          <a:solidFill>
            <a:srgbClr val="E8F4F8"/>
          </a:solidFill>
          <a:ln w="12700">
            <a:solidFill>
              <a:srgbClr val="028090"/>
            </a:solidFill>
            <a:prstDash val="solid"/>
          </a:ln>
        </p:spPr>
      </p:sp>
      <p:sp>
        <p:nvSpPr>
          <p:cNvPr id="32" name="Text 30"/>
          <p:cNvSpPr/>
          <p:nvPr/>
        </p:nvSpPr>
        <p:spPr>
          <a:xfrm>
            <a:off x="457200" y="4709160"/>
            <a:ext cx="8229600" cy="320040"/>
          </a:xfrm>
          <a:prstGeom prst="rect">
            <a:avLst/>
          </a:prstGeom>
          <a:noFill/>
          <a:ln/>
        </p:spPr>
        <p:txBody>
          <a:bodyPr wrap="square" rtlCol="0" anchor="ctr"/>
          <a:lstStyle/>
          <a:p>
            <a:pPr indent="0" marL="0">
              <a:buNone/>
            </a:pPr>
            <a:r>
              <a:rPr lang="en-US" sz="1050" b="1" dirty="0">
                <a:solidFill>
                  <a:srgbClr val="028090"/>
                </a:solidFill>
                <a:latin typeface="Calibri" pitchFamily="34" charset="0"/>
                <a:ea typeface="Calibri" pitchFamily="34" charset="-122"/>
                <a:cs typeface="Calibri" pitchFamily="34" charset="-120"/>
              </a:rPr>
              <a:t>레이어 구조를 정하면 역할 분담이 명확해진다 — 누가 무엇을 구현할지 자동으로 결정됨</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28090"/>
          </a:solidFill>
          <a:ln w="12700">
            <a:solidFill>
              <a:srgbClr val="028090"/>
            </a:solidFill>
            <a:prstDash val="solid"/>
          </a:ln>
        </p:spPr>
      </p:sp>
      <p:sp>
        <p:nvSpPr>
          <p:cNvPr id="3" name="Text 1"/>
          <p:cNvSpPr/>
          <p:nvPr/>
        </p:nvSpPr>
        <p:spPr>
          <a:xfrm>
            <a:off x="365760" y="0"/>
            <a:ext cx="8412480" cy="9144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기술 스택 선택 기준</a:t>
            </a:r>
            <a:endParaRPr lang="en-US" sz="2200" dirty="0"/>
          </a:p>
        </p:txBody>
      </p:sp>
      <p:sp>
        <p:nvSpPr>
          <p:cNvPr id="4" name="Shape 2"/>
          <p:cNvSpPr/>
          <p:nvPr/>
        </p:nvSpPr>
        <p:spPr>
          <a:xfrm>
            <a:off x="274320" y="1005840"/>
            <a:ext cx="1463040" cy="347472"/>
          </a:xfrm>
          <a:prstGeom prst="rect">
            <a:avLst/>
          </a:prstGeom>
          <a:solidFill>
            <a:srgbClr val="028090"/>
          </a:solidFill>
          <a:ln w="12700">
            <a:solidFill>
              <a:srgbClr val="028090"/>
            </a:solidFill>
            <a:prstDash val="solid"/>
          </a:ln>
        </p:spPr>
      </p:sp>
      <p:sp>
        <p:nvSpPr>
          <p:cNvPr id="5" name="Shape 3"/>
          <p:cNvSpPr/>
          <p:nvPr/>
        </p:nvSpPr>
        <p:spPr>
          <a:xfrm>
            <a:off x="1737360" y="1005840"/>
            <a:ext cx="2560320" cy="347472"/>
          </a:xfrm>
          <a:prstGeom prst="rect">
            <a:avLst/>
          </a:prstGeom>
          <a:solidFill>
            <a:srgbClr val="028090"/>
          </a:solidFill>
          <a:ln w="12700">
            <a:solidFill>
              <a:srgbClr val="028090"/>
            </a:solidFill>
            <a:prstDash val="solid"/>
          </a:ln>
        </p:spPr>
      </p:sp>
      <p:sp>
        <p:nvSpPr>
          <p:cNvPr id="6" name="Shape 4"/>
          <p:cNvSpPr/>
          <p:nvPr/>
        </p:nvSpPr>
        <p:spPr>
          <a:xfrm>
            <a:off x="4297680" y="1005840"/>
            <a:ext cx="4572000" cy="347472"/>
          </a:xfrm>
          <a:prstGeom prst="rect">
            <a:avLst/>
          </a:prstGeom>
          <a:solidFill>
            <a:srgbClr val="028090"/>
          </a:solidFill>
          <a:ln w="12700">
            <a:solidFill>
              <a:srgbClr val="028090"/>
            </a:solidFill>
            <a:prstDash val="solid"/>
          </a:ln>
        </p:spPr>
      </p:sp>
      <p:sp>
        <p:nvSpPr>
          <p:cNvPr id="7" name="Text 5"/>
          <p:cNvSpPr/>
          <p:nvPr/>
        </p:nvSpPr>
        <p:spPr>
          <a:xfrm>
            <a:off x="274320" y="1005840"/>
            <a:ext cx="1463040" cy="34747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계층</a:t>
            </a:r>
            <a:endParaRPr lang="en-US" sz="1100" dirty="0"/>
          </a:p>
        </p:txBody>
      </p:sp>
      <p:sp>
        <p:nvSpPr>
          <p:cNvPr id="8" name="Text 6"/>
          <p:cNvSpPr/>
          <p:nvPr/>
        </p:nvSpPr>
        <p:spPr>
          <a:xfrm>
            <a:off x="1737360" y="1005840"/>
            <a:ext cx="2560320" cy="34747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선택 기술</a:t>
            </a:r>
            <a:endParaRPr lang="en-US" sz="1100" dirty="0"/>
          </a:p>
        </p:txBody>
      </p:sp>
      <p:sp>
        <p:nvSpPr>
          <p:cNvPr id="9" name="Text 7"/>
          <p:cNvSpPr/>
          <p:nvPr/>
        </p:nvSpPr>
        <p:spPr>
          <a:xfrm>
            <a:off x="4297680" y="1005840"/>
            <a:ext cx="4572000" cy="34747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선택 이유</a:t>
            </a:r>
            <a:endParaRPr lang="en-US" sz="1100" dirty="0"/>
          </a:p>
        </p:txBody>
      </p:sp>
      <p:sp>
        <p:nvSpPr>
          <p:cNvPr id="10" name="Shape 8"/>
          <p:cNvSpPr/>
          <p:nvPr/>
        </p:nvSpPr>
        <p:spPr>
          <a:xfrm>
            <a:off x="274320" y="1353312"/>
            <a:ext cx="8595360" cy="685800"/>
          </a:xfrm>
          <a:prstGeom prst="rect">
            <a:avLst/>
          </a:prstGeom>
          <a:solidFill>
            <a:srgbClr val="F0F7FF"/>
          </a:solidFill>
          <a:ln w="12700">
            <a:solidFill>
              <a:srgbClr val="C8E0E8"/>
            </a:solidFill>
            <a:prstDash val="solid"/>
          </a:ln>
        </p:spPr>
      </p:sp>
      <p:sp>
        <p:nvSpPr>
          <p:cNvPr id="11" name="Text 9"/>
          <p:cNvSpPr/>
          <p:nvPr/>
        </p:nvSpPr>
        <p:spPr>
          <a:xfrm>
            <a:off x="320040" y="1353312"/>
            <a:ext cx="1371600" cy="685800"/>
          </a:xfrm>
          <a:prstGeom prst="rect">
            <a:avLst/>
          </a:prstGeom>
          <a:noFill/>
          <a:ln/>
        </p:spPr>
        <p:txBody>
          <a:bodyPr wrap="square" rtlCol="0" anchor="ctr"/>
          <a:lstStyle/>
          <a:p>
            <a:pPr algn="ctr" indent="0" marL="0">
              <a:buNone/>
            </a:pPr>
            <a:r>
              <a:rPr lang="en-US" sz="1100" b="1" dirty="0">
                <a:solidFill>
                  <a:srgbClr val="028090"/>
                </a:solidFill>
                <a:latin typeface="Calibri" pitchFamily="34" charset="0"/>
                <a:ea typeface="Calibri" pitchFamily="34" charset="-122"/>
                <a:cs typeface="Calibri" pitchFamily="34" charset="-120"/>
              </a:rPr>
              <a:t>프론트엔드</a:t>
            </a:r>
            <a:endParaRPr lang="en-US" sz="1100" dirty="0"/>
          </a:p>
        </p:txBody>
      </p:sp>
      <p:sp>
        <p:nvSpPr>
          <p:cNvPr id="12" name="Text 10"/>
          <p:cNvSpPr/>
          <p:nvPr/>
        </p:nvSpPr>
        <p:spPr>
          <a:xfrm>
            <a:off x="1783080" y="1353312"/>
            <a:ext cx="2423160" cy="685800"/>
          </a:xfrm>
          <a:prstGeom prst="rect">
            <a:avLst/>
          </a:prstGeom>
          <a:noFill/>
          <a:ln/>
        </p:spPr>
        <p:txBody>
          <a:bodyPr wrap="square" rtlCol="0" anchor="ctr"/>
          <a:lstStyle/>
          <a:p>
            <a:pPr indent="0" marL="0">
              <a:buNone/>
            </a:pPr>
            <a:r>
              <a:rPr lang="en-US" sz="1000" dirty="0">
                <a:solidFill>
                  <a:srgbClr val="1A2B3C"/>
                </a:solidFill>
                <a:latin typeface="Calibri" pitchFamily="34" charset="0"/>
                <a:ea typeface="Calibri" pitchFamily="34" charset="-122"/>
                <a:cs typeface="Calibri" pitchFamily="34" charset="-120"/>
              </a:rPr>
              <a:t>Vanilla JS</a:t>
            </a:r>
            <a:endParaRPr lang="en-US" sz="1000" dirty="0"/>
          </a:p>
          <a:p>
            <a:pPr indent="0" marL="0">
              <a:buNone/>
            </a:pPr>
            <a:r>
              <a:rPr lang="en-US" sz="1000" dirty="0">
                <a:solidFill>
                  <a:srgbClr val="1A2B3C"/>
                </a:solidFill>
                <a:latin typeface="Calibri" pitchFamily="34" charset="0"/>
                <a:ea typeface="Calibri" pitchFamily="34" charset="-122"/>
                <a:cs typeface="Calibri" pitchFamily="34" charset="-120"/>
              </a:rPr>
              <a:t>(단일 HTML)</a:t>
            </a:r>
            <a:endParaRPr lang="en-US" sz="1000" dirty="0"/>
          </a:p>
        </p:txBody>
      </p:sp>
      <p:sp>
        <p:nvSpPr>
          <p:cNvPr id="13" name="Text 11"/>
          <p:cNvSpPr/>
          <p:nvPr/>
        </p:nvSpPr>
        <p:spPr>
          <a:xfrm>
            <a:off x="4343400" y="1353312"/>
            <a:ext cx="4434840" cy="685800"/>
          </a:xfrm>
          <a:prstGeom prst="rect">
            <a:avLst/>
          </a:prstGeom>
          <a:noFill/>
          <a:ln/>
        </p:spPr>
        <p:txBody>
          <a:bodyPr wrap="square" rtlCol="0" anchor="ctr"/>
          <a:lstStyle/>
          <a:p>
            <a:pPr indent="0" marL="0">
              <a:buNone/>
            </a:pPr>
            <a:r>
              <a:rPr lang="en-US" sz="1000" dirty="0">
                <a:solidFill>
                  <a:srgbClr val="4A6A80"/>
                </a:solidFill>
                <a:latin typeface="Calibri" pitchFamily="34" charset="0"/>
                <a:ea typeface="Calibri" pitchFamily="34" charset="-122"/>
                <a:cs typeface="Calibri" pitchFamily="34" charset="-120"/>
              </a:rPr>
              <a:t>프레임워크 없이 단일 HTML 서빙, 배포 초간단</a:t>
            </a:r>
            <a:endParaRPr lang="en-US" sz="1000" dirty="0"/>
          </a:p>
        </p:txBody>
      </p:sp>
      <p:sp>
        <p:nvSpPr>
          <p:cNvPr id="14" name="Shape 12"/>
          <p:cNvSpPr/>
          <p:nvPr/>
        </p:nvSpPr>
        <p:spPr>
          <a:xfrm>
            <a:off x="274320" y="2075688"/>
            <a:ext cx="8595360" cy="685800"/>
          </a:xfrm>
          <a:prstGeom prst="rect">
            <a:avLst/>
          </a:prstGeom>
          <a:solidFill>
            <a:srgbClr val="FFFFFF"/>
          </a:solidFill>
          <a:ln w="12700">
            <a:solidFill>
              <a:srgbClr val="C8E0E8"/>
            </a:solidFill>
            <a:prstDash val="solid"/>
          </a:ln>
        </p:spPr>
      </p:sp>
      <p:sp>
        <p:nvSpPr>
          <p:cNvPr id="15" name="Text 13"/>
          <p:cNvSpPr/>
          <p:nvPr/>
        </p:nvSpPr>
        <p:spPr>
          <a:xfrm>
            <a:off x="320040" y="2075688"/>
            <a:ext cx="1371600" cy="685800"/>
          </a:xfrm>
          <a:prstGeom prst="rect">
            <a:avLst/>
          </a:prstGeom>
          <a:noFill/>
          <a:ln/>
        </p:spPr>
        <p:txBody>
          <a:bodyPr wrap="square" rtlCol="0" anchor="ctr"/>
          <a:lstStyle/>
          <a:p>
            <a:pPr algn="ctr" indent="0" marL="0">
              <a:buNone/>
            </a:pPr>
            <a:r>
              <a:rPr lang="en-US" sz="1100" b="1" dirty="0">
                <a:solidFill>
                  <a:srgbClr val="028090"/>
                </a:solidFill>
                <a:latin typeface="Calibri" pitchFamily="34" charset="0"/>
                <a:ea typeface="Calibri" pitchFamily="34" charset="-122"/>
                <a:cs typeface="Calibri" pitchFamily="34" charset="-120"/>
              </a:rPr>
              <a:t>백엔드</a:t>
            </a:r>
            <a:endParaRPr lang="en-US" sz="1100" dirty="0"/>
          </a:p>
        </p:txBody>
      </p:sp>
      <p:sp>
        <p:nvSpPr>
          <p:cNvPr id="16" name="Text 14"/>
          <p:cNvSpPr/>
          <p:nvPr/>
        </p:nvSpPr>
        <p:spPr>
          <a:xfrm>
            <a:off x="1783080" y="2075688"/>
            <a:ext cx="2423160" cy="685800"/>
          </a:xfrm>
          <a:prstGeom prst="rect">
            <a:avLst/>
          </a:prstGeom>
          <a:noFill/>
          <a:ln/>
        </p:spPr>
        <p:txBody>
          <a:bodyPr wrap="square" rtlCol="0" anchor="ctr"/>
          <a:lstStyle/>
          <a:p>
            <a:pPr indent="0" marL="0">
              <a:buNone/>
            </a:pPr>
            <a:r>
              <a:rPr lang="en-US" sz="1000" dirty="0">
                <a:solidFill>
                  <a:srgbClr val="1A2B3C"/>
                </a:solidFill>
                <a:latin typeface="Calibri" pitchFamily="34" charset="0"/>
                <a:ea typeface="Calibri" pitchFamily="34" charset="-122"/>
                <a:cs typeface="Calibri" pitchFamily="34" charset="-120"/>
              </a:rPr>
              <a:t>Spring Boot 3.3</a:t>
            </a:r>
            <a:endParaRPr lang="en-US" sz="1000" dirty="0"/>
          </a:p>
          <a:p>
            <a:pPr indent="0" marL="0">
              <a:buNone/>
            </a:pPr>
            <a:r>
              <a:rPr lang="en-US" sz="1000" dirty="0">
                <a:solidFill>
                  <a:srgbClr val="1A2B3C"/>
                </a:solidFill>
                <a:latin typeface="Calibri" pitchFamily="34" charset="0"/>
                <a:ea typeface="Calibri" pitchFamily="34" charset="-122"/>
                <a:cs typeface="Calibri" pitchFamily="34" charset="-120"/>
              </a:rPr>
              <a:t>(Java 17)</a:t>
            </a:r>
            <a:endParaRPr lang="en-US" sz="1000" dirty="0"/>
          </a:p>
        </p:txBody>
      </p:sp>
      <p:sp>
        <p:nvSpPr>
          <p:cNvPr id="17" name="Text 15"/>
          <p:cNvSpPr/>
          <p:nvPr/>
        </p:nvSpPr>
        <p:spPr>
          <a:xfrm>
            <a:off x="4343400" y="2075688"/>
            <a:ext cx="4434840" cy="685800"/>
          </a:xfrm>
          <a:prstGeom prst="rect">
            <a:avLst/>
          </a:prstGeom>
          <a:noFill/>
          <a:ln/>
        </p:spPr>
        <p:txBody>
          <a:bodyPr wrap="square" rtlCol="0" anchor="ctr"/>
          <a:lstStyle/>
          <a:p>
            <a:pPr indent="0" marL="0">
              <a:buNone/>
            </a:pPr>
            <a:r>
              <a:rPr lang="en-US" sz="1000" dirty="0">
                <a:solidFill>
                  <a:srgbClr val="4A6A80"/>
                </a:solidFill>
                <a:latin typeface="Calibri" pitchFamily="34" charset="0"/>
                <a:ea typeface="Calibri" pitchFamily="34" charset="-122"/>
                <a:cs typeface="Calibri" pitchFamily="34" charset="-120"/>
              </a:rPr>
              <a:t>팀 숙련도 높음, 공공 API 연동 용이, 안정성 검증</a:t>
            </a:r>
            <a:endParaRPr lang="en-US" sz="1000" dirty="0"/>
          </a:p>
        </p:txBody>
      </p:sp>
      <p:sp>
        <p:nvSpPr>
          <p:cNvPr id="18" name="Shape 16"/>
          <p:cNvSpPr/>
          <p:nvPr/>
        </p:nvSpPr>
        <p:spPr>
          <a:xfrm>
            <a:off x="274320" y="2798064"/>
            <a:ext cx="8595360" cy="685800"/>
          </a:xfrm>
          <a:prstGeom prst="rect">
            <a:avLst/>
          </a:prstGeom>
          <a:solidFill>
            <a:srgbClr val="F0F7FF"/>
          </a:solidFill>
          <a:ln w="12700">
            <a:solidFill>
              <a:srgbClr val="C8E0E8"/>
            </a:solidFill>
            <a:prstDash val="solid"/>
          </a:ln>
        </p:spPr>
      </p:sp>
      <p:sp>
        <p:nvSpPr>
          <p:cNvPr id="19" name="Text 17"/>
          <p:cNvSpPr/>
          <p:nvPr/>
        </p:nvSpPr>
        <p:spPr>
          <a:xfrm>
            <a:off x="320040" y="2798064"/>
            <a:ext cx="1371600" cy="685800"/>
          </a:xfrm>
          <a:prstGeom prst="rect">
            <a:avLst/>
          </a:prstGeom>
          <a:noFill/>
          <a:ln/>
        </p:spPr>
        <p:txBody>
          <a:bodyPr wrap="square" rtlCol="0" anchor="ctr"/>
          <a:lstStyle/>
          <a:p>
            <a:pPr algn="ctr" indent="0" marL="0">
              <a:buNone/>
            </a:pPr>
            <a:r>
              <a:rPr lang="en-US" sz="1100" b="1" dirty="0">
                <a:solidFill>
                  <a:srgbClr val="028090"/>
                </a:solidFill>
                <a:latin typeface="Calibri" pitchFamily="34" charset="0"/>
                <a:ea typeface="Calibri" pitchFamily="34" charset="-122"/>
                <a:cs typeface="Calibri" pitchFamily="34" charset="-120"/>
              </a:rPr>
              <a:t>캐시</a:t>
            </a:r>
            <a:endParaRPr lang="en-US" sz="1100" dirty="0"/>
          </a:p>
        </p:txBody>
      </p:sp>
      <p:sp>
        <p:nvSpPr>
          <p:cNvPr id="20" name="Text 18"/>
          <p:cNvSpPr/>
          <p:nvPr/>
        </p:nvSpPr>
        <p:spPr>
          <a:xfrm>
            <a:off x="1783080" y="2798064"/>
            <a:ext cx="2423160" cy="685800"/>
          </a:xfrm>
          <a:prstGeom prst="rect">
            <a:avLst/>
          </a:prstGeom>
          <a:noFill/>
          <a:ln/>
        </p:spPr>
        <p:txBody>
          <a:bodyPr wrap="square" rtlCol="0" anchor="ctr"/>
          <a:lstStyle/>
          <a:p>
            <a:pPr indent="0" marL="0">
              <a:buNone/>
            </a:pPr>
            <a:r>
              <a:rPr lang="en-US" sz="1000" dirty="0">
                <a:solidFill>
                  <a:srgbClr val="1A2B3C"/>
                </a:solidFill>
                <a:latin typeface="Calibri" pitchFamily="34" charset="0"/>
                <a:ea typeface="Calibri" pitchFamily="34" charset="-122"/>
                <a:cs typeface="Calibri" pitchFamily="34" charset="-120"/>
              </a:rPr>
              <a:t>ConcurrentHashMap</a:t>
            </a:r>
            <a:endParaRPr lang="en-US" sz="1000" dirty="0"/>
          </a:p>
          <a:p>
            <a:pPr indent="0" marL="0">
              <a:buNone/>
            </a:pPr>
            <a:r>
              <a:rPr lang="en-US" sz="1000" dirty="0">
                <a:solidFill>
                  <a:srgbClr val="1A2B3C"/>
                </a:solidFill>
                <a:latin typeface="Calibri" pitchFamily="34" charset="0"/>
                <a:ea typeface="Calibri" pitchFamily="34" charset="-122"/>
                <a:cs typeface="Calibri" pitchFamily="34" charset="-120"/>
              </a:rPr>
              <a:t>(인메모리)</a:t>
            </a:r>
            <a:endParaRPr lang="en-US" sz="1000" dirty="0"/>
          </a:p>
        </p:txBody>
      </p:sp>
      <p:sp>
        <p:nvSpPr>
          <p:cNvPr id="21" name="Text 19"/>
          <p:cNvSpPr/>
          <p:nvPr/>
        </p:nvSpPr>
        <p:spPr>
          <a:xfrm>
            <a:off x="4343400" y="2798064"/>
            <a:ext cx="4434840" cy="685800"/>
          </a:xfrm>
          <a:prstGeom prst="rect">
            <a:avLst/>
          </a:prstGeom>
          <a:noFill/>
          <a:ln/>
        </p:spPr>
        <p:txBody>
          <a:bodyPr wrap="square" rtlCol="0" anchor="ctr"/>
          <a:lstStyle/>
          <a:p>
            <a:pPr indent="0" marL="0">
              <a:buNone/>
            </a:pPr>
            <a:r>
              <a:rPr lang="en-US" sz="1000" dirty="0">
                <a:solidFill>
                  <a:srgbClr val="4A6A80"/>
                </a:solidFill>
                <a:latin typeface="Calibri" pitchFamily="34" charset="0"/>
                <a:ea typeface="Calibri" pitchFamily="34" charset="-122"/>
                <a:cs typeface="Calibri" pitchFamily="34" charset="-120"/>
              </a:rPr>
              <a:t>DB 없이 MVP 구현, 추후 Redis 전환 가능</a:t>
            </a:r>
            <a:endParaRPr lang="en-US" sz="1000" dirty="0"/>
          </a:p>
        </p:txBody>
      </p:sp>
      <p:sp>
        <p:nvSpPr>
          <p:cNvPr id="22" name="Shape 20"/>
          <p:cNvSpPr/>
          <p:nvPr/>
        </p:nvSpPr>
        <p:spPr>
          <a:xfrm>
            <a:off x="274320" y="3520440"/>
            <a:ext cx="8595360" cy="685800"/>
          </a:xfrm>
          <a:prstGeom prst="rect">
            <a:avLst/>
          </a:prstGeom>
          <a:solidFill>
            <a:srgbClr val="FFFFFF"/>
          </a:solidFill>
          <a:ln w="12700">
            <a:solidFill>
              <a:srgbClr val="C8E0E8"/>
            </a:solidFill>
            <a:prstDash val="solid"/>
          </a:ln>
        </p:spPr>
      </p:sp>
      <p:sp>
        <p:nvSpPr>
          <p:cNvPr id="23" name="Text 21"/>
          <p:cNvSpPr/>
          <p:nvPr/>
        </p:nvSpPr>
        <p:spPr>
          <a:xfrm>
            <a:off x="320040" y="3520440"/>
            <a:ext cx="1371600" cy="685800"/>
          </a:xfrm>
          <a:prstGeom prst="rect">
            <a:avLst/>
          </a:prstGeom>
          <a:noFill/>
          <a:ln/>
        </p:spPr>
        <p:txBody>
          <a:bodyPr wrap="square" rtlCol="0" anchor="ctr"/>
          <a:lstStyle/>
          <a:p>
            <a:pPr algn="ctr" indent="0" marL="0">
              <a:buNone/>
            </a:pPr>
            <a:r>
              <a:rPr lang="en-US" sz="1100" b="1" dirty="0">
                <a:solidFill>
                  <a:srgbClr val="028090"/>
                </a:solidFill>
                <a:latin typeface="Calibri" pitchFamily="34" charset="0"/>
                <a:ea typeface="Calibri" pitchFamily="34" charset="-122"/>
                <a:cs typeface="Calibri" pitchFamily="34" charset="-120"/>
              </a:rPr>
              <a:t>AI 기능</a:t>
            </a:r>
            <a:endParaRPr lang="en-US" sz="1100" dirty="0"/>
          </a:p>
        </p:txBody>
      </p:sp>
      <p:sp>
        <p:nvSpPr>
          <p:cNvPr id="24" name="Text 22"/>
          <p:cNvSpPr/>
          <p:nvPr/>
        </p:nvSpPr>
        <p:spPr>
          <a:xfrm>
            <a:off x="1783080" y="3520440"/>
            <a:ext cx="2423160" cy="685800"/>
          </a:xfrm>
          <a:prstGeom prst="rect">
            <a:avLst/>
          </a:prstGeom>
          <a:noFill/>
          <a:ln/>
        </p:spPr>
        <p:txBody>
          <a:bodyPr wrap="square" rtlCol="0" anchor="ctr"/>
          <a:lstStyle/>
          <a:p>
            <a:pPr indent="0" marL="0">
              <a:buNone/>
            </a:pPr>
            <a:r>
              <a:rPr lang="en-US" sz="1000" dirty="0">
                <a:solidFill>
                  <a:srgbClr val="1A2B3C"/>
                </a:solidFill>
                <a:latin typeface="Calibri" pitchFamily="34" charset="0"/>
                <a:ea typeface="Calibri" pitchFamily="34" charset="-122"/>
                <a:cs typeface="Calibri" pitchFamily="34" charset="-120"/>
              </a:rPr>
              <a:t>Groq API</a:t>
            </a:r>
            <a:endParaRPr lang="en-US" sz="1000" dirty="0"/>
          </a:p>
          <a:p>
            <a:pPr indent="0" marL="0">
              <a:buNone/>
            </a:pPr>
            <a:r>
              <a:rPr lang="en-US" sz="1000" dirty="0">
                <a:solidFill>
                  <a:srgbClr val="1A2B3C"/>
                </a:solidFill>
                <a:latin typeface="Calibri" pitchFamily="34" charset="0"/>
                <a:ea typeface="Calibri" pitchFamily="34" charset="-122"/>
                <a:cs typeface="Calibri" pitchFamily="34" charset="-120"/>
              </a:rPr>
              <a:t>(LLaMA-3.3-70B)</a:t>
            </a:r>
            <a:endParaRPr lang="en-US" sz="1000" dirty="0"/>
          </a:p>
        </p:txBody>
      </p:sp>
      <p:sp>
        <p:nvSpPr>
          <p:cNvPr id="25" name="Text 23"/>
          <p:cNvSpPr/>
          <p:nvPr/>
        </p:nvSpPr>
        <p:spPr>
          <a:xfrm>
            <a:off x="4343400" y="3520440"/>
            <a:ext cx="4434840" cy="685800"/>
          </a:xfrm>
          <a:prstGeom prst="rect">
            <a:avLst/>
          </a:prstGeom>
          <a:noFill/>
          <a:ln/>
        </p:spPr>
        <p:txBody>
          <a:bodyPr wrap="square" rtlCol="0" anchor="ctr"/>
          <a:lstStyle/>
          <a:p>
            <a:pPr indent="0" marL="0">
              <a:buNone/>
            </a:pPr>
            <a:r>
              <a:rPr lang="en-US" sz="1000" dirty="0">
                <a:solidFill>
                  <a:srgbClr val="4A6A80"/>
                </a:solidFill>
                <a:latin typeface="Calibri" pitchFamily="34" charset="0"/>
                <a:ea typeface="Calibri" pitchFamily="34" charset="-122"/>
                <a:cs typeface="Calibri" pitchFamily="34" charset="-120"/>
              </a:rPr>
              <a:t>무료 티어 즉시 사용, OpenAI 호환 API 형식</a:t>
            </a:r>
            <a:endParaRPr lang="en-US" sz="1000" dirty="0"/>
          </a:p>
        </p:txBody>
      </p:sp>
      <p:sp>
        <p:nvSpPr>
          <p:cNvPr id="26" name="Shape 24"/>
          <p:cNvSpPr/>
          <p:nvPr/>
        </p:nvSpPr>
        <p:spPr>
          <a:xfrm>
            <a:off x="274320" y="4242816"/>
            <a:ext cx="8595360" cy="685800"/>
          </a:xfrm>
          <a:prstGeom prst="rect">
            <a:avLst/>
          </a:prstGeom>
          <a:solidFill>
            <a:srgbClr val="F0F7FF"/>
          </a:solidFill>
          <a:ln w="12700">
            <a:solidFill>
              <a:srgbClr val="C8E0E8"/>
            </a:solidFill>
            <a:prstDash val="solid"/>
          </a:ln>
        </p:spPr>
      </p:sp>
      <p:sp>
        <p:nvSpPr>
          <p:cNvPr id="27" name="Text 25"/>
          <p:cNvSpPr/>
          <p:nvPr/>
        </p:nvSpPr>
        <p:spPr>
          <a:xfrm>
            <a:off x="320040" y="4242816"/>
            <a:ext cx="1371600" cy="685800"/>
          </a:xfrm>
          <a:prstGeom prst="rect">
            <a:avLst/>
          </a:prstGeom>
          <a:noFill/>
          <a:ln/>
        </p:spPr>
        <p:txBody>
          <a:bodyPr wrap="square" rtlCol="0" anchor="ctr"/>
          <a:lstStyle/>
          <a:p>
            <a:pPr algn="ctr" indent="0" marL="0">
              <a:buNone/>
            </a:pPr>
            <a:r>
              <a:rPr lang="en-US" sz="1100" b="1" dirty="0">
                <a:solidFill>
                  <a:srgbClr val="028090"/>
                </a:solidFill>
                <a:latin typeface="Calibri" pitchFamily="34" charset="0"/>
                <a:ea typeface="Calibri" pitchFamily="34" charset="-122"/>
                <a:cs typeface="Calibri" pitchFamily="34" charset="-120"/>
              </a:rPr>
              <a:t>빌드/패키지</a:t>
            </a:r>
            <a:endParaRPr lang="en-US" sz="1100" dirty="0"/>
          </a:p>
        </p:txBody>
      </p:sp>
      <p:sp>
        <p:nvSpPr>
          <p:cNvPr id="28" name="Text 26"/>
          <p:cNvSpPr/>
          <p:nvPr/>
        </p:nvSpPr>
        <p:spPr>
          <a:xfrm>
            <a:off x="1783080" y="4242816"/>
            <a:ext cx="2423160" cy="685800"/>
          </a:xfrm>
          <a:prstGeom prst="rect">
            <a:avLst/>
          </a:prstGeom>
          <a:noFill/>
          <a:ln/>
        </p:spPr>
        <p:txBody>
          <a:bodyPr wrap="square" rtlCol="0" anchor="ctr"/>
          <a:lstStyle/>
          <a:p>
            <a:pPr indent="0" marL="0">
              <a:buNone/>
            </a:pPr>
            <a:r>
              <a:rPr lang="en-US" sz="1000" dirty="0">
                <a:solidFill>
                  <a:srgbClr val="1A2B3C"/>
                </a:solidFill>
                <a:latin typeface="Calibri" pitchFamily="34" charset="0"/>
                <a:ea typeface="Calibri" pitchFamily="34" charset="-122"/>
                <a:cs typeface="Calibri" pitchFamily="34" charset="-120"/>
              </a:rPr>
              <a:t>Maven</a:t>
            </a:r>
            <a:endParaRPr lang="en-US" sz="1000" dirty="0"/>
          </a:p>
        </p:txBody>
      </p:sp>
      <p:sp>
        <p:nvSpPr>
          <p:cNvPr id="29" name="Text 27"/>
          <p:cNvSpPr/>
          <p:nvPr/>
        </p:nvSpPr>
        <p:spPr>
          <a:xfrm>
            <a:off x="4343400" y="4242816"/>
            <a:ext cx="4434840" cy="685800"/>
          </a:xfrm>
          <a:prstGeom prst="rect">
            <a:avLst/>
          </a:prstGeom>
          <a:noFill/>
          <a:ln/>
        </p:spPr>
        <p:txBody>
          <a:bodyPr wrap="square" rtlCol="0" anchor="ctr"/>
          <a:lstStyle/>
          <a:p>
            <a:pPr indent="0" marL="0">
              <a:buNone/>
            </a:pPr>
            <a:r>
              <a:rPr lang="en-US" sz="1000" dirty="0">
                <a:solidFill>
                  <a:srgbClr val="4A6A80"/>
                </a:solidFill>
                <a:latin typeface="Calibri" pitchFamily="34" charset="0"/>
                <a:ea typeface="Calibri" pitchFamily="34" charset="-122"/>
                <a:cs typeface="Calibri" pitchFamily="34" charset="-120"/>
              </a:rPr>
              <a:t>의존성 관리 표준화, 팀원 환경 통일</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28090"/>
          </a:solidFill>
          <a:ln w="12700">
            <a:solidFill>
              <a:srgbClr val="028090"/>
            </a:solidFill>
            <a:prstDash val="solid"/>
          </a:ln>
        </p:spPr>
      </p:sp>
      <p:sp>
        <p:nvSpPr>
          <p:cNvPr id="3" name="Text 1"/>
          <p:cNvSpPr/>
          <p:nvPr/>
        </p:nvSpPr>
        <p:spPr>
          <a:xfrm>
            <a:off x="365760" y="0"/>
            <a:ext cx="8412480" cy="9144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화면 설계서(와이어프레임) 작성</a:t>
            </a:r>
            <a:endParaRPr lang="en-US" sz="2200" dirty="0"/>
          </a:p>
        </p:txBody>
      </p:sp>
      <p:sp>
        <p:nvSpPr>
          <p:cNvPr id="4" name="Text 2"/>
          <p:cNvSpPr/>
          <p:nvPr/>
        </p:nvSpPr>
        <p:spPr>
          <a:xfrm>
            <a:off x="274320" y="1024128"/>
            <a:ext cx="4114800" cy="292608"/>
          </a:xfrm>
          <a:prstGeom prst="rect">
            <a:avLst/>
          </a:prstGeom>
          <a:noFill/>
          <a:ln/>
        </p:spPr>
        <p:txBody>
          <a:bodyPr wrap="square"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수자이 화면 구성 요소</a:t>
            </a:r>
            <a:endParaRPr lang="en-US" sz="1300" dirty="0"/>
          </a:p>
        </p:txBody>
      </p:sp>
      <p:sp>
        <p:nvSpPr>
          <p:cNvPr id="5" name="Shape 3"/>
          <p:cNvSpPr/>
          <p:nvPr/>
        </p:nvSpPr>
        <p:spPr>
          <a:xfrm>
            <a:off x="274320" y="1371600"/>
            <a:ext cx="4206240" cy="457200"/>
          </a:xfrm>
          <a:prstGeom prst="roundRect">
            <a:avLst>
              <a:gd name="adj" fmla="val 14000"/>
            </a:avLst>
          </a:prstGeom>
          <a:solidFill>
            <a:srgbClr val="F0F7FF"/>
          </a:solidFill>
          <a:ln w="12700">
            <a:solidFill>
              <a:srgbClr val="C8E0E8"/>
            </a:solidFill>
            <a:prstDash val="solid"/>
          </a:ln>
        </p:spPr>
      </p:sp>
      <p:sp>
        <p:nvSpPr>
          <p:cNvPr id="6" name="Text 4"/>
          <p:cNvSpPr/>
          <p:nvPr/>
        </p:nvSpPr>
        <p:spPr>
          <a:xfrm>
            <a:off x="411480" y="1389888"/>
            <a:ext cx="3931920" cy="420624"/>
          </a:xfrm>
          <a:prstGeom prst="rect">
            <a:avLst/>
          </a:prstGeom>
          <a:noFill/>
          <a:ln/>
        </p:spPr>
        <p:txBody>
          <a:bodyPr wrap="square" rtlCol="0" anchor="ctr"/>
          <a:lstStyle/>
          <a:p>
            <a:pPr indent="0" marL="0">
              <a:buNone/>
            </a:pPr>
            <a:r>
              <a:rPr lang="en-US" sz="1100" dirty="0">
                <a:solidFill>
                  <a:srgbClr val="1A2B3C"/>
                </a:solidFill>
                <a:latin typeface="Calibri" pitchFamily="34" charset="0"/>
                <a:ea typeface="Calibri" pitchFamily="34" charset="-122"/>
                <a:cs typeface="Calibri" pitchFamily="34" charset="-120"/>
              </a:rPr>
              <a:t>🔽  정수장 선택 드롭다운</a:t>
            </a:r>
            <a:endParaRPr lang="en-US" sz="1100" dirty="0"/>
          </a:p>
        </p:txBody>
      </p:sp>
      <p:sp>
        <p:nvSpPr>
          <p:cNvPr id="7" name="Shape 5"/>
          <p:cNvSpPr/>
          <p:nvPr/>
        </p:nvSpPr>
        <p:spPr>
          <a:xfrm>
            <a:off x="274320" y="1920240"/>
            <a:ext cx="4206240" cy="457200"/>
          </a:xfrm>
          <a:prstGeom prst="roundRect">
            <a:avLst>
              <a:gd name="adj" fmla="val 14000"/>
            </a:avLst>
          </a:prstGeom>
          <a:solidFill>
            <a:srgbClr val="E8F4F8"/>
          </a:solidFill>
          <a:ln w="12700">
            <a:solidFill>
              <a:srgbClr val="C8E0E8"/>
            </a:solidFill>
            <a:prstDash val="solid"/>
          </a:ln>
        </p:spPr>
      </p:sp>
      <p:sp>
        <p:nvSpPr>
          <p:cNvPr id="8" name="Text 6"/>
          <p:cNvSpPr/>
          <p:nvPr/>
        </p:nvSpPr>
        <p:spPr>
          <a:xfrm>
            <a:off x="411480" y="1938528"/>
            <a:ext cx="3931920" cy="420624"/>
          </a:xfrm>
          <a:prstGeom prst="rect">
            <a:avLst/>
          </a:prstGeom>
          <a:noFill/>
          <a:ln/>
        </p:spPr>
        <p:txBody>
          <a:bodyPr wrap="square" rtlCol="0" anchor="ctr"/>
          <a:lstStyle/>
          <a:p>
            <a:pPr indent="0" marL="0">
              <a:buNone/>
            </a:pPr>
            <a:r>
              <a:rPr lang="en-US" sz="1100" dirty="0">
                <a:solidFill>
                  <a:srgbClr val="1A2B3C"/>
                </a:solidFill>
                <a:latin typeface="Calibri" pitchFamily="34" charset="0"/>
                <a:ea typeface="Calibri" pitchFamily="34" charset="-122"/>
                <a:cs typeface="Calibri" pitchFamily="34" charset="-120"/>
              </a:rPr>
              <a:t>📅  날짜 범위 선택 (시작일 ~ 종료일)</a:t>
            </a:r>
            <a:endParaRPr lang="en-US" sz="1100" dirty="0"/>
          </a:p>
        </p:txBody>
      </p:sp>
      <p:sp>
        <p:nvSpPr>
          <p:cNvPr id="9" name="Shape 7"/>
          <p:cNvSpPr/>
          <p:nvPr/>
        </p:nvSpPr>
        <p:spPr>
          <a:xfrm>
            <a:off x="274320" y="2468880"/>
            <a:ext cx="4206240" cy="457200"/>
          </a:xfrm>
          <a:prstGeom prst="roundRect">
            <a:avLst>
              <a:gd name="adj" fmla="val 14000"/>
            </a:avLst>
          </a:prstGeom>
          <a:solidFill>
            <a:srgbClr val="F0F7FF"/>
          </a:solidFill>
          <a:ln w="12700">
            <a:solidFill>
              <a:srgbClr val="C8E0E8"/>
            </a:solidFill>
            <a:prstDash val="solid"/>
          </a:ln>
        </p:spPr>
      </p:sp>
      <p:sp>
        <p:nvSpPr>
          <p:cNvPr id="10" name="Text 8"/>
          <p:cNvSpPr/>
          <p:nvPr/>
        </p:nvSpPr>
        <p:spPr>
          <a:xfrm>
            <a:off x="411480" y="2487168"/>
            <a:ext cx="3931920" cy="420624"/>
          </a:xfrm>
          <a:prstGeom prst="rect">
            <a:avLst/>
          </a:prstGeom>
          <a:noFill/>
          <a:ln/>
        </p:spPr>
        <p:txBody>
          <a:bodyPr wrap="square" rtlCol="0" anchor="ctr"/>
          <a:lstStyle/>
          <a:p>
            <a:pPr indent="0" marL="0">
              <a:buNone/>
            </a:pPr>
            <a:r>
              <a:rPr lang="en-US" sz="1100" dirty="0">
                <a:solidFill>
                  <a:srgbClr val="1A2B3C"/>
                </a:solidFill>
                <a:latin typeface="Calibri" pitchFamily="34" charset="0"/>
                <a:ea typeface="Calibri" pitchFamily="34" charset="-122"/>
                <a:cs typeface="Calibri" pitchFamily="34" charset="-120"/>
              </a:rPr>
              <a:t>💧  수질 데이터 카드 그리드</a:t>
            </a:r>
            <a:endParaRPr lang="en-US" sz="1100" dirty="0"/>
          </a:p>
        </p:txBody>
      </p:sp>
      <p:sp>
        <p:nvSpPr>
          <p:cNvPr id="11" name="Shape 9"/>
          <p:cNvSpPr/>
          <p:nvPr/>
        </p:nvSpPr>
        <p:spPr>
          <a:xfrm>
            <a:off x="274320" y="3017520"/>
            <a:ext cx="4206240" cy="457200"/>
          </a:xfrm>
          <a:prstGeom prst="roundRect">
            <a:avLst>
              <a:gd name="adj" fmla="val 14000"/>
            </a:avLst>
          </a:prstGeom>
          <a:solidFill>
            <a:srgbClr val="E8F4F8"/>
          </a:solidFill>
          <a:ln w="12700">
            <a:solidFill>
              <a:srgbClr val="C8E0E8"/>
            </a:solidFill>
            <a:prstDash val="solid"/>
          </a:ln>
        </p:spPr>
      </p:sp>
      <p:sp>
        <p:nvSpPr>
          <p:cNvPr id="12" name="Text 10"/>
          <p:cNvSpPr/>
          <p:nvPr/>
        </p:nvSpPr>
        <p:spPr>
          <a:xfrm>
            <a:off x="411480" y="3035808"/>
            <a:ext cx="3931920" cy="420624"/>
          </a:xfrm>
          <a:prstGeom prst="rect">
            <a:avLst/>
          </a:prstGeom>
          <a:noFill/>
          <a:ln/>
        </p:spPr>
        <p:txBody>
          <a:bodyPr wrap="square" rtlCol="0" anchor="ctr"/>
          <a:lstStyle/>
          <a:p>
            <a:pPr indent="0" marL="0">
              <a:buNone/>
            </a:pPr>
            <a:r>
              <a:rPr lang="en-US" sz="1100" dirty="0">
                <a:solidFill>
                  <a:srgbClr val="1A2B3C"/>
                </a:solidFill>
                <a:latin typeface="Calibri" pitchFamily="34" charset="0"/>
                <a:ea typeface="Calibri" pitchFamily="34" charset="-122"/>
                <a:cs typeface="Calibri" pitchFamily="34" charset="-120"/>
              </a:rPr>
              <a:t>🌊  유량 데이터 카드 그리드</a:t>
            </a:r>
            <a:endParaRPr lang="en-US" sz="1100" dirty="0"/>
          </a:p>
        </p:txBody>
      </p:sp>
      <p:sp>
        <p:nvSpPr>
          <p:cNvPr id="13" name="Shape 11"/>
          <p:cNvSpPr/>
          <p:nvPr/>
        </p:nvSpPr>
        <p:spPr>
          <a:xfrm>
            <a:off x="274320" y="3566160"/>
            <a:ext cx="4206240" cy="457200"/>
          </a:xfrm>
          <a:prstGeom prst="roundRect">
            <a:avLst>
              <a:gd name="adj" fmla="val 14000"/>
            </a:avLst>
          </a:prstGeom>
          <a:solidFill>
            <a:srgbClr val="F0F7FF"/>
          </a:solidFill>
          <a:ln w="12700">
            <a:solidFill>
              <a:srgbClr val="C8E0E8"/>
            </a:solidFill>
            <a:prstDash val="solid"/>
          </a:ln>
        </p:spPr>
      </p:sp>
      <p:sp>
        <p:nvSpPr>
          <p:cNvPr id="14" name="Text 12"/>
          <p:cNvSpPr/>
          <p:nvPr/>
        </p:nvSpPr>
        <p:spPr>
          <a:xfrm>
            <a:off x="411480" y="3584448"/>
            <a:ext cx="3931920" cy="420624"/>
          </a:xfrm>
          <a:prstGeom prst="rect">
            <a:avLst/>
          </a:prstGeom>
          <a:noFill/>
          <a:ln/>
        </p:spPr>
        <p:txBody>
          <a:bodyPr wrap="square" rtlCol="0" anchor="ctr"/>
          <a:lstStyle/>
          <a:p>
            <a:pPr indent="0" marL="0">
              <a:buNone/>
            </a:pPr>
            <a:r>
              <a:rPr lang="en-US" sz="1100" dirty="0">
                <a:solidFill>
                  <a:srgbClr val="1A2B3C"/>
                </a:solidFill>
                <a:latin typeface="Calibri" pitchFamily="34" charset="0"/>
                <a:ea typeface="Calibri" pitchFamily="34" charset="-122"/>
                <a:cs typeface="Calibri" pitchFamily="34" charset="-120"/>
              </a:rPr>
              <a:t>🤖  AI 분석 결과 패널</a:t>
            </a:r>
            <a:endParaRPr lang="en-US" sz="1100" dirty="0"/>
          </a:p>
        </p:txBody>
      </p:sp>
      <p:sp>
        <p:nvSpPr>
          <p:cNvPr id="15" name="Shape 13"/>
          <p:cNvSpPr/>
          <p:nvPr/>
        </p:nvSpPr>
        <p:spPr>
          <a:xfrm>
            <a:off x="274320" y="4114800"/>
            <a:ext cx="4206240" cy="457200"/>
          </a:xfrm>
          <a:prstGeom prst="roundRect">
            <a:avLst>
              <a:gd name="adj" fmla="val 14000"/>
            </a:avLst>
          </a:prstGeom>
          <a:solidFill>
            <a:srgbClr val="E8F4F8"/>
          </a:solidFill>
          <a:ln w="12700">
            <a:solidFill>
              <a:srgbClr val="C8E0E8"/>
            </a:solidFill>
            <a:prstDash val="solid"/>
          </a:ln>
        </p:spPr>
      </p:sp>
      <p:sp>
        <p:nvSpPr>
          <p:cNvPr id="16" name="Text 14"/>
          <p:cNvSpPr/>
          <p:nvPr/>
        </p:nvSpPr>
        <p:spPr>
          <a:xfrm>
            <a:off x="411480" y="4133088"/>
            <a:ext cx="3931920" cy="420624"/>
          </a:xfrm>
          <a:prstGeom prst="rect">
            <a:avLst/>
          </a:prstGeom>
          <a:noFill/>
          <a:ln/>
        </p:spPr>
        <p:txBody>
          <a:bodyPr wrap="square" rtlCol="0" anchor="ctr"/>
          <a:lstStyle/>
          <a:p>
            <a:pPr indent="0" marL="0">
              <a:buNone/>
            </a:pPr>
            <a:r>
              <a:rPr lang="en-US" sz="1100" dirty="0">
                <a:solidFill>
                  <a:srgbClr val="1A2B3C"/>
                </a:solidFill>
                <a:latin typeface="Calibri" pitchFamily="34" charset="0"/>
                <a:ea typeface="Calibri" pitchFamily="34" charset="-122"/>
                <a:cs typeface="Calibri" pitchFamily="34" charset="-120"/>
              </a:rPr>
              <a:t>📰  수질 관련 뉴스 목록</a:t>
            </a:r>
            <a:endParaRPr lang="en-US" sz="1100" dirty="0"/>
          </a:p>
        </p:txBody>
      </p:sp>
      <p:sp>
        <p:nvSpPr>
          <p:cNvPr id="17" name="Text 15"/>
          <p:cNvSpPr/>
          <p:nvPr/>
        </p:nvSpPr>
        <p:spPr>
          <a:xfrm>
            <a:off x="4846320" y="1024128"/>
            <a:ext cx="3931920" cy="292608"/>
          </a:xfrm>
          <a:prstGeom prst="rect">
            <a:avLst/>
          </a:prstGeom>
          <a:noFill/>
          <a:ln/>
        </p:spPr>
        <p:txBody>
          <a:bodyPr wrap="square"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수질 경보 색상 시스템</a:t>
            </a:r>
            <a:endParaRPr lang="en-US" sz="1300" dirty="0"/>
          </a:p>
        </p:txBody>
      </p:sp>
      <p:sp>
        <p:nvSpPr>
          <p:cNvPr id="18" name="Shape 16"/>
          <p:cNvSpPr/>
          <p:nvPr/>
        </p:nvSpPr>
        <p:spPr>
          <a:xfrm>
            <a:off x="4846320" y="1371600"/>
            <a:ext cx="3931920" cy="731520"/>
          </a:xfrm>
          <a:prstGeom prst="roundRect">
            <a:avLst>
              <a:gd name="adj" fmla="val 12500"/>
            </a:avLst>
          </a:prstGeom>
          <a:solidFill>
            <a:srgbClr val="38A169">
              <a:alpha val="10000"/>
            </a:srgbClr>
          </a:solidFill>
          <a:ln w="12700">
            <a:solidFill>
              <a:srgbClr val="38A169"/>
            </a:solidFill>
            <a:prstDash val="solid"/>
          </a:ln>
          <a:effectLst>
            <a:outerShdw sx="100000" sy="100000" kx="0" ky="0" algn="bl" rotWithShape="0" blurRad="101600" dist="25400" dir="2700000">
              <a:srgbClr val="000000">
                <a:alpha val="10000"/>
              </a:srgbClr>
            </a:outerShdw>
          </a:effectLst>
        </p:spPr>
      </p:sp>
      <p:sp>
        <p:nvSpPr>
          <p:cNvPr id="19" name="Shape 17"/>
          <p:cNvSpPr/>
          <p:nvPr/>
        </p:nvSpPr>
        <p:spPr>
          <a:xfrm>
            <a:off x="4846320" y="1371600"/>
            <a:ext cx="731520" cy="731520"/>
          </a:xfrm>
          <a:prstGeom prst="roundRect">
            <a:avLst>
              <a:gd name="adj" fmla="val 12500"/>
            </a:avLst>
          </a:prstGeom>
          <a:solidFill>
            <a:srgbClr val="38A169"/>
          </a:solidFill>
          <a:ln w="12700">
            <a:solidFill>
              <a:srgbClr val="38A169"/>
            </a:solidFill>
            <a:prstDash val="solid"/>
          </a:ln>
        </p:spPr>
      </p:sp>
      <p:sp>
        <p:nvSpPr>
          <p:cNvPr id="20" name="Text 18"/>
          <p:cNvSpPr/>
          <p:nvPr/>
        </p:nvSpPr>
        <p:spPr>
          <a:xfrm>
            <a:off x="4846320" y="1371600"/>
            <a:ext cx="731520" cy="7315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정상</a:t>
            </a:r>
            <a:endParaRPr lang="en-US" sz="1100" dirty="0"/>
          </a:p>
        </p:txBody>
      </p:sp>
      <p:sp>
        <p:nvSpPr>
          <p:cNvPr id="21" name="Text 19"/>
          <p:cNvSpPr/>
          <p:nvPr/>
        </p:nvSpPr>
        <p:spPr>
          <a:xfrm>
            <a:off x="5669280" y="1371600"/>
            <a:ext cx="3017520" cy="731520"/>
          </a:xfrm>
          <a:prstGeom prst="rect">
            <a:avLst/>
          </a:prstGeom>
          <a:noFill/>
          <a:ln/>
        </p:spPr>
        <p:txBody>
          <a:bodyPr wrap="square" rtlCol="0" anchor="ctr"/>
          <a:lstStyle/>
          <a:p>
            <a:pPr indent="0" marL="0">
              <a:buNone/>
            </a:pPr>
            <a:r>
              <a:rPr lang="en-US" sz="1100" dirty="0">
                <a:solidFill>
                  <a:srgbClr val="1A2B3C"/>
                </a:solidFill>
                <a:latin typeface="Calibri" pitchFamily="34" charset="0"/>
                <a:ea typeface="Calibri" pitchFamily="34" charset="-122"/>
                <a:cs typeface="Calibri" pitchFamily="34" charset="-120"/>
              </a:rPr>
              <a:t>기준치 이하 — 안전</a:t>
            </a:r>
            <a:endParaRPr lang="en-US" sz="1100" dirty="0"/>
          </a:p>
        </p:txBody>
      </p:sp>
      <p:sp>
        <p:nvSpPr>
          <p:cNvPr id="22" name="Shape 20"/>
          <p:cNvSpPr/>
          <p:nvPr/>
        </p:nvSpPr>
        <p:spPr>
          <a:xfrm>
            <a:off x="4846320" y="2240280"/>
            <a:ext cx="3931920" cy="731520"/>
          </a:xfrm>
          <a:prstGeom prst="roundRect">
            <a:avLst>
              <a:gd name="adj" fmla="val 12500"/>
            </a:avLst>
          </a:prstGeom>
          <a:solidFill>
            <a:srgbClr val="DD6B20">
              <a:alpha val="10000"/>
            </a:srgbClr>
          </a:solidFill>
          <a:ln w="12700">
            <a:solidFill>
              <a:srgbClr val="DD6B20"/>
            </a:solidFill>
            <a:prstDash val="solid"/>
          </a:ln>
          <a:effectLst>
            <a:outerShdw sx="100000" sy="100000" kx="0" ky="0" algn="bl" rotWithShape="0" blurRad="101600" dist="25400" dir="2700000">
              <a:srgbClr val="000000">
                <a:alpha val="10000"/>
              </a:srgbClr>
            </a:outerShdw>
          </a:effectLst>
        </p:spPr>
      </p:sp>
      <p:sp>
        <p:nvSpPr>
          <p:cNvPr id="23" name="Shape 21"/>
          <p:cNvSpPr/>
          <p:nvPr/>
        </p:nvSpPr>
        <p:spPr>
          <a:xfrm>
            <a:off x="4846320" y="2240280"/>
            <a:ext cx="731520" cy="731520"/>
          </a:xfrm>
          <a:prstGeom prst="roundRect">
            <a:avLst>
              <a:gd name="adj" fmla="val 12500"/>
            </a:avLst>
          </a:prstGeom>
          <a:solidFill>
            <a:srgbClr val="DD6B20"/>
          </a:solidFill>
          <a:ln w="12700">
            <a:solidFill>
              <a:srgbClr val="DD6B20"/>
            </a:solidFill>
            <a:prstDash val="solid"/>
          </a:ln>
        </p:spPr>
      </p:sp>
      <p:sp>
        <p:nvSpPr>
          <p:cNvPr id="24" name="Text 22"/>
          <p:cNvSpPr/>
          <p:nvPr/>
        </p:nvSpPr>
        <p:spPr>
          <a:xfrm>
            <a:off x="4846320" y="2240280"/>
            <a:ext cx="731520" cy="7315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주의</a:t>
            </a:r>
            <a:endParaRPr lang="en-US" sz="1100" dirty="0"/>
          </a:p>
        </p:txBody>
      </p:sp>
      <p:sp>
        <p:nvSpPr>
          <p:cNvPr id="25" name="Text 23"/>
          <p:cNvSpPr/>
          <p:nvPr/>
        </p:nvSpPr>
        <p:spPr>
          <a:xfrm>
            <a:off x="5669280" y="2240280"/>
            <a:ext cx="3017520" cy="731520"/>
          </a:xfrm>
          <a:prstGeom prst="rect">
            <a:avLst/>
          </a:prstGeom>
          <a:noFill/>
          <a:ln/>
        </p:spPr>
        <p:txBody>
          <a:bodyPr wrap="square" rtlCol="0" anchor="ctr"/>
          <a:lstStyle/>
          <a:p>
            <a:pPr indent="0" marL="0">
              <a:buNone/>
            </a:pPr>
            <a:r>
              <a:rPr lang="en-US" sz="1100" dirty="0">
                <a:solidFill>
                  <a:srgbClr val="1A2B3C"/>
                </a:solidFill>
                <a:latin typeface="Calibri" pitchFamily="34" charset="0"/>
                <a:ea typeface="Calibri" pitchFamily="34" charset="-122"/>
                <a:cs typeface="Calibri" pitchFamily="34" charset="-120"/>
              </a:rPr>
              <a:t>기준치 80~100% — 모니터링 필요</a:t>
            </a:r>
            <a:endParaRPr lang="en-US" sz="1100" dirty="0"/>
          </a:p>
        </p:txBody>
      </p:sp>
      <p:sp>
        <p:nvSpPr>
          <p:cNvPr id="26" name="Shape 24"/>
          <p:cNvSpPr/>
          <p:nvPr/>
        </p:nvSpPr>
        <p:spPr>
          <a:xfrm>
            <a:off x="4846320" y="3108960"/>
            <a:ext cx="3931920" cy="731520"/>
          </a:xfrm>
          <a:prstGeom prst="roundRect">
            <a:avLst>
              <a:gd name="adj" fmla="val 12500"/>
            </a:avLst>
          </a:prstGeom>
          <a:solidFill>
            <a:srgbClr val="E53E3E">
              <a:alpha val="10000"/>
            </a:srgbClr>
          </a:solidFill>
          <a:ln w="12700">
            <a:solidFill>
              <a:srgbClr val="E53E3E"/>
            </a:solidFill>
            <a:prstDash val="solid"/>
          </a:ln>
          <a:effectLst>
            <a:outerShdw sx="100000" sy="100000" kx="0" ky="0" algn="bl" rotWithShape="0" blurRad="101600" dist="25400" dir="2700000">
              <a:srgbClr val="000000">
                <a:alpha val="10000"/>
              </a:srgbClr>
            </a:outerShdw>
          </a:effectLst>
        </p:spPr>
      </p:sp>
      <p:sp>
        <p:nvSpPr>
          <p:cNvPr id="27" name="Shape 25"/>
          <p:cNvSpPr/>
          <p:nvPr/>
        </p:nvSpPr>
        <p:spPr>
          <a:xfrm>
            <a:off x="4846320" y="3108960"/>
            <a:ext cx="731520" cy="731520"/>
          </a:xfrm>
          <a:prstGeom prst="roundRect">
            <a:avLst>
              <a:gd name="adj" fmla="val 12500"/>
            </a:avLst>
          </a:prstGeom>
          <a:solidFill>
            <a:srgbClr val="E53E3E"/>
          </a:solidFill>
          <a:ln w="12700">
            <a:solidFill>
              <a:srgbClr val="E53E3E"/>
            </a:solidFill>
            <a:prstDash val="solid"/>
          </a:ln>
        </p:spPr>
      </p:sp>
      <p:sp>
        <p:nvSpPr>
          <p:cNvPr id="28" name="Text 26"/>
          <p:cNvSpPr/>
          <p:nvPr/>
        </p:nvSpPr>
        <p:spPr>
          <a:xfrm>
            <a:off x="4846320" y="3108960"/>
            <a:ext cx="731520" cy="7315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경보</a:t>
            </a:r>
            <a:endParaRPr lang="en-US" sz="1100" dirty="0"/>
          </a:p>
        </p:txBody>
      </p:sp>
      <p:sp>
        <p:nvSpPr>
          <p:cNvPr id="29" name="Text 27"/>
          <p:cNvSpPr/>
          <p:nvPr/>
        </p:nvSpPr>
        <p:spPr>
          <a:xfrm>
            <a:off x="5669280" y="3108960"/>
            <a:ext cx="3017520" cy="731520"/>
          </a:xfrm>
          <a:prstGeom prst="rect">
            <a:avLst/>
          </a:prstGeom>
          <a:noFill/>
          <a:ln/>
        </p:spPr>
        <p:txBody>
          <a:bodyPr wrap="square" rtlCol="0" anchor="ctr"/>
          <a:lstStyle/>
          <a:p>
            <a:pPr indent="0" marL="0">
              <a:buNone/>
            </a:pPr>
            <a:r>
              <a:rPr lang="en-US" sz="1100" dirty="0">
                <a:solidFill>
                  <a:srgbClr val="1A2B3C"/>
                </a:solidFill>
                <a:latin typeface="Calibri" pitchFamily="34" charset="0"/>
                <a:ea typeface="Calibri" pitchFamily="34" charset="-122"/>
                <a:cs typeface="Calibri" pitchFamily="34" charset="-120"/>
              </a:rPr>
              <a:t>기준치 초과 — 즉시 대응</a:t>
            </a:r>
            <a:endParaRPr lang="en-US" sz="1100" dirty="0"/>
          </a:p>
        </p:txBody>
      </p:sp>
      <p:sp>
        <p:nvSpPr>
          <p:cNvPr id="30" name="Shape 28"/>
          <p:cNvSpPr/>
          <p:nvPr/>
        </p:nvSpPr>
        <p:spPr>
          <a:xfrm>
            <a:off x="4846320" y="4041648"/>
            <a:ext cx="3931920" cy="713232"/>
          </a:xfrm>
          <a:prstGeom prst="roundRect">
            <a:avLst>
              <a:gd name="adj" fmla="val 10256"/>
            </a:avLst>
          </a:prstGeom>
          <a:solidFill>
            <a:srgbClr val="E8F7F4"/>
          </a:solidFill>
          <a:ln w="12700">
            <a:solidFill>
              <a:srgbClr val="02C39A"/>
            </a:solidFill>
            <a:prstDash val="solid"/>
          </a:ln>
        </p:spPr>
      </p:sp>
      <p:sp>
        <p:nvSpPr>
          <p:cNvPr id="31" name="Text 29"/>
          <p:cNvSpPr/>
          <p:nvPr/>
        </p:nvSpPr>
        <p:spPr>
          <a:xfrm>
            <a:off x="4956048" y="4059936"/>
            <a:ext cx="3712464" cy="676656"/>
          </a:xfrm>
          <a:prstGeom prst="rect">
            <a:avLst/>
          </a:prstGeom>
          <a:noFill/>
          <a:ln/>
        </p:spPr>
        <p:txBody>
          <a:bodyPr wrap="square" rtlCol="0" anchor="ctr"/>
          <a:lstStyle/>
          <a:p>
            <a:pPr indent="0" marL="0">
              <a:buNone/>
            </a:pPr>
            <a:r>
              <a:rPr lang="en-US" sz="900" i="1" dirty="0">
                <a:solidFill>
                  <a:srgbClr val="016A6A"/>
                </a:solidFill>
                <a:latin typeface="Calibri" pitchFamily="34" charset="0"/>
                <a:ea typeface="Calibri" pitchFamily="34" charset="-122"/>
                <a:cs typeface="Calibri" pitchFamily="34" charset="-120"/>
              </a:rPr>
              <a:t>AI 프롬프트: "우리 서비스의 메인 화면 레이아웃을 ASCII 와이어프레임으로 그려줘. 주요 컴포넌트와 인터랙션 흐름도 포함해줘"</a:t>
            </a:r>
            <a:endParaRPr lang="en-US" sz="900" dirty="0"/>
          </a:p>
        </p:txBody>
      </p:sp>
      <p:sp>
        <p:nvSpPr>
          <p:cNvPr id="32" name="Shape 30"/>
          <p:cNvSpPr/>
          <p:nvPr/>
        </p:nvSpPr>
        <p:spPr>
          <a:xfrm>
            <a:off x="274320" y="4754880"/>
            <a:ext cx="8595360" cy="274320"/>
          </a:xfrm>
          <a:prstGeom prst="roundRect">
            <a:avLst>
              <a:gd name="adj" fmla="val 16667"/>
            </a:avLst>
          </a:prstGeom>
          <a:solidFill>
            <a:srgbClr val="E8F4F8"/>
          </a:solidFill>
          <a:ln w="12700">
            <a:solidFill>
              <a:srgbClr val="C8E0E8"/>
            </a:solidFill>
            <a:prstDash val="solid"/>
          </a:ln>
        </p:spPr>
      </p:sp>
      <p:sp>
        <p:nvSpPr>
          <p:cNvPr id="33" name="Text 31"/>
          <p:cNvSpPr/>
          <p:nvPr/>
        </p:nvSpPr>
        <p:spPr>
          <a:xfrm>
            <a:off x="411480" y="4754880"/>
            <a:ext cx="8321040" cy="274320"/>
          </a:xfrm>
          <a:prstGeom prst="rect">
            <a:avLst/>
          </a:prstGeom>
          <a:noFill/>
          <a:ln/>
        </p:spPr>
        <p:txBody>
          <a:bodyPr wrap="square" rtlCol="0" anchor="ctr"/>
          <a:lstStyle/>
          <a:p>
            <a:pPr indent="0" marL="0">
              <a:buNone/>
            </a:pPr>
            <a:r>
              <a:rPr lang="en-US" sz="1000" dirty="0">
                <a:solidFill>
                  <a:srgbClr val="4A6A80"/>
                </a:solidFill>
                <a:latin typeface="Calibri" pitchFamily="34" charset="0"/>
                <a:ea typeface="Calibri" pitchFamily="34" charset="-122"/>
                <a:cs typeface="Calibri" pitchFamily="34" charset="-120"/>
              </a:rPr>
              <a:t>텍스트 와이어프레임이라도 팀 합의의 기준이 된다 — UI 논쟁을 설계 단계에서 해결</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28090"/>
          </a:solidFill>
          <a:ln w="12700">
            <a:solidFill>
              <a:srgbClr val="028090"/>
            </a:solidFill>
            <a:prstDash val="solid"/>
          </a:ln>
        </p:spPr>
      </p:sp>
      <p:sp>
        <p:nvSpPr>
          <p:cNvPr id="3" name="Text 1"/>
          <p:cNvSpPr/>
          <p:nvPr/>
        </p:nvSpPr>
        <p:spPr>
          <a:xfrm>
            <a:off x="365760" y="0"/>
            <a:ext cx="8412480" cy="9144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캐시 전략 — MVP에서 꼭 필요한 이유</a:t>
            </a:r>
            <a:endParaRPr lang="en-US" sz="2200" dirty="0"/>
          </a:p>
        </p:txBody>
      </p:sp>
      <p:sp>
        <p:nvSpPr>
          <p:cNvPr id="4" name="Shape 2"/>
          <p:cNvSpPr/>
          <p:nvPr/>
        </p:nvSpPr>
        <p:spPr>
          <a:xfrm>
            <a:off x="274320" y="1024128"/>
            <a:ext cx="2743200" cy="1005840"/>
          </a:xfrm>
          <a:prstGeom prst="roundRect">
            <a:avLst>
              <a:gd name="adj" fmla="val 9091"/>
            </a:avLst>
          </a:prstGeom>
          <a:solidFill>
            <a:srgbClr val="F0F7FF"/>
          </a:solidFill>
          <a:ln w="12700">
            <a:solidFill>
              <a:srgbClr val="C8E0E8"/>
            </a:solidFill>
            <a:prstDash val="solid"/>
          </a:ln>
          <a:effectLst>
            <a:outerShdw sx="100000" sy="100000" kx="0" ky="0" algn="bl" rotWithShape="0" blurRad="101600" dist="25400" dir="2700000">
              <a:srgbClr val="000000">
                <a:alpha val="10000"/>
              </a:srgbClr>
            </a:outerShdw>
          </a:effectLst>
        </p:spPr>
      </p:sp>
      <p:sp>
        <p:nvSpPr>
          <p:cNvPr id="5" name="Text 3"/>
          <p:cNvSpPr/>
          <p:nvPr/>
        </p:nvSpPr>
        <p:spPr>
          <a:xfrm>
            <a:off x="411480" y="1069848"/>
            <a:ext cx="2468880" cy="365760"/>
          </a:xfrm>
          <a:prstGeom prst="rect">
            <a:avLst/>
          </a:prstGeom>
          <a:noFill/>
          <a:ln/>
        </p:spPr>
        <p:txBody>
          <a:bodyPr wrap="square" rtlCol="0" anchor="ctr"/>
          <a:lstStyle/>
          <a:p>
            <a:pPr indent="0" marL="0">
              <a:buNone/>
            </a:pPr>
            <a:r>
              <a:rPr lang="en-US" sz="1200" b="1" dirty="0">
                <a:solidFill>
                  <a:srgbClr val="028090"/>
                </a:solidFill>
                <a:latin typeface="Calibri" pitchFamily="34" charset="0"/>
                <a:ea typeface="Calibri" pitchFamily="34" charset="-122"/>
                <a:cs typeface="Calibri" pitchFamily="34" charset="-120"/>
              </a:rPr>
              <a:t>💰  API 비용 절감</a:t>
            </a:r>
            <a:endParaRPr lang="en-US" sz="1200" dirty="0"/>
          </a:p>
        </p:txBody>
      </p:sp>
      <p:sp>
        <p:nvSpPr>
          <p:cNvPr id="6" name="Text 4"/>
          <p:cNvSpPr/>
          <p:nvPr/>
        </p:nvSpPr>
        <p:spPr>
          <a:xfrm>
            <a:off x="411480" y="1444752"/>
            <a:ext cx="2468880" cy="457200"/>
          </a:xfrm>
          <a:prstGeom prst="rect">
            <a:avLst/>
          </a:prstGeom>
          <a:noFill/>
          <a:ln/>
        </p:spPr>
        <p:txBody>
          <a:bodyPr wrap="square" rtlCol="0" anchor="ctr"/>
          <a:lstStyle/>
          <a:p>
            <a:pPr indent="0" marL="0">
              <a:buNone/>
            </a:pPr>
            <a:r>
              <a:rPr lang="en-US" sz="1000" dirty="0">
                <a:solidFill>
                  <a:srgbClr val="4A6A80"/>
                </a:solidFill>
                <a:latin typeface="Calibri" pitchFamily="34" charset="0"/>
                <a:ea typeface="Calibri" pitchFamily="34" charset="-122"/>
                <a:cs typeface="Calibri" pitchFamily="34" charset="-120"/>
              </a:rPr>
              <a:t>Groq 무료 티어 토큰 한도 보존</a:t>
            </a:r>
            <a:endParaRPr lang="en-US" sz="1000" dirty="0"/>
          </a:p>
        </p:txBody>
      </p:sp>
      <p:sp>
        <p:nvSpPr>
          <p:cNvPr id="7" name="Shape 5"/>
          <p:cNvSpPr/>
          <p:nvPr/>
        </p:nvSpPr>
        <p:spPr>
          <a:xfrm>
            <a:off x="3200400" y="1024128"/>
            <a:ext cx="2743200" cy="1005840"/>
          </a:xfrm>
          <a:prstGeom prst="roundRect">
            <a:avLst>
              <a:gd name="adj" fmla="val 9091"/>
            </a:avLst>
          </a:prstGeom>
          <a:solidFill>
            <a:srgbClr val="F0F7FF"/>
          </a:solidFill>
          <a:ln w="12700">
            <a:solidFill>
              <a:srgbClr val="C8E0E8"/>
            </a:solidFill>
            <a:prstDash val="solid"/>
          </a:ln>
          <a:effectLst>
            <a:outerShdw sx="100000" sy="100000" kx="0" ky="0" algn="bl" rotWithShape="0" blurRad="101600" dist="25400" dir="2700000">
              <a:srgbClr val="000000">
                <a:alpha val="10000"/>
              </a:srgbClr>
            </a:outerShdw>
          </a:effectLst>
        </p:spPr>
      </p:sp>
      <p:sp>
        <p:nvSpPr>
          <p:cNvPr id="8" name="Text 6"/>
          <p:cNvSpPr/>
          <p:nvPr/>
        </p:nvSpPr>
        <p:spPr>
          <a:xfrm>
            <a:off x="3337560" y="1069848"/>
            <a:ext cx="2468880" cy="365760"/>
          </a:xfrm>
          <a:prstGeom prst="rect">
            <a:avLst/>
          </a:prstGeom>
          <a:noFill/>
          <a:ln/>
        </p:spPr>
        <p:txBody>
          <a:bodyPr wrap="square" rtlCol="0" anchor="ctr"/>
          <a:lstStyle/>
          <a:p>
            <a:pPr indent="0" marL="0">
              <a:buNone/>
            </a:pPr>
            <a:r>
              <a:rPr lang="en-US" sz="1200" b="1" dirty="0">
                <a:solidFill>
                  <a:srgbClr val="028090"/>
                </a:solidFill>
                <a:latin typeface="Calibri" pitchFamily="34" charset="0"/>
                <a:ea typeface="Calibri" pitchFamily="34" charset="-122"/>
                <a:cs typeface="Calibri" pitchFamily="34" charset="-120"/>
              </a:rPr>
              <a:t>⚡  응답 속도 향상</a:t>
            </a:r>
            <a:endParaRPr lang="en-US" sz="1200" dirty="0"/>
          </a:p>
        </p:txBody>
      </p:sp>
      <p:sp>
        <p:nvSpPr>
          <p:cNvPr id="9" name="Text 7"/>
          <p:cNvSpPr/>
          <p:nvPr/>
        </p:nvSpPr>
        <p:spPr>
          <a:xfrm>
            <a:off x="3337560" y="1444752"/>
            <a:ext cx="2468880" cy="457200"/>
          </a:xfrm>
          <a:prstGeom prst="rect">
            <a:avLst/>
          </a:prstGeom>
          <a:noFill/>
          <a:ln/>
        </p:spPr>
        <p:txBody>
          <a:bodyPr wrap="square" rtlCol="0" anchor="ctr"/>
          <a:lstStyle/>
          <a:p>
            <a:pPr indent="0" marL="0">
              <a:buNone/>
            </a:pPr>
            <a:r>
              <a:rPr lang="en-US" sz="1000" dirty="0">
                <a:solidFill>
                  <a:srgbClr val="4A6A80"/>
                </a:solidFill>
                <a:latin typeface="Calibri" pitchFamily="34" charset="0"/>
                <a:ea typeface="Calibri" pitchFamily="34" charset="-122"/>
                <a:cs typeface="Calibri" pitchFamily="34" charset="-120"/>
              </a:rPr>
              <a:t>캐시 히트 시 &lt; 10ms 응답</a:t>
            </a:r>
            <a:endParaRPr lang="en-US" sz="1000" dirty="0"/>
          </a:p>
        </p:txBody>
      </p:sp>
      <p:sp>
        <p:nvSpPr>
          <p:cNvPr id="10" name="Shape 8"/>
          <p:cNvSpPr/>
          <p:nvPr/>
        </p:nvSpPr>
        <p:spPr>
          <a:xfrm>
            <a:off x="6126480" y="1024128"/>
            <a:ext cx="2743200" cy="1005840"/>
          </a:xfrm>
          <a:prstGeom prst="roundRect">
            <a:avLst>
              <a:gd name="adj" fmla="val 9091"/>
            </a:avLst>
          </a:prstGeom>
          <a:solidFill>
            <a:srgbClr val="F0F7FF"/>
          </a:solidFill>
          <a:ln w="12700">
            <a:solidFill>
              <a:srgbClr val="C8E0E8"/>
            </a:solidFill>
            <a:prstDash val="solid"/>
          </a:ln>
          <a:effectLst>
            <a:outerShdw sx="100000" sy="100000" kx="0" ky="0" algn="bl" rotWithShape="0" blurRad="101600" dist="25400" dir="2700000">
              <a:srgbClr val="000000">
                <a:alpha val="10000"/>
              </a:srgbClr>
            </a:outerShdw>
          </a:effectLst>
        </p:spPr>
      </p:sp>
      <p:sp>
        <p:nvSpPr>
          <p:cNvPr id="11" name="Text 9"/>
          <p:cNvSpPr/>
          <p:nvPr/>
        </p:nvSpPr>
        <p:spPr>
          <a:xfrm>
            <a:off x="6263640" y="1069848"/>
            <a:ext cx="2468880" cy="365760"/>
          </a:xfrm>
          <a:prstGeom prst="rect">
            <a:avLst/>
          </a:prstGeom>
          <a:noFill/>
          <a:ln/>
        </p:spPr>
        <p:txBody>
          <a:bodyPr wrap="square" rtlCol="0" anchor="ctr"/>
          <a:lstStyle/>
          <a:p>
            <a:pPr indent="0" marL="0">
              <a:buNone/>
            </a:pPr>
            <a:r>
              <a:rPr lang="en-US" sz="1200" b="1" dirty="0">
                <a:solidFill>
                  <a:srgbClr val="028090"/>
                </a:solidFill>
                <a:latin typeface="Calibri" pitchFamily="34" charset="0"/>
                <a:ea typeface="Calibri" pitchFamily="34" charset="-122"/>
                <a:cs typeface="Calibri" pitchFamily="34" charset="-120"/>
              </a:rPr>
              <a:t>🛡  장애 대응</a:t>
            </a:r>
            <a:endParaRPr lang="en-US" sz="1200" dirty="0"/>
          </a:p>
        </p:txBody>
      </p:sp>
      <p:sp>
        <p:nvSpPr>
          <p:cNvPr id="12" name="Text 10"/>
          <p:cNvSpPr/>
          <p:nvPr/>
        </p:nvSpPr>
        <p:spPr>
          <a:xfrm>
            <a:off x="6263640" y="1444752"/>
            <a:ext cx="2468880" cy="457200"/>
          </a:xfrm>
          <a:prstGeom prst="rect">
            <a:avLst/>
          </a:prstGeom>
          <a:noFill/>
          <a:ln/>
        </p:spPr>
        <p:txBody>
          <a:bodyPr wrap="square" rtlCol="0" anchor="ctr"/>
          <a:lstStyle/>
          <a:p>
            <a:pPr indent="0" marL="0">
              <a:buNone/>
            </a:pPr>
            <a:r>
              <a:rPr lang="en-US" sz="1000" dirty="0">
                <a:solidFill>
                  <a:srgbClr val="4A6A80"/>
                </a:solidFill>
                <a:latin typeface="Calibri" pitchFamily="34" charset="0"/>
                <a:ea typeface="Calibri" pitchFamily="34" charset="-122"/>
                <a:cs typeface="Calibri" pitchFamily="34" charset="-120"/>
              </a:rPr>
              <a:t>API 오류 시 캐시 데이터로 서비스 유지</a:t>
            </a:r>
            <a:endParaRPr lang="en-US" sz="1000" dirty="0"/>
          </a:p>
        </p:txBody>
      </p:sp>
      <p:sp>
        <p:nvSpPr>
          <p:cNvPr id="13" name="Text 11"/>
          <p:cNvSpPr/>
          <p:nvPr/>
        </p:nvSpPr>
        <p:spPr>
          <a:xfrm>
            <a:off x="274320" y="2148840"/>
            <a:ext cx="4572000" cy="292608"/>
          </a:xfrm>
          <a:prstGeom prst="rect">
            <a:avLst/>
          </a:prstGeom>
          <a:noFill/>
          <a:ln/>
        </p:spPr>
        <p:txBody>
          <a:bodyPr wrap="square"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캐시 정책 설계</a:t>
            </a:r>
            <a:endParaRPr lang="en-US" sz="1300" dirty="0"/>
          </a:p>
        </p:txBody>
      </p:sp>
      <p:sp>
        <p:nvSpPr>
          <p:cNvPr id="14" name="Shape 12"/>
          <p:cNvSpPr/>
          <p:nvPr/>
        </p:nvSpPr>
        <p:spPr>
          <a:xfrm>
            <a:off x="274320" y="2487168"/>
            <a:ext cx="1280160" cy="320040"/>
          </a:xfrm>
          <a:prstGeom prst="rect">
            <a:avLst/>
          </a:prstGeom>
          <a:solidFill>
            <a:srgbClr val="028090"/>
          </a:solidFill>
          <a:ln w="12700">
            <a:solidFill>
              <a:srgbClr val="028090"/>
            </a:solidFill>
            <a:prstDash val="solid"/>
          </a:ln>
        </p:spPr>
      </p:sp>
      <p:sp>
        <p:nvSpPr>
          <p:cNvPr id="15" name="Text 13"/>
          <p:cNvSpPr/>
          <p:nvPr/>
        </p:nvSpPr>
        <p:spPr>
          <a:xfrm>
            <a:off x="274320" y="2487168"/>
            <a:ext cx="1280160" cy="32004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서비스</a:t>
            </a:r>
            <a:endParaRPr lang="en-US" sz="1000" dirty="0"/>
          </a:p>
        </p:txBody>
      </p:sp>
      <p:sp>
        <p:nvSpPr>
          <p:cNvPr id="16" name="Shape 14"/>
          <p:cNvSpPr/>
          <p:nvPr/>
        </p:nvSpPr>
        <p:spPr>
          <a:xfrm>
            <a:off x="1554480" y="2487168"/>
            <a:ext cx="2926080" cy="320040"/>
          </a:xfrm>
          <a:prstGeom prst="rect">
            <a:avLst/>
          </a:prstGeom>
          <a:solidFill>
            <a:srgbClr val="028090"/>
          </a:solidFill>
          <a:ln w="12700">
            <a:solidFill>
              <a:srgbClr val="028090"/>
            </a:solidFill>
            <a:prstDash val="solid"/>
          </a:ln>
        </p:spPr>
      </p:sp>
      <p:sp>
        <p:nvSpPr>
          <p:cNvPr id="17" name="Text 15"/>
          <p:cNvSpPr/>
          <p:nvPr/>
        </p:nvSpPr>
        <p:spPr>
          <a:xfrm>
            <a:off x="1554480" y="2487168"/>
            <a:ext cx="2926080" cy="32004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캐시 키</a:t>
            </a:r>
            <a:endParaRPr lang="en-US" sz="1000" dirty="0"/>
          </a:p>
        </p:txBody>
      </p:sp>
      <p:sp>
        <p:nvSpPr>
          <p:cNvPr id="18" name="Shape 16"/>
          <p:cNvSpPr/>
          <p:nvPr/>
        </p:nvSpPr>
        <p:spPr>
          <a:xfrm>
            <a:off x="4480560" y="2487168"/>
            <a:ext cx="914400" cy="320040"/>
          </a:xfrm>
          <a:prstGeom prst="rect">
            <a:avLst/>
          </a:prstGeom>
          <a:solidFill>
            <a:srgbClr val="028090"/>
          </a:solidFill>
          <a:ln w="12700">
            <a:solidFill>
              <a:srgbClr val="028090"/>
            </a:solidFill>
            <a:prstDash val="solid"/>
          </a:ln>
        </p:spPr>
      </p:sp>
      <p:sp>
        <p:nvSpPr>
          <p:cNvPr id="19" name="Text 17"/>
          <p:cNvSpPr/>
          <p:nvPr/>
        </p:nvSpPr>
        <p:spPr>
          <a:xfrm>
            <a:off x="4480560" y="2487168"/>
            <a:ext cx="914400" cy="32004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TTL</a:t>
            </a:r>
            <a:endParaRPr lang="en-US" sz="1000" dirty="0"/>
          </a:p>
        </p:txBody>
      </p:sp>
      <p:sp>
        <p:nvSpPr>
          <p:cNvPr id="20" name="Shape 18"/>
          <p:cNvSpPr/>
          <p:nvPr/>
        </p:nvSpPr>
        <p:spPr>
          <a:xfrm>
            <a:off x="5394960" y="2487168"/>
            <a:ext cx="1371600" cy="320040"/>
          </a:xfrm>
          <a:prstGeom prst="rect">
            <a:avLst/>
          </a:prstGeom>
          <a:solidFill>
            <a:srgbClr val="028090"/>
          </a:solidFill>
          <a:ln w="12700">
            <a:solidFill>
              <a:srgbClr val="028090"/>
            </a:solidFill>
            <a:prstDash val="solid"/>
          </a:ln>
        </p:spPr>
      </p:sp>
      <p:sp>
        <p:nvSpPr>
          <p:cNvPr id="21" name="Text 19"/>
          <p:cNvSpPr/>
          <p:nvPr/>
        </p:nvSpPr>
        <p:spPr>
          <a:xfrm>
            <a:off x="5394960" y="2487168"/>
            <a:ext cx="1371600" cy="32004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저장소</a:t>
            </a:r>
            <a:endParaRPr lang="en-US" sz="1000" dirty="0"/>
          </a:p>
        </p:txBody>
      </p:sp>
      <p:sp>
        <p:nvSpPr>
          <p:cNvPr id="22" name="Shape 20"/>
          <p:cNvSpPr/>
          <p:nvPr/>
        </p:nvSpPr>
        <p:spPr>
          <a:xfrm>
            <a:off x="274320" y="2807208"/>
            <a:ext cx="1280160" cy="347472"/>
          </a:xfrm>
          <a:prstGeom prst="rect">
            <a:avLst/>
          </a:prstGeom>
          <a:solidFill>
            <a:srgbClr val="F0F7FF"/>
          </a:solidFill>
          <a:ln w="12700">
            <a:solidFill>
              <a:srgbClr val="C8E0E8"/>
            </a:solidFill>
            <a:prstDash val="solid"/>
          </a:ln>
        </p:spPr>
      </p:sp>
      <p:sp>
        <p:nvSpPr>
          <p:cNvPr id="23" name="Text 21"/>
          <p:cNvSpPr/>
          <p:nvPr/>
        </p:nvSpPr>
        <p:spPr>
          <a:xfrm>
            <a:off x="320040" y="2807208"/>
            <a:ext cx="1188720" cy="347472"/>
          </a:xfrm>
          <a:prstGeom prst="rect">
            <a:avLst/>
          </a:prstGeom>
          <a:noFill/>
          <a:ln/>
        </p:spPr>
        <p:txBody>
          <a:bodyPr wrap="square" rtlCol="0" anchor="ctr"/>
          <a:lstStyle/>
          <a:p>
            <a:pPr algn="l" indent="0" marL="0">
              <a:buNone/>
            </a:pPr>
            <a:r>
              <a:rPr lang="en-US" sz="950" dirty="0">
                <a:solidFill>
                  <a:srgbClr val="1A2B3C"/>
                </a:solidFill>
                <a:latin typeface="Calibri" pitchFamily="34" charset="0"/>
                <a:ea typeface="Calibri" pitchFamily="34" charset="-122"/>
                <a:cs typeface="Calibri" pitchFamily="34" charset="-120"/>
              </a:rPr>
              <a:t>수질 데이터</a:t>
            </a:r>
            <a:endParaRPr lang="en-US" sz="950" dirty="0"/>
          </a:p>
        </p:txBody>
      </p:sp>
      <p:sp>
        <p:nvSpPr>
          <p:cNvPr id="24" name="Shape 22"/>
          <p:cNvSpPr/>
          <p:nvPr/>
        </p:nvSpPr>
        <p:spPr>
          <a:xfrm>
            <a:off x="1554480" y="2807208"/>
            <a:ext cx="2926080" cy="347472"/>
          </a:xfrm>
          <a:prstGeom prst="rect">
            <a:avLst/>
          </a:prstGeom>
          <a:solidFill>
            <a:srgbClr val="F0F7FF"/>
          </a:solidFill>
          <a:ln w="12700">
            <a:solidFill>
              <a:srgbClr val="C8E0E8"/>
            </a:solidFill>
            <a:prstDash val="solid"/>
          </a:ln>
        </p:spPr>
      </p:sp>
      <p:sp>
        <p:nvSpPr>
          <p:cNvPr id="25" name="Text 23"/>
          <p:cNvSpPr/>
          <p:nvPr/>
        </p:nvSpPr>
        <p:spPr>
          <a:xfrm>
            <a:off x="1600200" y="2807208"/>
            <a:ext cx="2834640" cy="347472"/>
          </a:xfrm>
          <a:prstGeom prst="rect">
            <a:avLst/>
          </a:prstGeom>
          <a:noFill/>
          <a:ln/>
        </p:spPr>
        <p:txBody>
          <a:bodyPr wrap="square" rtlCol="0" anchor="ctr"/>
          <a:lstStyle/>
          <a:p>
            <a:pPr algn="ctr" indent="0" marL="0">
              <a:buNone/>
            </a:pPr>
            <a:r>
              <a:rPr lang="en-US" sz="950" dirty="0">
                <a:solidFill>
                  <a:srgbClr val="1A2B3C"/>
                </a:solidFill>
                <a:latin typeface="Calibri" pitchFamily="34" charset="0"/>
                <a:ea typeface="Calibri" pitchFamily="34" charset="-122"/>
                <a:cs typeface="Calibri" pitchFamily="34" charset="-120"/>
              </a:rPr>
              <a:t>sujCode|startDate|endDate</a:t>
            </a:r>
            <a:endParaRPr lang="en-US" sz="950" dirty="0"/>
          </a:p>
        </p:txBody>
      </p:sp>
      <p:sp>
        <p:nvSpPr>
          <p:cNvPr id="26" name="Shape 24"/>
          <p:cNvSpPr/>
          <p:nvPr/>
        </p:nvSpPr>
        <p:spPr>
          <a:xfrm>
            <a:off x="4480560" y="2807208"/>
            <a:ext cx="914400" cy="347472"/>
          </a:xfrm>
          <a:prstGeom prst="rect">
            <a:avLst/>
          </a:prstGeom>
          <a:solidFill>
            <a:srgbClr val="F0F7FF"/>
          </a:solidFill>
          <a:ln w="12700">
            <a:solidFill>
              <a:srgbClr val="C8E0E8"/>
            </a:solidFill>
            <a:prstDash val="solid"/>
          </a:ln>
        </p:spPr>
      </p:sp>
      <p:sp>
        <p:nvSpPr>
          <p:cNvPr id="27" name="Text 25"/>
          <p:cNvSpPr/>
          <p:nvPr/>
        </p:nvSpPr>
        <p:spPr>
          <a:xfrm>
            <a:off x="4526280" y="2807208"/>
            <a:ext cx="822960" cy="347472"/>
          </a:xfrm>
          <a:prstGeom prst="rect">
            <a:avLst/>
          </a:prstGeom>
          <a:noFill/>
          <a:ln/>
        </p:spPr>
        <p:txBody>
          <a:bodyPr wrap="square" rtlCol="0" anchor="ctr"/>
          <a:lstStyle/>
          <a:p>
            <a:pPr algn="ctr" indent="0" marL="0">
              <a:buNone/>
            </a:pPr>
            <a:r>
              <a:rPr lang="en-US" sz="950" dirty="0">
                <a:solidFill>
                  <a:srgbClr val="1A2B3C"/>
                </a:solidFill>
                <a:latin typeface="Calibri" pitchFamily="34" charset="0"/>
                <a:ea typeface="Calibri" pitchFamily="34" charset="-122"/>
                <a:cs typeface="Calibri" pitchFamily="34" charset="-120"/>
              </a:rPr>
              <a:t>10분</a:t>
            </a:r>
            <a:endParaRPr lang="en-US" sz="950" dirty="0"/>
          </a:p>
        </p:txBody>
      </p:sp>
      <p:sp>
        <p:nvSpPr>
          <p:cNvPr id="28" name="Shape 26"/>
          <p:cNvSpPr/>
          <p:nvPr/>
        </p:nvSpPr>
        <p:spPr>
          <a:xfrm>
            <a:off x="5394960" y="2807208"/>
            <a:ext cx="1371600" cy="347472"/>
          </a:xfrm>
          <a:prstGeom prst="rect">
            <a:avLst/>
          </a:prstGeom>
          <a:solidFill>
            <a:srgbClr val="F0F7FF"/>
          </a:solidFill>
          <a:ln w="12700">
            <a:solidFill>
              <a:srgbClr val="C8E0E8"/>
            </a:solidFill>
            <a:prstDash val="solid"/>
          </a:ln>
        </p:spPr>
      </p:sp>
      <p:sp>
        <p:nvSpPr>
          <p:cNvPr id="29" name="Text 27"/>
          <p:cNvSpPr/>
          <p:nvPr/>
        </p:nvSpPr>
        <p:spPr>
          <a:xfrm>
            <a:off x="5440680" y="2807208"/>
            <a:ext cx="1280160" cy="347472"/>
          </a:xfrm>
          <a:prstGeom prst="rect">
            <a:avLst/>
          </a:prstGeom>
          <a:noFill/>
          <a:ln/>
        </p:spPr>
        <p:txBody>
          <a:bodyPr wrap="square" rtlCol="0" anchor="ctr"/>
          <a:lstStyle/>
          <a:p>
            <a:pPr algn="ctr" indent="0" marL="0">
              <a:buNone/>
            </a:pPr>
            <a:r>
              <a:rPr lang="en-US" sz="950" dirty="0">
                <a:solidFill>
                  <a:srgbClr val="1A2B3C"/>
                </a:solidFill>
                <a:latin typeface="Calibri" pitchFamily="34" charset="0"/>
                <a:ea typeface="Calibri" pitchFamily="34" charset="-122"/>
                <a:cs typeface="Calibri" pitchFamily="34" charset="-120"/>
              </a:rPr>
              <a:t>ConcurrentHashMap</a:t>
            </a:r>
            <a:endParaRPr lang="en-US" sz="950" dirty="0"/>
          </a:p>
        </p:txBody>
      </p:sp>
      <p:sp>
        <p:nvSpPr>
          <p:cNvPr id="30" name="Shape 28"/>
          <p:cNvSpPr/>
          <p:nvPr/>
        </p:nvSpPr>
        <p:spPr>
          <a:xfrm>
            <a:off x="274320" y="3172968"/>
            <a:ext cx="1280160" cy="347472"/>
          </a:xfrm>
          <a:prstGeom prst="rect">
            <a:avLst/>
          </a:prstGeom>
          <a:solidFill>
            <a:srgbClr val="FFFFFF"/>
          </a:solidFill>
          <a:ln w="12700">
            <a:solidFill>
              <a:srgbClr val="C8E0E8"/>
            </a:solidFill>
            <a:prstDash val="solid"/>
          </a:ln>
        </p:spPr>
      </p:sp>
      <p:sp>
        <p:nvSpPr>
          <p:cNvPr id="31" name="Text 29"/>
          <p:cNvSpPr/>
          <p:nvPr/>
        </p:nvSpPr>
        <p:spPr>
          <a:xfrm>
            <a:off x="320040" y="3172968"/>
            <a:ext cx="1188720" cy="347472"/>
          </a:xfrm>
          <a:prstGeom prst="rect">
            <a:avLst/>
          </a:prstGeom>
          <a:noFill/>
          <a:ln/>
        </p:spPr>
        <p:txBody>
          <a:bodyPr wrap="square" rtlCol="0" anchor="ctr"/>
          <a:lstStyle/>
          <a:p>
            <a:pPr algn="l" indent="0" marL="0">
              <a:buNone/>
            </a:pPr>
            <a:r>
              <a:rPr lang="en-US" sz="950" dirty="0">
                <a:solidFill>
                  <a:srgbClr val="1A2B3C"/>
                </a:solidFill>
                <a:latin typeface="Calibri" pitchFamily="34" charset="0"/>
                <a:ea typeface="Calibri" pitchFamily="34" charset="-122"/>
                <a:cs typeface="Calibri" pitchFamily="34" charset="-120"/>
              </a:rPr>
              <a:t>유량 데이터</a:t>
            </a:r>
            <a:endParaRPr lang="en-US" sz="950" dirty="0"/>
          </a:p>
        </p:txBody>
      </p:sp>
      <p:sp>
        <p:nvSpPr>
          <p:cNvPr id="32" name="Shape 30"/>
          <p:cNvSpPr/>
          <p:nvPr/>
        </p:nvSpPr>
        <p:spPr>
          <a:xfrm>
            <a:off x="1554480" y="3172968"/>
            <a:ext cx="2926080" cy="347472"/>
          </a:xfrm>
          <a:prstGeom prst="rect">
            <a:avLst/>
          </a:prstGeom>
          <a:solidFill>
            <a:srgbClr val="FFFFFF"/>
          </a:solidFill>
          <a:ln w="12700">
            <a:solidFill>
              <a:srgbClr val="C8E0E8"/>
            </a:solidFill>
            <a:prstDash val="solid"/>
          </a:ln>
        </p:spPr>
      </p:sp>
      <p:sp>
        <p:nvSpPr>
          <p:cNvPr id="33" name="Text 31"/>
          <p:cNvSpPr/>
          <p:nvPr/>
        </p:nvSpPr>
        <p:spPr>
          <a:xfrm>
            <a:off x="1600200" y="3172968"/>
            <a:ext cx="2834640" cy="347472"/>
          </a:xfrm>
          <a:prstGeom prst="rect">
            <a:avLst/>
          </a:prstGeom>
          <a:noFill/>
          <a:ln/>
        </p:spPr>
        <p:txBody>
          <a:bodyPr wrap="square" rtlCol="0" anchor="ctr"/>
          <a:lstStyle/>
          <a:p>
            <a:pPr algn="ctr" indent="0" marL="0">
              <a:buNone/>
            </a:pPr>
            <a:r>
              <a:rPr lang="en-US" sz="950" dirty="0">
                <a:solidFill>
                  <a:srgbClr val="1A2B3C"/>
                </a:solidFill>
                <a:latin typeface="Calibri" pitchFamily="34" charset="0"/>
                <a:ea typeface="Calibri" pitchFamily="34" charset="-122"/>
                <a:cs typeface="Calibri" pitchFamily="34" charset="-120"/>
              </a:rPr>
              <a:t>sujCode|startDate|endDate</a:t>
            </a:r>
            <a:endParaRPr lang="en-US" sz="950" dirty="0"/>
          </a:p>
        </p:txBody>
      </p:sp>
      <p:sp>
        <p:nvSpPr>
          <p:cNvPr id="34" name="Shape 32"/>
          <p:cNvSpPr/>
          <p:nvPr/>
        </p:nvSpPr>
        <p:spPr>
          <a:xfrm>
            <a:off x="4480560" y="3172968"/>
            <a:ext cx="914400" cy="347472"/>
          </a:xfrm>
          <a:prstGeom prst="rect">
            <a:avLst/>
          </a:prstGeom>
          <a:solidFill>
            <a:srgbClr val="FFFFFF"/>
          </a:solidFill>
          <a:ln w="12700">
            <a:solidFill>
              <a:srgbClr val="C8E0E8"/>
            </a:solidFill>
            <a:prstDash val="solid"/>
          </a:ln>
        </p:spPr>
      </p:sp>
      <p:sp>
        <p:nvSpPr>
          <p:cNvPr id="35" name="Text 33"/>
          <p:cNvSpPr/>
          <p:nvPr/>
        </p:nvSpPr>
        <p:spPr>
          <a:xfrm>
            <a:off x="4526280" y="3172968"/>
            <a:ext cx="822960" cy="347472"/>
          </a:xfrm>
          <a:prstGeom prst="rect">
            <a:avLst/>
          </a:prstGeom>
          <a:noFill/>
          <a:ln/>
        </p:spPr>
        <p:txBody>
          <a:bodyPr wrap="square" rtlCol="0" anchor="ctr"/>
          <a:lstStyle/>
          <a:p>
            <a:pPr algn="ctr" indent="0" marL="0">
              <a:buNone/>
            </a:pPr>
            <a:r>
              <a:rPr lang="en-US" sz="950" dirty="0">
                <a:solidFill>
                  <a:srgbClr val="1A2B3C"/>
                </a:solidFill>
                <a:latin typeface="Calibri" pitchFamily="34" charset="0"/>
                <a:ea typeface="Calibri" pitchFamily="34" charset="-122"/>
                <a:cs typeface="Calibri" pitchFamily="34" charset="-120"/>
              </a:rPr>
              <a:t>10분</a:t>
            </a:r>
            <a:endParaRPr lang="en-US" sz="950" dirty="0"/>
          </a:p>
        </p:txBody>
      </p:sp>
      <p:sp>
        <p:nvSpPr>
          <p:cNvPr id="36" name="Shape 34"/>
          <p:cNvSpPr/>
          <p:nvPr/>
        </p:nvSpPr>
        <p:spPr>
          <a:xfrm>
            <a:off x="5394960" y="3172968"/>
            <a:ext cx="1371600" cy="347472"/>
          </a:xfrm>
          <a:prstGeom prst="rect">
            <a:avLst/>
          </a:prstGeom>
          <a:solidFill>
            <a:srgbClr val="FFFFFF"/>
          </a:solidFill>
          <a:ln w="12700">
            <a:solidFill>
              <a:srgbClr val="C8E0E8"/>
            </a:solidFill>
            <a:prstDash val="solid"/>
          </a:ln>
        </p:spPr>
      </p:sp>
      <p:sp>
        <p:nvSpPr>
          <p:cNvPr id="37" name="Text 35"/>
          <p:cNvSpPr/>
          <p:nvPr/>
        </p:nvSpPr>
        <p:spPr>
          <a:xfrm>
            <a:off x="5440680" y="3172968"/>
            <a:ext cx="1280160" cy="347472"/>
          </a:xfrm>
          <a:prstGeom prst="rect">
            <a:avLst/>
          </a:prstGeom>
          <a:noFill/>
          <a:ln/>
        </p:spPr>
        <p:txBody>
          <a:bodyPr wrap="square" rtlCol="0" anchor="ctr"/>
          <a:lstStyle/>
          <a:p>
            <a:pPr algn="ctr" indent="0" marL="0">
              <a:buNone/>
            </a:pPr>
            <a:r>
              <a:rPr lang="en-US" sz="950" dirty="0">
                <a:solidFill>
                  <a:srgbClr val="1A2B3C"/>
                </a:solidFill>
                <a:latin typeface="Calibri" pitchFamily="34" charset="0"/>
                <a:ea typeface="Calibri" pitchFamily="34" charset="-122"/>
                <a:cs typeface="Calibri" pitchFamily="34" charset="-120"/>
              </a:rPr>
              <a:t>ConcurrentHashMap</a:t>
            </a:r>
            <a:endParaRPr lang="en-US" sz="950" dirty="0"/>
          </a:p>
        </p:txBody>
      </p:sp>
      <p:sp>
        <p:nvSpPr>
          <p:cNvPr id="38" name="Shape 36"/>
          <p:cNvSpPr/>
          <p:nvPr/>
        </p:nvSpPr>
        <p:spPr>
          <a:xfrm>
            <a:off x="274320" y="3538728"/>
            <a:ext cx="1280160" cy="347472"/>
          </a:xfrm>
          <a:prstGeom prst="rect">
            <a:avLst/>
          </a:prstGeom>
          <a:solidFill>
            <a:srgbClr val="F0F7FF"/>
          </a:solidFill>
          <a:ln w="12700">
            <a:solidFill>
              <a:srgbClr val="C8E0E8"/>
            </a:solidFill>
            <a:prstDash val="solid"/>
          </a:ln>
        </p:spPr>
      </p:sp>
      <p:sp>
        <p:nvSpPr>
          <p:cNvPr id="39" name="Text 37"/>
          <p:cNvSpPr/>
          <p:nvPr/>
        </p:nvSpPr>
        <p:spPr>
          <a:xfrm>
            <a:off x="320040" y="3538728"/>
            <a:ext cx="1188720" cy="347472"/>
          </a:xfrm>
          <a:prstGeom prst="rect">
            <a:avLst/>
          </a:prstGeom>
          <a:noFill/>
          <a:ln/>
        </p:spPr>
        <p:txBody>
          <a:bodyPr wrap="square" rtlCol="0" anchor="ctr"/>
          <a:lstStyle/>
          <a:p>
            <a:pPr algn="l" indent="0" marL="0">
              <a:buNone/>
            </a:pPr>
            <a:r>
              <a:rPr lang="en-US" sz="950" dirty="0">
                <a:solidFill>
                  <a:srgbClr val="1A2B3C"/>
                </a:solidFill>
                <a:latin typeface="Calibri" pitchFamily="34" charset="0"/>
                <a:ea typeface="Calibri" pitchFamily="34" charset="-122"/>
                <a:cs typeface="Calibri" pitchFamily="34" charset="-120"/>
              </a:rPr>
              <a:t>AI 분석</a:t>
            </a:r>
            <a:endParaRPr lang="en-US" sz="950" dirty="0"/>
          </a:p>
        </p:txBody>
      </p:sp>
      <p:sp>
        <p:nvSpPr>
          <p:cNvPr id="40" name="Shape 38"/>
          <p:cNvSpPr/>
          <p:nvPr/>
        </p:nvSpPr>
        <p:spPr>
          <a:xfrm>
            <a:off x="1554480" y="3538728"/>
            <a:ext cx="2926080" cy="347472"/>
          </a:xfrm>
          <a:prstGeom prst="rect">
            <a:avLst/>
          </a:prstGeom>
          <a:solidFill>
            <a:srgbClr val="F0F7FF"/>
          </a:solidFill>
          <a:ln w="12700">
            <a:solidFill>
              <a:srgbClr val="C8E0E8"/>
            </a:solidFill>
            <a:prstDash val="solid"/>
          </a:ln>
        </p:spPr>
      </p:sp>
      <p:sp>
        <p:nvSpPr>
          <p:cNvPr id="41" name="Text 39"/>
          <p:cNvSpPr/>
          <p:nvPr/>
        </p:nvSpPr>
        <p:spPr>
          <a:xfrm>
            <a:off x="1600200" y="3538728"/>
            <a:ext cx="2834640" cy="347472"/>
          </a:xfrm>
          <a:prstGeom prst="rect">
            <a:avLst/>
          </a:prstGeom>
          <a:noFill/>
          <a:ln/>
        </p:spPr>
        <p:txBody>
          <a:bodyPr wrap="square" rtlCol="0" anchor="ctr"/>
          <a:lstStyle/>
          <a:p>
            <a:pPr algn="ctr" indent="0" marL="0">
              <a:buNone/>
            </a:pPr>
            <a:r>
              <a:rPr lang="en-US" sz="950" dirty="0">
                <a:solidFill>
                  <a:srgbClr val="1A2B3C"/>
                </a:solidFill>
                <a:latin typeface="Calibri" pitchFamily="34" charset="0"/>
                <a:ea typeface="Calibri" pitchFamily="34" charset="-122"/>
                <a:cs typeface="Calibri" pitchFamily="34" charset="-120"/>
              </a:rPr>
              <a:t>sujCode|startDate|endDate</a:t>
            </a:r>
            <a:endParaRPr lang="en-US" sz="950" dirty="0"/>
          </a:p>
        </p:txBody>
      </p:sp>
      <p:sp>
        <p:nvSpPr>
          <p:cNvPr id="42" name="Shape 40"/>
          <p:cNvSpPr/>
          <p:nvPr/>
        </p:nvSpPr>
        <p:spPr>
          <a:xfrm>
            <a:off x="4480560" y="3538728"/>
            <a:ext cx="914400" cy="347472"/>
          </a:xfrm>
          <a:prstGeom prst="rect">
            <a:avLst/>
          </a:prstGeom>
          <a:solidFill>
            <a:srgbClr val="F0F7FF"/>
          </a:solidFill>
          <a:ln w="12700">
            <a:solidFill>
              <a:srgbClr val="C8E0E8"/>
            </a:solidFill>
            <a:prstDash val="solid"/>
          </a:ln>
        </p:spPr>
      </p:sp>
      <p:sp>
        <p:nvSpPr>
          <p:cNvPr id="43" name="Text 41"/>
          <p:cNvSpPr/>
          <p:nvPr/>
        </p:nvSpPr>
        <p:spPr>
          <a:xfrm>
            <a:off x="4526280" y="3538728"/>
            <a:ext cx="822960" cy="347472"/>
          </a:xfrm>
          <a:prstGeom prst="rect">
            <a:avLst/>
          </a:prstGeom>
          <a:noFill/>
          <a:ln/>
        </p:spPr>
        <p:txBody>
          <a:bodyPr wrap="square" rtlCol="0" anchor="ctr"/>
          <a:lstStyle/>
          <a:p>
            <a:pPr algn="ctr" indent="0" marL="0">
              <a:buNone/>
            </a:pPr>
            <a:r>
              <a:rPr lang="en-US" sz="950" dirty="0">
                <a:solidFill>
                  <a:srgbClr val="1A2B3C"/>
                </a:solidFill>
                <a:latin typeface="Calibri" pitchFamily="34" charset="0"/>
                <a:ea typeface="Calibri" pitchFamily="34" charset="-122"/>
                <a:cs typeface="Calibri" pitchFamily="34" charset="-120"/>
              </a:rPr>
              <a:t>5분</a:t>
            </a:r>
            <a:endParaRPr lang="en-US" sz="950" dirty="0"/>
          </a:p>
        </p:txBody>
      </p:sp>
      <p:sp>
        <p:nvSpPr>
          <p:cNvPr id="44" name="Shape 42"/>
          <p:cNvSpPr/>
          <p:nvPr/>
        </p:nvSpPr>
        <p:spPr>
          <a:xfrm>
            <a:off x="5394960" y="3538728"/>
            <a:ext cx="1371600" cy="347472"/>
          </a:xfrm>
          <a:prstGeom prst="rect">
            <a:avLst/>
          </a:prstGeom>
          <a:solidFill>
            <a:srgbClr val="F0F7FF"/>
          </a:solidFill>
          <a:ln w="12700">
            <a:solidFill>
              <a:srgbClr val="C8E0E8"/>
            </a:solidFill>
            <a:prstDash val="solid"/>
          </a:ln>
        </p:spPr>
      </p:sp>
      <p:sp>
        <p:nvSpPr>
          <p:cNvPr id="45" name="Text 43"/>
          <p:cNvSpPr/>
          <p:nvPr/>
        </p:nvSpPr>
        <p:spPr>
          <a:xfrm>
            <a:off x="5440680" y="3538728"/>
            <a:ext cx="1280160" cy="347472"/>
          </a:xfrm>
          <a:prstGeom prst="rect">
            <a:avLst/>
          </a:prstGeom>
          <a:noFill/>
          <a:ln/>
        </p:spPr>
        <p:txBody>
          <a:bodyPr wrap="square" rtlCol="0" anchor="ctr"/>
          <a:lstStyle/>
          <a:p>
            <a:pPr algn="ctr" indent="0" marL="0">
              <a:buNone/>
            </a:pPr>
            <a:r>
              <a:rPr lang="en-US" sz="950" dirty="0">
                <a:solidFill>
                  <a:srgbClr val="1A2B3C"/>
                </a:solidFill>
                <a:latin typeface="Calibri" pitchFamily="34" charset="0"/>
                <a:ea typeface="Calibri" pitchFamily="34" charset="-122"/>
                <a:cs typeface="Calibri" pitchFamily="34" charset="-120"/>
              </a:rPr>
              <a:t>ConcurrentHashMap</a:t>
            </a:r>
            <a:endParaRPr lang="en-US" sz="950" dirty="0"/>
          </a:p>
        </p:txBody>
      </p:sp>
      <p:sp>
        <p:nvSpPr>
          <p:cNvPr id="46" name="Shape 44"/>
          <p:cNvSpPr/>
          <p:nvPr/>
        </p:nvSpPr>
        <p:spPr>
          <a:xfrm>
            <a:off x="274320" y="3904488"/>
            <a:ext cx="1280160" cy="347472"/>
          </a:xfrm>
          <a:prstGeom prst="rect">
            <a:avLst/>
          </a:prstGeom>
          <a:solidFill>
            <a:srgbClr val="FFFFFF"/>
          </a:solidFill>
          <a:ln w="12700">
            <a:solidFill>
              <a:srgbClr val="C8E0E8"/>
            </a:solidFill>
            <a:prstDash val="solid"/>
          </a:ln>
        </p:spPr>
      </p:sp>
      <p:sp>
        <p:nvSpPr>
          <p:cNvPr id="47" name="Text 45"/>
          <p:cNvSpPr/>
          <p:nvPr/>
        </p:nvSpPr>
        <p:spPr>
          <a:xfrm>
            <a:off x="320040" y="3904488"/>
            <a:ext cx="1188720" cy="347472"/>
          </a:xfrm>
          <a:prstGeom prst="rect">
            <a:avLst/>
          </a:prstGeom>
          <a:noFill/>
          <a:ln/>
        </p:spPr>
        <p:txBody>
          <a:bodyPr wrap="square" rtlCol="0" anchor="ctr"/>
          <a:lstStyle/>
          <a:p>
            <a:pPr algn="l" indent="0" marL="0">
              <a:buNone/>
            </a:pPr>
            <a:r>
              <a:rPr lang="en-US" sz="950" dirty="0">
                <a:solidFill>
                  <a:srgbClr val="1A2B3C"/>
                </a:solidFill>
                <a:latin typeface="Calibri" pitchFamily="34" charset="0"/>
                <a:ea typeface="Calibri" pitchFamily="34" charset="-122"/>
                <a:cs typeface="Calibri" pitchFamily="34" charset="-120"/>
              </a:rPr>
              <a:t>정수장 목록</a:t>
            </a:r>
            <a:endParaRPr lang="en-US" sz="950" dirty="0"/>
          </a:p>
        </p:txBody>
      </p:sp>
      <p:sp>
        <p:nvSpPr>
          <p:cNvPr id="48" name="Shape 46"/>
          <p:cNvSpPr/>
          <p:nvPr/>
        </p:nvSpPr>
        <p:spPr>
          <a:xfrm>
            <a:off x="1554480" y="3904488"/>
            <a:ext cx="2926080" cy="347472"/>
          </a:xfrm>
          <a:prstGeom prst="rect">
            <a:avLst/>
          </a:prstGeom>
          <a:solidFill>
            <a:srgbClr val="FFFFFF"/>
          </a:solidFill>
          <a:ln w="12700">
            <a:solidFill>
              <a:srgbClr val="C8E0E8"/>
            </a:solidFill>
            <a:prstDash val="solid"/>
          </a:ln>
        </p:spPr>
      </p:sp>
      <p:sp>
        <p:nvSpPr>
          <p:cNvPr id="49" name="Text 47"/>
          <p:cNvSpPr/>
          <p:nvPr/>
        </p:nvSpPr>
        <p:spPr>
          <a:xfrm>
            <a:off x="1600200" y="3904488"/>
            <a:ext cx="2834640" cy="347472"/>
          </a:xfrm>
          <a:prstGeom prst="rect">
            <a:avLst/>
          </a:prstGeom>
          <a:noFill/>
          <a:ln/>
        </p:spPr>
        <p:txBody>
          <a:bodyPr wrap="square" rtlCol="0" anchor="ctr"/>
          <a:lstStyle/>
          <a:p>
            <a:pPr algn="ctr" indent="0" marL="0">
              <a:buNone/>
            </a:pPr>
            <a:r>
              <a:rPr lang="en-US" sz="950" dirty="0">
                <a:solidFill>
                  <a:srgbClr val="1A2B3C"/>
                </a:solidFill>
                <a:latin typeface="Calibri" pitchFamily="34" charset="0"/>
                <a:ea typeface="Calibri" pitchFamily="34" charset="-122"/>
                <a:cs typeface="Calibri" pitchFamily="34" charset="-120"/>
              </a:rPr>
              <a:t>facilities</a:t>
            </a:r>
            <a:endParaRPr lang="en-US" sz="950" dirty="0"/>
          </a:p>
        </p:txBody>
      </p:sp>
      <p:sp>
        <p:nvSpPr>
          <p:cNvPr id="50" name="Shape 48"/>
          <p:cNvSpPr/>
          <p:nvPr/>
        </p:nvSpPr>
        <p:spPr>
          <a:xfrm>
            <a:off x="4480560" y="3904488"/>
            <a:ext cx="914400" cy="347472"/>
          </a:xfrm>
          <a:prstGeom prst="rect">
            <a:avLst/>
          </a:prstGeom>
          <a:solidFill>
            <a:srgbClr val="FFFFFF"/>
          </a:solidFill>
          <a:ln w="12700">
            <a:solidFill>
              <a:srgbClr val="C8E0E8"/>
            </a:solidFill>
            <a:prstDash val="solid"/>
          </a:ln>
        </p:spPr>
      </p:sp>
      <p:sp>
        <p:nvSpPr>
          <p:cNvPr id="51" name="Text 49"/>
          <p:cNvSpPr/>
          <p:nvPr/>
        </p:nvSpPr>
        <p:spPr>
          <a:xfrm>
            <a:off x="4526280" y="3904488"/>
            <a:ext cx="822960" cy="347472"/>
          </a:xfrm>
          <a:prstGeom prst="rect">
            <a:avLst/>
          </a:prstGeom>
          <a:noFill/>
          <a:ln/>
        </p:spPr>
        <p:txBody>
          <a:bodyPr wrap="square" rtlCol="0" anchor="ctr"/>
          <a:lstStyle/>
          <a:p>
            <a:pPr algn="ctr" indent="0" marL="0">
              <a:buNone/>
            </a:pPr>
            <a:r>
              <a:rPr lang="en-US" sz="950" dirty="0">
                <a:solidFill>
                  <a:srgbClr val="1A2B3C"/>
                </a:solidFill>
                <a:latin typeface="Calibri" pitchFamily="34" charset="0"/>
                <a:ea typeface="Calibri" pitchFamily="34" charset="-122"/>
                <a:cs typeface="Calibri" pitchFamily="34" charset="-120"/>
              </a:rPr>
              <a:t>60분</a:t>
            </a:r>
            <a:endParaRPr lang="en-US" sz="950" dirty="0"/>
          </a:p>
        </p:txBody>
      </p:sp>
      <p:sp>
        <p:nvSpPr>
          <p:cNvPr id="52" name="Shape 50"/>
          <p:cNvSpPr/>
          <p:nvPr/>
        </p:nvSpPr>
        <p:spPr>
          <a:xfrm>
            <a:off x="5394960" y="3904488"/>
            <a:ext cx="1371600" cy="347472"/>
          </a:xfrm>
          <a:prstGeom prst="rect">
            <a:avLst/>
          </a:prstGeom>
          <a:solidFill>
            <a:srgbClr val="FFFFFF"/>
          </a:solidFill>
          <a:ln w="12700">
            <a:solidFill>
              <a:srgbClr val="C8E0E8"/>
            </a:solidFill>
            <a:prstDash val="solid"/>
          </a:ln>
        </p:spPr>
      </p:sp>
      <p:sp>
        <p:nvSpPr>
          <p:cNvPr id="53" name="Text 51"/>
          <p:cNvSpPr/>
          <p:nvPr/>
        </p:nvSpPr>
        <p:spPr>
          <a:xfrm>
            <a:off x="5440680" y="3904488"/>
            <a:ext cx="1280160" cy="347472"/>
          </a:xfrm>
          <a:prstGeom prst="rect">
            <a:avLst/>
          </a:prstGeom>
          <a:noFill/>
          <a:ln/>
        </p:spPr>
        <p:txBody>
          <a:bodyPr wrap="square" rtlCol="0" anchor="ctr"/>
          <a:lstStyle/>
          <a:p>
            <a:pPr algn="ctr" indent="0" marL="0">
              <a:buNone/>
            </a:pPr>
            <a:r>
              <a:rPr lang="en-US" sz="950" dirty="0">
                <a:solidFill>
                  <a:srgbClr val="1A2B3C"/>
                </a:solidFill>
                <a:latin typeface="Calibri" pitchFamily="34" charset="0"/>
                <a:ea typeface="Calibri" pitchFamily="34" charset="-122"/>
                <a:cs typeface="Calibri" pitchFamily="34" charset="-120"/>
              </a:rPr>
              <a:t>ConcurrentHashMap</a:t>
            </a:r>
            <a:endParaRPr lang="en-US" sz="950" dirty="0"/>
          </a:p>
        </p:txBody>
      </p:sp>
      <p:sp>
        <p:nvSpPr>
          <p:cNvPr id="54" name="Shape 52"/>
          <p:cNvSpPr/>
          <p:nvPr/>
        </p:nvSpPr>
        <p:spPr>
          <a:xfrm>
            <a:off x="6766560" y="2148840"/>
            <a:ext cx="2103120" cy="2834640"/>
          </a:xfrm>
          <a:prstGeom prst="roundRect">
            <a:avLst>
              <a:gd name="adj" fmla="val 4348"/>
            </a:avLst>
          </a:prstGeom>
          <a:solidFill>
            <a:srgbClr val="E8F7F4"/>
          </a:solidFill>
          <a:ln w="12700">
            <a:solidFill>
              <a:srgbClr val="02C39A"/>
            </a:solidFill>
            <a:prstDash val="solid"/>
          </a:ln>
          <a:effectLst>
            <a:outerShdw sx="100000" sy="100000" kx="0" ky="0" algn="bl" rotWithShape="0" blurRad="101600" dist="25400" dir="2700000">
              <a:srgbClr val="000000">
                <a:alpha val="10000"/>
              </a:srgbClr>
            </a:outerShdw>
          </a:effectLst>
        </p:spPr>
      </p:sp>
      <p:sp>
        <p:nvSpPr>
          <p:cNvPr id="55" name="Text 53"/>
          <p:cNvSpPr/>
          <p:nvPr/>
        </p:nvSpPr>
        <p:spPr>
          <a:xfrm>
            <a:off x="6858000" y="2212848"/>
            <a:ext cx="1920240" cy="502920"/>
          </a:xfrm>
          <a:prstGeom prst="rect">
            <a:avLst/>
          </a:prstGeom>
          <a:noFill/>
          <a:ln/>
        </p:spPr>
        <p:txBody>
          <a:bodyPr wrap="square" rtlCol="0" anchor="ctr"/>
          <a:lstStyle/>
          <a:p>
            <a:pPr algn="ctr" indent="0" marL="0">
              <a:buNone/>
            </a:pPr>
            <a:r>
              <a:rPr lang="en-US" sz="1200" b="1" dirty="0">
                <a:solidFill>
                  <a:srgbClr val="028090"/>
                </a:solidFill>
                <a:latin typeface="Calibri" pitchFamily="34" charset="0"/>
                <a:ea typeface="Calibri" pitchFamily="34" charset="-122"/>
                <a:cs typeface="Calibri" pitchFamily="34" charset="-120"/>
              </a:rPr>
              <a:t>Pull-through</a:t>
            </a:r>
            <a:endParaRPr lang="en-US" sz="1200" dirty="0"/>
          </a:p>
          <a:p>
            <a:pPr algn="ctr" indent="0" marL="0">
              <a:buNone/>
            </a:pPr>
            <a:r>
              <a:rPr lang="en-US" sz="1200" b="1" dirty="0">
                <a:solidFill>
                  <a:srgbClr val="028090"/>
                </a:solidFill>
                <a:latin typeface="Calibri" pitchFamily="34" charset="0"/>
                <a:ea typeface="Calibri" pitchFamily="34" charset="-122"/>
                <a:cs typeface="Calibri" pitchFamily="34" charset="-120"/>
              </a:rPr>
              <a:t>Cache 패턴</a:t>
            </a:r>
            <a:endParaRPr lang="en-US" sz="1200" dirty="0"/>
          </a:p>
        </p:txBody>
      </p:sp>
      <p:sp>
        <p:nvSpPr>
          <p:cNvPr id="56" name="Text 54"/>
          <p:cNvSpPr/>
          <p:nvPr/>
        </p:nvSpPr>
        <p:spPr>
          <a:xfrm>
            <a:off x="6876288" y="2788920"/>
            <a:ext cx="1883664" cy="320040"/>
          </a:xfrm>
          <a:prstGeom prst="rect">
            <a:avLst/>
          </a:prstGeom>
          <a:noFill/>
          <a:ln/>
        </p:spPr>
        <p:txBody>
          <a:bodyPr wrap="square" rtlCol="0" anchor="ctr"/>
          <a:lstStyle/>
          <a:p>
            <a:pPr indent="0" marL="0">
              <a:buNone/>
            </a:pPr>
            <a:r>
              <a:rPr lang="en-US" sz="1000" dirty="0">
                <a:solidFill>
                  <a:srgbClr val="1A2B3C"/>
                </a:solidFill>
                <a:latin typeface="Calibri" pitchFamily="34" charset="0"/>
                <a:ea typeface="Calibri" pitchFamily="34" charset="-122"/>
                <a:cs typeface="Calibri" pitchFamily="34" charset="-120"/>
              </a:rPr>
              <a:t>1. 요청 수신</a:t>
            </a:r>
            <a:endParaRPr lang="en-US" sz="1000" dirty="0"/>
          </a:p>
        </p:txBody>
      </p:sp>
      <p:sp>
        <p:nvSpPr>
          <p:cNvPr id="57" name="Text 55"/>
          <p:cNvSpPr/>
          <p:nvPr/>
        </p:nvSpPr>
        <p:spPr>
          <a:xfrm>
            <a:off x="6876288" y="3136392"/>
            <a:ext cx="1883664" cy="320040"/>
          </a:xfrm>
          <a:prstGeom prst="rect">
            <a:avLst/>
          </a:prstGeom>
          <a:noFill/>
          <a:ln/>
        </p:spPr>
        <p:txBody>
          <a:bodyPr wrap="square" rtlCol="0" anchor="ctr"/>
          <a:lstStyle/>
          <a:p>
            <a:pPr indent="0" marL="0">
              <a:buNone/>
            </a:pPr>
            <a:r>
              <a:rPr lang="en-US" sz="1000" dirty="0">
                <a:solidFill>
                  <a:srgbClr val="1A2B3C"/>
                </a:solidFill>
                <a:latin typeface="Calibri" pitchFamily="34" charset="0"/>
                <a:ea typeface="Calibri" pitchFamily="34" charset="-122"/>
                <a:cs typeface="Calibri" pitchFamily="34" charset="-120"/>
              </a:rPr>
              <a:t>2. 캐시 확인</a:t>
            </a:r>
            <a:endParaRPr lang="en-US" sz="1000" dirty="0"/>
          </a:p>
        </p:txBody>
      </p:sp>
      <p:sp>
        <p:nvSpPr>
          <p:cNvPr id="58" name="Text 56"/>
          <p:cNvSpPr/>
          <p:nvPr/>
        </p:nvSpPr>
        <p:spPr>
          <a:xfrm>
            <a:off x="6876288" y="3483864"/>
            <a:ext cx="1883664" cy="320040"/>
          </a:xfrm>
          <a:prstGeom prst="rect">
            <a:avLst/>
          </a:prstGeom>
          <a:noFill/>
          <a:ln/>
        </p:spPr>
        <p:txBody>
          <a:bodyPr wrap="square" rtlCol="0" anchor="ctr"/>
          <a:lstStyle/>
          <a:p>
            <a:pPr indent="0" marL="0">
              <a:buNone/>
            </a:pPr>
            <a:r>
              <a:rPr lang="en-US" sz="1000" dirty="0">
                <a:solidFill>
                  <a:srgbClr val="1A2B3C"/>
                </a:solidFill>
                <a:latin typeface="Calibri" pitchFamily="34" charset="0"/>
                <a:ea typeface="Calibri" pitchFamily="34" charset="-122"/>
                <a:cs typeface="Calibri" pitchFamily="34" charset="-120"/>
              </a:rPr>
              <a:t>3. TTL 만료?</a:t>
            </a:r>
            <a:endParaRPr lang="en-US" sz="1000" dirty="0"/>
          </a:p>
        </p:txBody>
      </p:sp>
      <p:sp>
        <p:nvSpPr>
          <p:cNvPr id="59" name="Text 57"/>
          <p:cNvSpPr/>
          <p:nvPr/>
        </p:nvSpPr>
        <p:spPr>
          <a:xfrm>
            <a:off x="6876288" y="3831336"/>
            <a:ext cx="1883664" cy="320040"/>
          </a:xfrm>
          <a:prstGeom prst="rect">
            <a:avLst/>
          </a:prstGeom>
          <a:noFill/>
          <a:ln/>
        </p:spPr>
        <p:txBody>
          <a:bodyPr wrap="square" rtlCol="0" anchor="ctr"/>
          <a:lstStyle/>
          <a:p>
            <a:pPr indent="0" marL="0">
              <a:buNone/>
            </a:pPr>
            <a:r>
              <a:rPr lang="en-US" sz="1000" dirty="0">
                <a:solidFill>
                  <a:srgbClr val="1A2B3C"/>
                </a:solidFill>
                <a:latin typeface="Calibri" pitchFamily="34" charset="0"/>
                <a:ea typeface="Calibri" pitchFamily="34" charset="-122"/>
                <a:cs typeface="Calibri" pitchFamily="34" charset="-120"/>
              </a:rPr>
              <a:t>4. API 호출</a:t>
            </a:r>
            <a:endParaRPr lang="en-US" sz="1000" dirty="0"/>
          </a:p>
        </p:txBody>
      </p:sp>
      <p:sp>
        <p:nvSpPr>
          <p:cNvPr id="60" name="Text 58"/>
          <p:cNvSpPr/>
          <p:nvPr/>
        </p:nvSpPr>
        <p:spPr>
          <a:xfrm>
            <a:off x="6876288" y="4178808"/>
            <a:ext cx="1883664" cy="320040"/>
          </a:xfrm>
          <a:prstGeom prst="rect">
            <a:avLst/>
          </a:prstGeom>
          <a:noFill/>
          <a:ln/>
        </p:spPr>
        <p:txBody>
          <a:bodyPr wrap="square" rtlCol="0" anchor="ctr"/>
          <a:lstStyle/>
          <a:p>
            <a:pPr indent="0" marL="0">
              <a:buNone/>
            </a:pPr>
            <a:r>
              <a:rPr lang="en-US" sz="1000" dirty="0">
                <a:solidFill>
                  <a:srgbClr val="1A2B3C"/>
                </a:solidFill>
                <a:latin typeface="Calibri" pitchFamily="34" charset="0"/>
                <a:ea typeface="Calibri" pitchFamily="34" charset="-122"/>
                <a:cs typeface="Calibri" pitchFamily="34" charset="-120"/>
              </a:rPr>
              <a:t>5. 캐시 저장</a:t>
            </a:r>
            <a:endParaRPr lang="en-US" sz="1000" dirty="0"/>
          </a:p>
        </p:txBody>
      </p:sp>
      <p:sp>
        <p:nvSpPr>
          <p:cNvPr id="61" name="Text 59"/>
          <p:cNvSpPr/>
          <p:nvPr/>
        </p:nvSpPr>
        <p:spPr>
          <a:xfrm>
            <a:off x="6876288" y="4526280"/>
            <a:ext cx="1883664" cy="320040"/>
          </a:xfrm>
          <a:prstGeom prst="rect">
            <a:avLst/>
          </a:prstGeom>
          <a:noFill/>
          <a:ln/>
        </p:spPr>
        <p:txBody>
          <a:bodyPr wrap="square" rtlCol="0" anchor="ctr"/>
          <a:lstStyle/>
          <a:p>
            <a:pPr indent="0" marL="0">
              <a:buNone/>
            </a:pPr>
            <a:r>
              <a:rPr lang="en-US" sz="1000" dirty="0">
                <a:solidFill>
                  <a:srgbClr val="1A2B3C"/>
                </a:solidFill>
                <a:latin typeface="Calibri" pitchFamily="34" charset="0"/>
                <a:ea typeface="Calibri" pitchFamily="34" charset="-122"/>
                <a:cs typeface="Calibri" pitchFamily="34" charset="-120"/>
              </a:rPr>
              <a:t>6. 데이터 반환</a:t>
            </a:r>
            <a:endParaRPr lang="en-US" sz="1000" dirty="0"/>
          </a:p>
        </p:txBody>
      </p:sp>
      <p:sp>
        <p:nvSpPr>
          <p:cNvPr id="62" name="Shape 60"/>
          <p:cNvSpPr/>
          <p:nvPr/>
        </p:nvSpPr>
        <p:spPr>
          <a:xfrm>
            <a:off x="274320" y="4754880"/>
            <a:ext cx="6309360" cy="274320"/>
          </a:xfrm>
          <a:prstGeom prst="roundRect">
            <a:avLst>
              <a:gd name="adj" fmla="val 16667"/>
            </a:avLst>
          </a:prstGeom>
          <a:solidFill>
            <a:srgbClr val="FFF3E0"/>
          </a:solidFill>
          <a:ln w="12700">
            <a:solidFill>
              <a:srgbClr val="FF8C00"/>
            </a:solidFill>
            <a:prstDash val="solid"/>
          </a:ln>
        </p:spPr>
      </p:sp>
      <p:sp>
        <p:nvSpPr>
          <p:cNvPr id="63" name="Text 61"/>
          <p:cNvSpPr/>
          <p:nvPr/>
        </p:nvSpPr>
        <p:spPr>
          <a:xfrm>
            <a:off x="411480" y="4754880"/>
            <a:ext cx="6080760" cy="274320"/>
          </a:xfrm>
          <a:prstGeom prst="rect">
            <a:avLst/>
          </a:prstGeom>
          <a:noFill/>
          <a:ln/>
        </p:spPr>
        <p:txBody>
          <a:bodyPr wrap="square" rtlCol="0" anchor="ctr"/>
          <a:lstStyle/>
          <a:p>
            <a:pPr indent="0" marL="0">
              <a:buNone/>
            </a:pPr>
            <a:r>
              <a:rPr lang="en-US" sz="950" dirty="0">
                <a:solidFill>
                  <a:srgbClr val="CC5500"/>
                </a:solidFill>
                <a:latin typeface="Calibri" pitchFamily="34" charset="0"/>
                <a:ea typeface="Calibri" pitchFamily="34" charset="-122"/>
                <a:cs typeface="Calibri" pitchFamily="34" charset="-120"/>
              </a:rPr>
              <a:t>💡 날짜 범위를 캐시 키에 포함: 같은 정수장도 조회 기간이 다르면 다른 데이터</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8EE"/>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28090"/>
          </a:solidFill>
          <a:ln w="12700">
            <a:solidFill>
              <a:srgbClr val="028090"/>
            </a:solidFill>
            <a:prstDash val="solid"/>
          </a:ln>
        </p:spPr>
      </p:sp>
      <p:sp>
        <p:nvSpPr>
          <p:cNvPr id="3" name="Text 1"/>
          <p:cNvSpPr/>
          <p:nvPr/>
        </p:nvSpPr>
        <p:spPr>
          <a:xfrm>
            <a:off x="365760" y="0"/>
            <a:ext cx="8412480" cy="91440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  실습 03 — 시스템 아키텍처 설계하기</a:t>
            </a:r>
            <a:endParaRPr lang="en-US" sz="2000" dirty="0"/>
          </a:p>
        </p:txBody>
      </p:sp>
      <p:sp>
        <p:nvSpPr>
          <p:cNvPr id="4" name="Shape 2"/>
          <p:cNvSpPr/>
          <p:nvPr/>
        </p:nvSpPr>
        <p:spPr>
          <a:xfrm>
            <a:off x="365760" y="1051560"/>
            <a:ext cx="8412480" cy="1143000"/>
          </a:xfrm>
          <a:prstGeom prst="roundRect">
            <a:avLst>
              <a:gd name="adj" fmla="val 9600"/>
            </a:avLst>
          </a:prstGeom>
          <a:solidFill>
            <a:srgbClr val="FFFFFF"/>
          </a:solidFill>
          <a:ln w="12700">
            <a:solidFill>
              <a:srgbClr val="7C3AED"/>
            </a:solidFill>
            <a:prstDash val="solid"/>
          </a:ln>
          <a:effectLst>
            <a:outerShdw sx="100000" sy="100000" kx="0" ky="0" algn="bl" rotWithShape="0" blurRad="101600" dist="25400" dir="2700000">
              <a:srgbClr val="000000">
                <a:alpha val="10000"/>
              </a:srgbClr>
            </a:outerShdw>
          </a:effectLst>
        </p:spPr>
      </p:sp>
      <p:sp>
        <p:nvSpPr>
          <p:cNvPr id="5" name="Shape 3"/>
          <p:cNvSpPr/>
          <p:nvPr/>
        </p:nvSpPr>
        <p:spPr>
          <a:xfrm>
            <a:off x="365760" y="1051560"/>
            <a:ext cx="1097280" cy="1143000"/>
          </a:xfrm>
          <a:prstGeom prst="roundRect">
            <a:avLst>
              <a:gd name="adj" fmla="val 10000"/>
            </a:avLst>
          </a:prstGeom>
          <a:solidFill>
            <a:srgbClr val="7C3AED"/>
          </a:solidFill>
          <a:ln w="12700">
            <a:solidFill>
              <a:srgbClr val="7C3AED"/>
            </a:solidFill>
            <a:prstDash val="solid"/>
          </a:ln>
        </p:spPr>
      </p:sp>
      <p:sp>
        <p:nvSpPr>
          <p:cNvPr id="6" name="Text 4"/>
          <p:cNvSpPr/>
          <p:nvPr/>
        </p:nvSpPr>
        <p:spPr>
          <a:xfrm>
            <a:off x="365760" y="1051560"/>
            <a:ext cx="1097280" cy="11430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Task A</a:t>
            </a:r>
            <a:endParaRPr lang="en-US" sz="1400" dirty="0"/>
          </a:p>
        </p:txBody>
      </p:sp>
      <p:sp>
        <p:nvSpPr>
          <p:cNvPr id="7" name="Text 5"/>
          <p:cNvSpPr/>
          <p:nvPr/>
        </p:nvSpPr>
        <p:spPr>
          <a:xfrm>
            <a:off x="1600200" y="1143000"/>
            <a:ext cx="7040880" cy="347472"/>
          </a:xfrm>
          <a:prstGeom prst="rect">
            <a:avLst/>
          </a:prstGeom>
          <a:noFill/>
          <a:ln/>
        </p:spPr>
        <p:txBody>
          <a:bodyPr wrap="square" rtlCol="0" anchor="ctr"/>
          <a:lstStyle/>
          <a:p>
            <a:pPr indent="0" marL="0">
              <a:buNone/>
            </a:pPr>
            <a:r>
              <a:rPr lang="en-US" sz="1300" b="1" dirty="0">
                <a:solidFill>
                  <a:srgbClr val="1A2B3C"/>
                </a:solidFill>
                <a:latin typeface="Calibri" pitchFamily="34" charset="0"/>
                <a:ea typeface="Calibri" pitchFamily="34" charset="-122"/>
                <a:cs typeface="Calibri" pitchFamily="34" charset="-120"/>
              </a:rPr>
              <a:t>AI에게 물어보기</a:t>
            </a:r>
            <a:endParaRPr lang="en-US" sz="1300" dirty="0"/>
          </a:p>
        </p:txBody>
      </p:sp>
      <p:sp>
        <p:nvSpPr>
          <p:cNvPr id="8" name="Text 6"/>
          <p:cNvSpPr/>
          <p:nvPr/>
        </p:nvSpPr>
        <p:spPr>
          <a:xfrm>
            <a:off x="1600200" y="1508760"/>
            <a:ext cx="7040880" cy="594360"/>
          </a:xfrm>
          <a:prstGeom prst="rect">
            <a:avLst/>
          </a:prstGeom>
          <a:noFill/>
          <a:ln/>
        </p:spPr>
        <p:txBody>
          <a:bodyPr wrap="square" rtlCol="0" anchor="ctr"/>
          <a:lstStyle/>
          <a:p>
            <a:pPr indent="0" marL="0">
              <a:buNone/>
            </a:pPr>
            <a:r>
              <a:rPr lang="en-US" sz="1100" dirty="0">
                <a:solidFill>
                  <a:srgbClr val="4A6A80"/>
                </a:solidFill>
                <a:latin typeface="Calibri" pitchFamily="34" charset="0"/>
                <a:ea typeface="Calibri" pitchFamily="34" charset="-122"/>
                <a:cs typeface="Calibri" pitchFamily="34" charset="-120"/>
              </a:rPr>
              <a:t>"우리 프로젝트에 적합한 아키텍처와 기술 스택을 추천해줘. 4~5인 팀, Spring Boot, 공공 API 연동 서비스"</a:t>
            </a:r>
            <a:endParaRPr lang="en-US" sz="1100" dirty="0"/>
          </a:p>
        </p:txBody>
      </p:sp>
      <p:sp>
        <p:nvSpPr>
          <p:cNvPr id="9" name="Shape 7"/>
          <p:cNvSpPr/>
          <p:nvPr/>
        </p:nvSpPr>
        <p:spPr>
          <a:xfrm>
            <a:off x="365760" y="2313432"/>
            <a:ext cx="8412480" cy="1143000"/>
          </a:xfrm>
          <a:prstGeom prst="roundRect">
            <a:avLst>
              <a:gd name="adj" fmla="val 9600"/>
            </a:avLst>
          </a:prstGeom>
          <a:solidFill>
            <a:srgbClr val="FFFFFF"/>
          </a:solidFill>
          <a:ln w="12700">
            <a:solidFill>
              <a:srgbClr val="0369A1"/>
            </a:solidFill>
            <a:prstDash val="solid"/>
          </a:ln>
          <a:effectLst>
            <a:outerShdw sx="100000" sy="100000" kx="0" ky="0" algn="bl" rotWithShape="0" blurRad="101600" dist="25400" dir="2700000">
              <a:srgbClr val="000000">
                <a:alpha val="10000"/>
              </a:srgbClr>
            </a:outerShdw>
          </a:effectLst>
        </p:spPr>
      </p:sp>
      <p:sp>
        <p:nvSpPr>
          <p:cNvPr id="10" name="Shape 8"/>
          <p:cNvSpPr/>
          <p:nvPr/>
        </p:nvSpPr>
        <p:spPr>
          <a:xfrm>
            <a:off x="365760" y="2313432"/>
            <a:ext cx="1097280" cy="1143000"/>
          </a:xfrm>
          <a:prstGeom prst="roundRect">
            <a:avLst>
              <a:gd name="adj" fmla="val 10000"/>
            </a:avLst>
          </a:prstGeom>
          <a:solidFill>
            <a:srgbClr val="0369A1"/>
          </a:solidFill>
          <a:ln w="12700">
            <a:solidFill>
              <a:srgbClr val="0369A1"/>
            </a:solidFill>
            <a:prstDash val="solid"/>
          </a:ln>
        </p:spPr>
      </p:sp>
      <p:sp>
        <p:nvSpPr>
          <p:cNvPr id="11" name="Text 9"/>
          <p:cNvSpPr/>
          <p:nvPr/>
        </p:nvSpPr>
        <p:spPr>
          <a:xfrm>
            <a:off x="365760" y="2313432"/>
            <a:ext cx="1097280" cy="11430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Task B</a:t>
            </a:r>
            <a:endParaRPr lang="en-US" sz="1400" dirty="0"/>
          </a:p>
        </p:txBody>
      </p:sp>
      <p:sp>
        <p:nvSpPr>
          <p:cNvPr id="12" name="Text 10"/>
          <p:cNvSpPr/>
          <p:nvPr/>
        </p:nvSpPr>
        <p:spPr>
          <a:xfrm>
            <a:off x="1600200" y="2404872"/>
            <a:ext cx="7040880" cy="347472"/>
          </a:xfrm>
          <a:prstGeom prst="rect">
            <a:avLst/>
          </a:prstGeom>
          <a:noFill/>
          <a:ln/>
        </p:spPr>
        <p:txBody>
          <a:bodyPr wrap="square" rtlCol="0" anchor="ctr"/>
          <a:lstStyle/>
          <a:p>
            <a:pPr indent="0" marL="0">
              <a:buNone/>
            </a:pPr>
            <a:r>
              <a:rPr lang="en-US" sz="1300" b="1" dirty="0">
                <a:solidFill>
                  <a:srgbClr val="1A2B3C"/>
                </a:solidFill>
                <a:latin typeface="Calibri" pitchFamily="34" charset="0"/>
                <a:ea typeface="Calibri" pitchFamily="34" charset="-122"/>
                <a:cs typeface="Calibri" pitchFamily="34" charset="-120"/>
              </a:rPr>
              <a:t>레이어 구조 그리기</a:t>
            </a:r>
            <a:endParaRPr lang="en-US" sz="1300" dirty="0"/>
          </a:p>
        </p:txBody>
      </p:sp>
      <p:sp>
        <p:nvSpPr>
          <p:cNvPr id="13" name="Text 11"/>
          <p:cNvSpPr/>
          <p:nvPr/>
        </p:nvSpPr>
        <p:spPr>
          <a:xfrm>
            <a:off x="1600200" y="2770632"/>
            <a:ext cx="7040880" cy="594360"/>
          </a:xfrm>
          <a:prstGeom prst="rect">
            <a:avLst/>
          </a:prstGeom>
          <a:noFill/>
          <a:ln/>
        </p:spPr>
        <p:txBody>
          <a:bodyPr wrap="square" rtlCol="0" anchor="ctr"/>
          <a:lstStyle/>
          <a:p>
            <a:pPr indent="0" marL="0">
              <a:buNone/>
            </a:pPr>
            <a:r>
              <a:rPr lang="en-US" sz="1100" dirty="0">
                <a:solidFill>
                  <a:srgbClr val="4A6A80"/>
                </a:solidFill>
                <a:latin typeface="Calibri" pitchFamily="34" charset="0"/>
                <a:ea typeface="Calibri" pitchFamily="34" charset="-122"/>
                <a:cs typeface="Calibri" pitchFamily="34" charset="-120"/>
              </a:rPr>
              <a:t>Frontend → Controller → Service → Repository/Client 형태로</a:t>
            </a:r>
            <a:endParaRPr lang="en-US" sz="1100" dirty="0"/>
          </a:p>
          <a:p>
            <a:pPr indent="0" marL="0">
              <a:buNone/>
            </a:pPr>
            <a:r>
              <a:rPr lang="en-US" sz="1100" dirty="0">
                <a:solidFill>
                  <a:srgbClr val="4A6A80"/>
                </a:solidFill>
                <a:latin typeface="Calibri" pitchFamily="34" charset="0"/>
                <a:ea typeface="Calibri" pitchFamily="34" charset="-122"/>
                <a:cs typeface="Calibri" pitchFamily="34" charset="-120"/>
              </a:rPr>
              <a:t>각 계층의 책임과 클래스 이름 정의하기</a:t>
            </a:r>
            <a:endParaRPr lang="en-US" sz="1100" dirty="0"/>
          </a:p>
        </p:txBody>
      </p:sp>
      <p:sp>
        <p:nvSpPr>
          <p:cNvPr id="14" name="Shape 12"/>
          <p:cNvSpPr/>
          <p:nvPr/>
        </p:nvSpPr>
        <p:spPr>
          <a:xfrm>
            <a:off x="365760" y="3575304"/>
            <a:ext cx="8412480" cy="1143000"/>
          </a:xfrm>
          <a:prstGeom prst="roundRect">
            <a:avLst>
              <a:gd name="adj" fmla="val 9600"/>
            </a:avLst>
          </a:prstGeom>
          <a:solidFill>
            <a:srgbClr val="FFFFFF"/>
          </a:solidFill>
          <a:ln w="12700">
            <a:solidFill>
              <a:srgbClr val="028090"/>
            </a:solidFill>
            <a:prstDash val="solid"/>
          </a:ln>
          <a:effectLst>
            <a:outerShdw sx="100000" sy="100000" kx="0" ky="0" algn="bl" rotWithShape="0" blurRad="101600" dist="25400" dir="2700000">
              <a:srgbClr val="000000">
                <a:alpha val="10000"/>
              </a:srgbClr>
            </a:outerShdw>
          </a:effectLst>
        </p:spPr>
      </p:sp>
      <p:sp>
        <p:nvSpPr>
          <p:cNvPr id="15" name="Shape 13"/>
          <p:cNvSpPr/>
          <p:nvPr/>
        </p:nvSpPr>
        <p:spPr>
          <a:xfrm>
            <a:off x="365760" y="3575304"/>
            <a:ext cx="1097280" cy="1143000"/>
          </a:xfrm>
          <a:prstGeom prst="roundRect">
            <a:avLst>
              <a:gd name="adj" fmla="val 10000"/>
            </a:avLst>
          </a:prstGeom>
          <a:solidFill>
            <a:srgbClr val="028090"/>
          </a:solidFill>
          <a:ln w="12700">
            <a:solidFill>
              <a:srgbClr val="028090"/>
            </a:solidFill>
            <a:prstDash val="solid"/>
          </a:ln>
        </p:spPr>
      </p:sp>
      <p:sp>
        <p:nvSpPr>
          <p:cNvPr id="16" name="Text 14"/>
          <p:cNvSpPr/>
          <p:nvPr/>
        </p:nvSpPr>
        <p:spPr>
          <a:xfrm>
            <a:off x="365760" y="3575304"/>
            <a:ext cx="1097280" cy="11430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Task C</a:t>
            </a:r>
            <a:endParaRPr lang="en-US" sz="1400" dirty="0"/>
          </a:p>
        </p:txBody>
      </p:sp>
      <p:sp>
        <p:nvSpPr>
          <p:cNvPr id="17" name="Text 15"/>
          <p:cNvSpPr/>
          <p:nvPr/>
        </p:nvSpPr>
        <p:spPr>
          <a:xfrm>
            <a:off x="1600200" y="3666744"/>
            <a:ext cx="7040880" cy="347472"/>
          </a:xfrm>
          <a:prstGeom prst="rect">
            <a:avLst/>
          </a:prstGeom>
          <a:noFill/>
          <a:ln/>
        </p:spPr>
        <p:txBody>
          <a:bodyPr wrap="square" rtlCol="0" anchor="ctr"/>
          <a:lstStyle/>
          <a:p>
            <a:pPr indent="0" marL="0">
              <a:buNone/>
            </a:pPr>
            <a:r>
              <a:rPr lang="en-US" sz="1300" b="1" dirty="0">
                <a:solidFill>
                  <a:srgbClr val="1A2B3C"/>
                </a:solidFill>
                <a:latin typeface="Calibri" pitchFamily="34" charset="0"/>
                <a:ea typeface="Calibri" pitchFamily="34" charset="-122"/>
                <a:cs typeface="Calibri" pitchFamily="34" charset="-120"/>
              </a:rPr>
              <a:t>기술 스택 표 완성하기</a:t>
            </a:r>
            <a:endParaRPr lang="en-US" sz="1300" dirty="0"/>
          </a:p>
        </p:txBody>
      </p:sp>
      <p:sp>
        <p:nvSpPr>
          <p:cNvPr id="18" name="Text 16"/>
          <p:cNvSpPr/>
          <p:nvPr/>
        </p:nvSpPr>
        <p:spPr>
          <a:xfrm>
            <a:off x="1600200" y="4032504"/>
            <a:ext cx="7040880" cy="594360"/>
          </a:xfrm>
          <a:prstGeom prst="rect">
            <a:avLst/>
          </a:prstGeom>
          <a:noFill/>
          <a:ln/>
        </p:spPr>
        <p:txBody>
          <a:bodyPr wrap="square" rtlCol="0" anchor="ctr"/>
          <a:lstStyle/>
          <a:p>
            <a:pPr indent="0" marL="0">
              <a:buNone/>
            </a:pPr>
            <a:r>
              <a:rPr lang="en-US" sz="1100" dirty="0">
                <a:solidFill>
                  <a:srgbClr val="4A6A80"/>
                </a:solidFill>
                <a:latin typeface="Calibri" pitchFamily="34" charset="0"/>
                <a:ea typeface="Calibri" pitchFamily="34" charset="-122"/>
                <a:cs typeface="Calibri" pitchFamily="34" charset="-120"/>
              </a:rPr>
              <a:t>각 계층별 사용 기술과 선택 이유 작성</a:t>
            </a:r>
            <a:endParaRPr lang="en-US" sz="1100" dirty="0"/>
          </a:p>
          <a:p>
            <a:pPr indent="0" marL="0">
              <a:buNone/>
            </a:pPr>
            <a:r>
              <a:rPr lang="en-US" sz="1100" dirty="0">
                <a:solidFill>
                  <a:srgbClr val="4A6A80"/>
                </a:solidFill>
                <a:latin typeface="Calibri" pitchFamily="34" charset="0"/>
                <a:ea typeface="Calibri" pitchFamily="34" charset="-122"/>
                <a:cs typeface="Calibri" pitchFamily="34" charset="-120"/>
              </a:rPr>
              <a:t>(프론트엔드, 백엔드, 캐시, AI, 빌드 도구)</a:t>
            </a:r>
            <a:endParaRPr lang="en-US" sz="1100" dirty="0"/>
          </a:p>
        </p:txBody>
      </p:sp>
      <p:sp>
        <p:nvSpPr>
          <p:cNvPr id="19" name="Shape 17"/>
          <p:cNvSpPr/>
          <p:nvPr/>
        </p:nvSpPr>
        <p:spPr>
          <a:xfrm>
            <a:off x="365760" y="4754880"/>
            <a:ext cx="8412480" cy="274320"/>
          </a:xfrm>
          <a:prstGeom prst="roundRect">
            <a:avLst>
              <a:gd name="adj" fmla="val 20000"/>
            </a:avLst>
          </a:prstGeom>
          <a:solidFill>
            <a:srgbClr val="02C39A">
              <a:alpha val="20000"/>
            </a:srgbClr>
          </a:solidFill>
          <a:ln w="12700">
            <a:solidFill>
              <a:srgbClr val="02C39A"/>
            </a:solidFill>
            <a:prstDash val="solid"/>
          </a:ln>
        </p:spPr>
      </p:sp>
      <p:sp>
        <p:nvSpPr>
          <p:cNvPr id="20" name="Text 18"/>
          <p:cNvSpPr/>
          <p:nvPr/>
        </p:nvSpPr>
        <p:spPr>
          <a:xfrm>
            <a:off x="502920" y="4754880"/>
            <a:ext cx="8229600" cy="274320"/>
          </a:xfrm>
          <a:prstGeom prst="rect">
            <a:avLst/>
          </a:prstGeom>
          <a:noFill/>
          <a:ln/>
        </p:spPr>
        <p:txBody>
          <a:bodyPr wrap="square" rtlCol="0" anchor="ctr"/>
          <a:lstStyle/>
          <a:p>
            <a:pPr indent="0" marL="0">
              <a:buNone/>
            </a:pPr>
            <a:r>
              <a:rPr lang="en-US" sz="1100" b="1" dirty="0">
                <a:solidFill>
                  <a:srgbClr val="028090"/>
                </a:solidFill>
                <a:latin typeface="Calibri" pitchFamily="34" charset="0"/>
                <a:ea typeface="Calibri" pitchFamily="34" charset="-122"/>
                <a:cs typeface="Calibri" pitchFamily="34" charset="-120"/>
              </a:rPr>
              <a:t>⏱  25분 실습 → 팀원과 결과 공유</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28090"/>
          </a:solidFill>
          <a:ln w="12700">
            <a:solidFill>
              <a:srgbClr val="028090"/>
            </a:solidFill>
            <a:prstDash val="solid"/>
          </a:ln>
        </p:spPr>
      </p:sp>
      <p:sp>
        <p:nvSpPr>
          <p:cNvPr id="3" name="Text 1"/>
          <p:cNvSpPr/>
          <p:nvPr/>
        </p:nvSpPr>
        <p:spPr>
          <a:xfrm>
            <a:off x="365760" y="0"/>
            <a:ext cx="8412480" cy="9144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Ch.2 설계 완료 체크리스트</a:t>
            </a:r>
            <a:endParaRPr lang="en-US" sz="2200" dirty="0"/>
          </a:p>
        </p:txBody>
      </p:sp>
      <p:sp>
        <p:nvSpPr>
          <p:cNvPr id="4" name="Shape 2"/>
          <p:cNvSpPr/>
          <p:nvPr/>
        </p:nvSpPr>
        <p:spPr>
          <a:xfrm>
            <a:off x="457200" y="1024128"/>
            <a:ext cx="8046720" cy="530352"/>
          </a:xfrm>
          <a:prstGeom prst="roundRect">
            <a:avLst>
              <a:gd name="adj" fmla="val 13793"/>
            </a:avLst>
          </a:prstGeom>
          <a:solidFill>
            <a:srgbClr val="F0F7FF"/>
          </a:solidFill>
          <a:ln w="12700">
            <a:solidFill>
              <a:srgbClr val="C8E0E8"/>
            </a:solidFill>
            <a:prstDash val="solid"/>
          </a:ln>
        </p:spPr>
      </p:sp>
      <p:sp>
        <p:nvSpPr>
          <p:cNvPr id="5" name="Shape 3"/>
          <p:cNvSpPr/>
          <p:nvPr/>
        </p:nvSpPr>
        <p:spPr>
          <a:xfrm>
            <a:off x="594360" y="1115568"/>
            <a:ext cx="310896" cy="310896"/>
          </a:xfrm>
          <a:prstGeom prst="ellipse">
            <a:avLst/>
          </a:prstGeom>
          <a:solidFill>
            <a:srgbClr val="02C39A"/>
          </a:solidFill>
          <a:ln w="12700">
            <a:solidFill>
              <a:srgbClr val="02C39A"/>
            </a:solidFill>
            <a:prstDash val="solid"/>
          </a:ln>
        </p:spPr>
      </p:sp>
      <p:sp>
        <p:nvSpPr>
          <p:cNvPr id="6" name="Text 4"/>
          <p:cNvSpPr/>
          <p:nvPr/>
        </p:nvSpPr>
        <p:spPr>
          <a:xfrm>
            <a:off x="594360" y="1115568"/>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7" name="Text 5"/>
          <p:cNvSpPr/>
          <p:nvPr/>
        </p:nvSpPr>
        <p:spPr>
          <a:xfrm>
            <a:off x="1024128" y="1051560"/>
            <a:ext cx="7315200" cy="475488"/>
          </a:xfrm>
          <a:prstGeom prst="rect">
            <a:avLst/>
          </a:prstGeom>
          <a:noFill/>
          <a:ln/>
        </p:spPr>
        <p:txBody>
          <a:bodyPr wrap="square" rtlCol="0" anchor="ctr"/>
          <a:lstStyle/>
          <a:p>
            <a:pPr indent="0" marL="0">
              <a:buNone/>
            </a:pPr>
            <a:r>
              <a:rPr lang="en-US" sz="1200" dirty="0">
                <a:solidFill>
                  <a:srgbClr val="1A2B3C"/>
                </a:solidFill>
                <a:latin typeface="Calibri" pitchFamily="34" charset="0"/>
                <a:ea typeface="Calibri" pitchFamily="34" charset="-122"/>
                <a:cs typeface="Calibri" pitchFamily="34" charset="-120"/>
              </a:rPr>
              <a:t>유스케이스 8개 이상 정의 완료</a:t>
            </a:r>
            <a:endParaRPr lang="en-US" sz="1200" dirty="0"/>
          </a:p>
        </p:txBody>
      </p:sp>
      <p:sp>
        <p:nvSpPr>
          <p:cNvPr id="8" name="Shape 6"/>
          <p:cNvSpPr/>
          <p:nvPr/>
        </p:nvSpPr>
        <p:spPr>
          <a:xfrm>
            <a:off x="457200" y="1636776"/>
            <a:ext cx="8046720" cy="530352"/>
          </a:xfrm>
          <a:prstGeom prst="roundRect">
            <a:avLst>
              <a:gd name="adj" fmla="val 13793"/>
            </a:avLst>
          </a:prstGeom>
          <a:solidFill>
            <a:srgbClr val="FFFFFF"/>
          </a:solidFill>
          <a:ln w="12700">
            <a:solidFill>
              <a:srgbClr val="C8E0E8"/>
            </a:solidFill>
            <a:prstDash val="solid"/>
          </a:ln>
        </p:spPr>
      </p:sp>
      <p:sp>
        <p:nvSpPr>
          <p:cNvPr id="9" name="Shape 7"/>
          <p:cNvSpPr/>
          <p:nvPr/>
        </p:nvSpPr>
        <p:spPr>
          <a:xfrm>
            <a:off x="594360" y="1728216"/>
            <a:ext cx="310896" cy="310896"/>
          </a:xfrm>
          <a:prstGeom prst="ellipse">
            <a:avLst/>
          </a:prstGeom>
          <a:solidFill>
            <a:srgbClr val="02C39A"/>
          </a:solidFill>
          <a:ln w="12700">
            <a:solidFill>
              <a:srgbClr val="02C39A"/>
            </a:solidFill>
            <a:prstDash val="solid"/>
          </a:ln>
        </p:spPr>
      </p:sp>
      <p:sp>
        <p:nvSpPr>
          <p:cNvPr id="10" name="Text 8"/>
          <p:cNvSpPr/>
          <p:nvPr/>
        </p:nvSpPr>
        <p:spPr>
          <a:xfrm>
            <a:off x="594360" y="1728216"/>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1" name="Text 9"/>
          <p:cNvSpPr/>
          <p:nvPr/>
        </p:nvSpPr>
        <p:spPr>
          <a:xfrm>
            <a:off x="1024128" y="1664208"/>
            <a:ext cx="7315200" cy="475488"/>
          </a:xfrm>
          <a:prstGeom prst="rect">
            <a:avLst/>
          </a:prstGeom>
          <a:noFill/>
          <a:ln/>
        </p:spPr>
        <p:txBody>
          <a:bodyPr wrap="square" rtlCol="0" anchor="ctr"/>
          <a:lstStyle/>
          <a:p>
            <a:pPr indent="0" marL="0">
              <a:buNone/>
            </a:pPr>
            <a:r>
              <a:rPr lang="en-US" sz="1200" dirty="0">
                <a:solidFill>
                  <a:srgbClr val="1A2B3C"/>
                </a:solidFill>
                <a:latin typeface="Calibri" pitchFamily="34" charset="0"/>
                <a:ea typeface="Calibri" pitchFamily="34" charset="-122"/>
                <a:cs typeface="Calibri" pitchFamily="34" charset="-120"/>
              </a:rPr>
              <a:t>각 UC에 기본 흐름 + 예외 흐름 포함</a:t>
            </a:r>
            <a:endParaRPr lang="en-US" sz="1200" dirty="0"/>
          </a:p>
        </p:txBody>
      </p:sp>
      <p:sp>
        <p:nvSpPr>
          <p:cNvPr id="12" name="Shape 10"/>
          <p:cNvSpPr/>
          <p:nvPr/>
        </p:nvSpPr>
        <p:spPr>
          <a:xfrm>
            <a:off x="457200" y="2249424"/>
            <a:ext cx="8046720" cy="530352"/>
          </a:xfrm>
          <a:prstGeom prst="roundRect">
            <a:avLst>
              <a:gd name="adj" fmla="val 13793"/>
            </a:avLst>
          </a:prstGeom>
          <a:solidFill>
            <a:srgbClr val="F0F7FF"/>
          </a:solidFill>
          <a:ln w="12700">
            <a:solidFill>
              <a:srgbClr val="C8E0E8"/>
            </a:solidFill>
            <a:prstDash val="solid"/>
          </a:ln>
        </p:spPr>
      </p:sp>
      <p:sp>
        <p:nvSpPr>
          <p:cNvPr id="13" name="Shape 11"/>
          <p:cNvSpPr/>
          <p:nvPr/>
        </p:nvSpPr>
        <p:spPr>
          <a:xfrm>
            <a:off x="594360" y="2340864"/>
            <a:ext cx="310896" cy="310896"/>
          </a:xfrm>
          <a:prstGeom prst="ellipse">
            <a:avLst/>
          </a:prstGeom>
          <a:solidFill>
            <a:srgbClr val="02C39A"/>
          </a:solidFill>
          <a:ln w="12700">
            <a:solidFill>
              <a:srgbClr val="02C39A"/>
            </a:solidFill>
            <a:prstDash val="solid"/>
          </a:ln>
        </p:spPr>
      </p:sp>
      <p:sp>
        <p:nvSpPr>
          <p:cNvPr id="14" name="Text 12"/>
          <p:cNvSpPr/>
          <p:nvPr/>
        </p:nvSpPr>
        <p:spPr>
          <a:xfrm>
            <a:off x="594360" y="2340864"/>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5" name="Text 13"/>
          <p:cNvSpPr/>
          <p:nvPr/>
        </p:nvSpPr>
        <p:spPr>
          <a:xfrm>
            <a:off x="1024128" y="2276856"/>
            <a:ext cx="7315200" cy="475488"/>
          </a:xfrm>
          <a:prstGeom prst="rect">
            <a:avLst/>
          </a:prstGeom>
          <a:noFill/>
          <a:ln/>
        </p:spPr>
        <p:txBody>
          <a:bodyPr wrap="square" rtlCol="0" anchor="ctr"/>
          <a:lstStyle/>
          <a:p>
            <a:pPr indent="0" marL="0">
              <a:buNone/>
            </a:pPr>
            <a:r>
              <a:rPr lang="en-US" sz="1200" dirty="0">
                <a:solidFill>
                  <a:srgbClr val="1A2B3C"/>
                </a:solidFill>
                <a:latin typeface="Calibri" pitchFamily="34" charset="0"/>
                <a:ea typeface="Calibri" pitchFamily="34" charset="-122"/>
                <a:cs typeface="Calibri" pitchFamily="34" charset="-120"/>
              </a:rPr>
              <a:t>아키텍처 레이어 구조 다이어그램 작성</a:t>
            </a:r>
            <a:endParaRPr lang="en-US" sz="1200" dirty="0"/>
          </a:p>
        </p:txBody>
      </p:sp>
      <p:sp>
        <p:nvSpPr>
          <p:cNvPr id="16" name="Shape 14"/>
          <p:cNvSpPr/>
          <p:nvPr/>
        </p:nvSpPr>
        <p:spPr>
          <a:xfrm>
            <a:off x="457200" y="2862072"/>
            <a:ext cx="8046720" cy="530352"/>
          </a:xfrm>
          <a:prstGeom prst="roundRect">
            <a:avLst>
              <a:gd name="adj" fmla="val 13793"/>
            </a:avLst>
          </a:prstGeom>
          <a:solidFill>
            <a:srgbClr val="FFFFFF"/>
          </a:solidFill>
          <a:ln w="12700">
            <a:solidFill>
              <a:srgbClr val="C8E0E8"/>
            </a:solidFill>
            <a:prstDash val="solid"/>
          </a:ln>
        </p:spPr>
      </p:sp>
      <p:sp>
        <p:nvSpPr>
          <p:cNvPr id="17" name="Shape 15"/>
          <p:cNvSpPr/>
          <p:nvPr/>
        </p:nvSpPr>
        <p:spPr>
          <a:xfrm>
            <a:off x="594360" y="2953512"/>
            <a:ext cx="310896" cy="310896"/>
          </a:xfrm>
          <a:prstGeom prst="ellipse">
            <a:avLst/>
          </a:prstGeom>
          <a:solidFill>
            <a:srgbClr val="02C39A"/>
          </a:solidFill>
          <a:ln w="12700">
            <a:solidFill>
              <a:srgbClr val="02C39A"/>
            </a:solidFill>
            <a:prstDash val="solid"/>
          </a:ln>
        </p:spPr>
      </p:sp>
      <p:sp>
        <p:nvSpPr>
          <p:cNvPr id="18" name="Text 16"/>
          <p:cNvSpPr/>
          <p:nvPr/>
        </p:nvSpPr>
        <p:spPr>
          <a:xfrm>
            <a:off x="594360" y="2953512"/>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9" name="Text 17"/>
          <p:cNvSpPr/>
          <p:nvPr/>
        </p:nvSpPr>
        <p:spPr>
          <a:xfrm>
            <a:off x="1024128" y="2889504"/>
            <a:ext cx="7315200" cy="475488"/>
          </a:xfrm>
          <a:prstGeom prst="rect">
            <a:avLst/>
          </a:prstGeom>
          <a:noFill/>
          <a:ln/>
        </p:spPr>
        <p:txBody>
          <a:bodyPr wrap="square" rtlCol="0" anchor="ctr"/>
          <a:lstStyle/>
          <a:p>
            <a:pPr indent="0" marL="0">
              <a:buNone/>
            </a:pPr>
            <a:r>
              <a:rPr lang="en-US" sz="1200" dirty="0">
                <a:solidFill>
                  <a:srgbClr val="1A2B3C"/>
                </a:solidFill>
                <a:latin typeface="Calibri" pitchFamily="34" charset="0"/>
                <a:ea typeface="Calibri" pitchFamily="34" charset="-122"/>
                <a:cs typeface="Calibri" pitchFamily="34" charset="-120"/>
              </a:rPr>
              <a:t>기술 스택 표 (계층별 기술 + 선택 이유)</a:t>
            </a:r>
            <a:endParaRPr lang="en-US" sz="1200" dirty="0"/>
          </a:p>
        </p:txBody>
      </p:sp>
      <p:sp>
        <p:nvSpPr>
          <p:cNvPr id="20" name="Shape 18"/>
          <p:cNvSpPr/>
          <p:nvPr/>
        </p:nvSpPr>
        <p:spPr>
          <a:xfrm>
            <a:off x="457200" y="3474720"/>
            <a:ext cx="8046720" cy="530352"/>
          </a:xfrm>
          <a:prstGeom prst="roundRect">
            <a:avLst>
              <a:gd name="adj" fmla="val 13793"/>
            </a:avLst>
          </a:prstGeom>
          <a:solidFill>
            <a:srgbClr val="F0F7FF"/>
          </a:solidFill>
          <a:ln w="12700">
            <a:solidFill>
              <a:srgbClr val="C8E0E8"/>
            </a:solidFill>
            <a:prstDash val="solid"/>
          </a:ln>
        </p:spPr>
      </p:sp>
      <p:sp>
        <p:nvSpPr>
          <p:cNvPr id="21" name="Shape 19"/>
          <p:cNvSpPr/>
          <p:nvPr/>
        </p:nvSpPr>
        <p:spPr>
          <a:xfrm>
            <a:off x="594360" y="3566160"/>
            <a:ext cx="310896" cy="310896"/>
          </a:xfrm>
          <a:prstGeom prst="ellipse">
            <a:avLst/>
          </a:prstGeom>
          <a:solidFill>
            <a:srgbClr val="02C39A"/>
          </a:solidFill>
          <a:ln w="12700">
            <a:solidFill>
              <a:srgbClr val="02C39A"/>
            </a:solidFill>
            <a:prstDash val="solid"/>
          </a:ln>
        </p:spPr>
      </p:sp>
      <p:sp>
        <p:nvSpPr>
          <p:cNvPr id="22" name="Text 20"/>
          <p:cNvSpPr/>
          <p:nvPr/>
        </p:nvSpPr>
        <p:spPr>
          <a:xfrm>
            <a:off x="594360" y="3566160"/>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3" name="Text 21"/>
          <p:cNvSpPr/>
          <p:nvPr/>
        </p:nvSpPr>
        <p:spPr>
          <a:xfrm>
            <a:off x="1024128" y="3502152"/>
            <a:ext cx="7315200" cy="475488"/>
          </a:xfrm>
          <a:prstGeom prst="rect">
            <a:avLst/>
          </a:prstGeom>
          <a:noFill/>
          <a:ln/>
        </p:spPr>
        <p:txBody>
          <a:bodyPr wrap="square" rtlCol="0" anchor="ctr"/>
          <a:lstStyle/>
          <a:p>
            <a:pPr indent="0" marL="0">
              <a:buNone/>
            </a:pPr>
            <a:r>
              <a:rPr lang="en-US" sz="1200" dirty="0">
                <a:solidFill>
                  <a:srgbClr val="1A2B3C"/>
                </a:solidFill>
                <a:latin typeface="Calibri" pitchFamily="34" charset="0"/>
                <a:ea typeface="Calibri" pitchFamily="34" charset="-122"/>
                <a:cs typeface="Calibri" pitchFamily="34" charset="-120"/>
              </a:rPr>
              <a:t>화면 구성 요소 목록 및 와이어프레임 초안</a:t>
            </a:r>
            <a:endParaRPr lang="en-US" sz="1200" dirty="0"/>
          </a:p>
        </p:txBody>
      </p:sp>
      <p:sp>
        <p:nvSpPr>
          <p:cNvPr id="24" name="Shape 22"/>
          <p:cNvSpPr/>
          <p:nvPr/>
        </p:nvSpPr>
        <p:spPr>
          <a:xfrm>
            <a:off x="457200" y="4087368"/>
            <a:ext cx="8046720" cy="530352"/>
          </a:xfrm>
          <a:prstGeom prst="roundRect">
            <a:avLst>
              <a:gd name="adj" fmla="val 13793"/>
            </a:avLst>
          </a:prstGeom>
          <a:solidFill>
            <a:srgbClr val="FFFFFF"/>
          </a:solidFill>
          <a:ln w="12700">
            <a:solidFill>
              <a:srgbClr val="C8E0E8"/>
            </a:solidFill>
            <a:prstDash val="solid"/>
          </a:ln>
        </p:spPr>
      </p:sp>
      <p:sp>
        <p:nvSpPr>
          <p:cNvPr id="25" name="Shape 23"/>
          <p:cNvSpPr/>
          <p:nvPr/>
        </p:nvSpPr>
        <p:spPr>
          <a:xfrm>
            <a:off x="594360" y="4178808"/>
            <a:ext cx="310896" cy="310896"/>
          </a:xfrm>
          <a:prstGeom prst="ellipse">
            <a:avLst/>
          </a:prstGeom>
          <a:solidFill>
            <a:srgbClr val="02C39A"/>
          </a:solidFill>
          <a:ln w="12700">
            <a:solidFill>
              <a:srgbClr val="02C39A"/>
            </a:solidFill>
            <a:prstDash val="solid"/>
          </a:ln>
        </p:spPr>
      </p:sp>
      <p:sp>
        <p:nvSpPr>
          <p:cNvPr id="26" name="Text 24"/>
          <p:cNvSpPr/>
          <p:nvPr/>
        </p:nvSpPr>
        <p:spPr>
          <a:xfrm>
            <a:off x="594360" y="4178808"/>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7" name="Text 25"/>
          <p:cNvSpPr/>
          <p:nvPr/>
        </p:nvSpPr>
        <p:spPr>
          <a:xfrm>
            <a:off x="1024128" y="4114800"/>
            <a:ext cx="7315200" cy="475488"/>
          </a:xfrm>
          <a:prstGeom prst="rect">
            <a:avLst/>
          </a:prstGeom>
          <a:noFill/>
          <a:ln/>
        </p:spPr>
        <p:txBody>
          <a:bodyPr wrap="square" rtlCol="0" anchor="ctr"/>
          <a:lstStyle/>
          <a:p>
            <a:pPr indent="0" marL="0">
              <a:buNone/>
            </a:pPr>
            <a:r>
              <a:rPr lang="en-US" sz="1200" dirty="0">
                <a:solidFill>
                  <a:srgbClr val="1A2B3C"/>
                </a:solidFill>
                <a:latin typeface="Calibri" pitchFamily="34" charset="0"/>
                <a:ea typeface="Calibri" pitchFamily="34" charset="-122"/>
                <a:cs typeface="Calibri" pitchFamily="34" charset="-120"/>
              </a:rPr>
              <a:t>캐시 전략 (키 설계, TTL, 저장소) 확정</a:t>
            </a:r>
            <a:endParaRPr lang="en-US" sz="1200" dirty="0"/>
          </a:p>
        </p:txBody>
      </p:sp>
      <p:sp>
        <p:nvSpPr>
          <p:cNvPr id="28" name="Shape 26"/>
          <p:cNvSpPr/>
          <p:nvPr/>
        </p:nvSpPr>
        <p:spPr>
          <a:xfrm>
            <a:off x="457200" y="4663440"/>
            <a:ext cx="8229600" cy="384048"/>
          </a:xfrm>
          <a:prstGeom prst="roundRect">
            <a:avLst>
              <a:gd name="adj" fmla="val 19048"/>
            </a:avLst>
          </a:prstGeom>
          <a:solidFill>
            <a:srgbClr val="1A3D5C">
              <a:alpha val="12000"/>
            </a:srgbClr>
          </a:solidFill>
          <a:ln w="12700">
            <a:solidFill>
              <a:srgbClr val="1A3D5C"/>
            </a:solidFill>
            <a:prstDash val="solid"/>
          </a:ln>
        </p:spPr>
      </p:sp>
      <p:sp>
        <p:nvSpPr>
          <p:cNvPr id="29" name="Text 27"/>
          <p:cNvSpPr/>
          <p:nvPr/>
        </p:nvSpPr>
        <p:spPr>
          <a:xfrm>
            <a:off x="640080" y="4663440"/>
            <a:ext cx="7863840" cy="384048"/>
          </a:xfrm>
          <a:prstGeom prst="rect">
            <a:avLst/>
          </a:prstGeom>
          <a:noFill/>
          <a:ln/>
        </p:spPr>
        <p:txBody>
          <a:bodyPr wrap="square" rtlCol="0" anchor="ctr"/>
          <a:lstStyle/>
          <a:p>
            <a:pPr indent="0" marL="0">
              <a:buNone/>
            </a:pPr>
            <a:r>
              <a:rPr lang="en-US" sz="1150" b="1" dirty="0">
                <a:solidFill>
                  <a:srgbClr val="1A3D5C"/>
                </a:solidFill>
                <a:latin typeface="Calibri" pitchFamily="34" charset="0"/>
                <a:ea typeface="Calibri" pitchFamily="34" charset="-122"/>
                <a:cs typeface="Calibri" pitchFamily="34" charset="-120"/>
              </a:rPr>
              <a:t>다음 →  Ch.3 구현 단계: 설계를 코드로 — 공공 API 연동부터 AI 기능까지</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설계 단계</dc:title>
  <dc:subject>PptxGenJS Presentation</dc:subject>
  <dc:creator>PptxGenJS</dc:creator>
  <cp:lastModifiedBy>PptxGenJS</cp:lastModifiedBy>
  <cp:revision>1</cp:revision>
  <dcterms:created xsi:type="dcterms:W3CDTF">2026-06-24T09:12:25Z</dcterms:created>
  <dcterms:modified xsi:type="dcterms:W3CDTF">2026-06-24T09:12:25Z</dcterms:modified>
</cp:coreProperties>
</file>