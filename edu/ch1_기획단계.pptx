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챕터 1에서는 기획 단계를 다룹니다. 좋은 기획이 없으면 아무리 AI를 잘 사용해도 방향을 잃게 됩니다. 이번 챕터에서는 요구사항 정의서 작성부터 이해관계자 분석, FR/NFR 정의, 그리고 In/Out Scope 설정까지 배웁니다. 모두 AI와 함께 진행할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챕터의 학습 목표 5가지를 확인해봅시다. 단순히 문서를 만드는 것이 아니라, AI와 대화하면서 아이디어를 구체화하는 과정을 직접 경험하는 것이 핵심입니다. 실습을 포함해 60~90분이 소요되니 집중해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기획 없이 개발을 시작하면 어떤 일이 벌어지는지 살펴봅시다. 왼쪽의 문제들은 실제로 많은 팀에서 겪는 현실입니다. 기획을 제대로 하면 오른쪽처럼 팀이 같은 방향을 보고 효율적으로 개발할 수 있습니다. 특히 AI에게 명확한 지시를 내리려면 기획 단계에서 정리된 내용이 반드시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막연한 아이디어를 구체적인 서비스로 발전시키려면 AI에게 올바른 질문을 던져야 합니다. AI는 '누가 사용하나요?', '데이터를 어디서 가져오나요?', 'MVP에서 꼭 필요한 기능은 무엇인가요?'와 같은 질문으로 여러분의 아이디어를 구체화할 수 있도록 도와줍니다. 이 과정이 바로 기획의 첫 단계입니다.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이해관계자 분석은 서비스와 관련된 모든 사람과 시스템을 파악하는 작업입니다. 수자이 프로젝트의 경우 일반 시민, K-water, Groq AI 서비스, 개발팀이 이해관계자입니다. 각 이해관계자의 관심사를 파악하면 요구사항 정의가 훨씬 쉬워집니다. AI에게 '우리 서비스의 이해관계자를 파악해줘'라고 하면 빠르게 초안을 얻을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기능 요구사항은 시스템이 무엇을 해야 하는지를 정의합니다. FR-001 형식으로 번호를 매기고, 우선순위를 필수/보통/낮음으로 구분합니다. 수자이 프로젝트에서는 6개의 기능 요구사항을 정의했고, 모두 필수 또는 보통 우선순위로 완료되었습니다. AI에게 이 형식을 보여주면 프로젝트에 맞는 FR 초안을 빠르게 작성해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비기능 요구사항은 기능 요구사항만큼이나 중요하지만 초보자들이 가장 많이 놓치는 부분입니다. 성능은 얼마나 빠르게, 보안은 어떻게 지킬지, 가용성은 장애 시 어떻게 처리할지, 유지보수성은 코드 구조를 어떻게 할지를 정의합니다. 특히 보안 — API 키를 소스코드에 포함하면 절대 안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 범위를 명확히 정의하는 것이 팀 협업의 핵심입니다. In Scope는 이번 버전에서 반드시 구현할 기능, Out of Scope는 나중에 할 기능입니다. Out of Scope라고 해서 영원히 안 만드는 것이 아니라 Phase 2, Phase 3으로 계획합니다. 이 경계가 불명확하면 팀원마다 다른 기대를 가지게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20분 실습 시간입니다. 화면의 프롬프트 템플릿을 사용해 팀 프로젝트의 요구사항 정의서 초안을 작성해보세요. AI가 만든 초안을 구글 문서나 Notion에 복사한 후, 팀원들과 함께 빠진 내용이나 조정이 필요한 우선순위를 검토해주세요. 20분 후 몇 팀이 결과를 발표합니다.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수자이 프로젝트의 실제 요구사항 정의서를 보여드립니다. FR-001부터 FR-006까지 6개의 기능 요구사항, 4개의 비기능 요구사항을 정의했고, In/Out Scope도 명확히 했습니다. AI가 초안을 30분 만에 만들었고, 팀 검토와 확정에 1.5시간이 걸렸습니다. AI 없이 했다면 훨씬 오래 걸렸을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챕터 1을 마무리합니다. 7가지 체크리스트를 모두 완료했다면 기획 단계가 끝난 것입니다. 특히 팀 전체 합의가 가장 중요합니다. 한 명이라도 방향을 다르게 이해하면 나중에 큰 문제가 생깁니다. 다음 챕터에서는 이 요구사항을 바탕으로 유스케이스, 아키텍처, 화면 설계를 진행합니다. 수고하셨습니다!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73152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91440"/>
            <a:ext cx="1645920" cy="16459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단계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7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AI와 함께 요구사항을 정의하고 프로젝트 방향을 잡는다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280160" y="3977640"/>
            <a:ext cx="6583680" cy="502920"/>
          </a:xfrm>
          <a:prstGeom prst="roundRect">
            <a:avLst>
              <a:gd name="adj" fmla="val 21818"/>
            </a:avLst>
          </a:prstGeom>
          <a:solidFill>
            <a:srgbClr val="065A82">
              <a:alpha val="60000"/>
            </a:srgbClr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39776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정의서  ·  유스케이스  ·  FR  ·  NFR  ·  In/Out Scope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챕터 학습 목표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658368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8872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143000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AI와 대화로 막연한 아이디어를 구체적인 서비스 정의로 발전시킬 수 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8412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93852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38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892808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요구사항(FR)과 비기능 요구사항(NFR)을 구분하고 작성할 수 있다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551176"/>
            <a:ext cx="8412480" cy="658368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68833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88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642616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/ Out Scope를 명확히 정의해 팀 내 기대 불일치를 방지할 수 있다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300984"/>
            <a:ext cx="8412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438144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381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392424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이해관계자를 정의하고 각각의 관심사를 파악할 수 있다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050792"/>
            <a:ext cx="8412480" cy="658368"/>
          </a:xfrm>
          <a:prstGeom prst="roundRect">
            <a:avLst>
              <a:gd name="adj" fmla="val 16667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418795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87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142232"/>
            <a:ext cx="7635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AI로 요구사항 정의서 초안을 30분 안에 만들 수 있다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800600"/>
            <a:ext cx="8412480" cy="292608"/>
          </a:xfrm>
          <a:prstGeom prst="roundRect">
            <a:avLst>
              <a:gd name="adj" fmla="val 25000"/>
            </a:avLst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006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소요시간: 60~90분 (실습 포함)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단계를 건너뛰면 생기는 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FFF7F7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없이 개발하면 ✗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1664208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276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중간에 방향이 바뀌어 코드 전면 재작성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322576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286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팀원마다 다른 기능을 구현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2980944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94436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어디서부터 시작해야 할지 모름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639312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60273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 후 '이게 아니었는데'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4114800" cy="3657600"/>
          </a:xfrm>
          <a:prstGeom prst="roundRect">
            <a:avLst>
              <a:gd name="adj" fmla="val 375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10789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기획의 효과 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28032" y="1664208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162763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시작 전 모두가 같은 방향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28032" y="2322576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2286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불필요한 기능 개발 방지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28032" y="2980944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9443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명확한 지시 가능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28032" y="3639312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360273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범위 합의로 일정 준수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아이디어를 서비스 정의로 발전시키기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560320" cy="3840480"/>
          </a:xfrm>
          <a:prstGeom prst="roundRect">
            <a:avLst>
              <a:gd name="adj" fmla="val 535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막연한 아이디어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572768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"수질 정보 보여주는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 만들고 싶어"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17520" y="1005840"/>
            <a:ext cx="3108960" cy="3840480"/>
          </a:xfrm>
          <a:prstGeom prst="roundRect">
            <a:avLst>
              <a:gd name="adj" fmla="val 4412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63240" y="1051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물어보는 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54680" y="1572768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62763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누가 사용하나요?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54680" y="204825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 사용자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265176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270662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데이터는 어디서?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54680" y="31272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API·DB 출처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54680" y="3730752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378561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꼭 필요한 기능은?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54680" y="4206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범위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1005840"/>
            <a:ext cx="2560320" cy="3840480"/>
          </a:xfrm>
          <a:prstGeom prst="roundRect">
            <a:avLst>
              <a:gd name="adj" fmla="val 535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27648" y="1051560"/>
            <a:ext cx="248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 서비스 정의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1572768"/>
            <a:ext cx="2377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사용자: 환경부 담당자
</a:t>
            </a:r>
            <a:pPr algn="l"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데이터: K-water API
</a:t>
            </a:r>
            <a:pPr algn="l"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핵심기능: 수질·유량 조회, AI 분석
</a:t>
            </a:r>
            <a:pPr algn="l"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제약: Spring Boot, 외부 API 무료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이해관계자(Stakeholder) 분석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누가 이 서비스와 관련되어 있는가?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69080" cy="1508760"/>
          </a:xfrm>
          <a:prstGeom prst="roundRect">
            <a:avLst>
              <a:gd name="adj" fmla="val 9091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737360"/>
            <a:ext cx="777240" cy="7772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373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1527048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사용자 (일반 시민)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0116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관심사: 내 지역 수돗물이 안전한가?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069080" cy="1508760"/>
          </a:xfrm>
          <a:prstGeom prst="roundRect">
            <a:avLst>
              <a:gd name="adj" fmla="val 9091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737360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7373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🌊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715000" y="1527048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제공자 (K-water)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15000" y="20116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관심사: 공공 API 안정적 제공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069080" cy="1508760"/>
          </a:xfrm>
          <a:prstGeom prst="roundRect">
            <a:avLst>
              <a:gd name="adj" fmla="val 9091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429000"/>
            <a:ext cx="777240" cy="7772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29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3218688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(Groq)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7033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관심사: API 응답 품질·속도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3108960"/>
            <a:ext cx="4069080" cy="1508760"/>
          </a:xfrm>
          <a:prstGeom prst="roundRect">
            <a:avLst>
              <a:gd name="adj" fmla="val 9091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429000"/>
            <a:ext cx="777240" cy="77724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429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715000" y="3218688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개발·운영팀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15000" y="37033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관심사: 시스템 안정성·확장성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709160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09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프롬프트: "우리 서비스의 이해관계자를 모두 파악하고 각각의 관심사를 정리해줘"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요구사항(FR) 작성하기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시스템이 '무엇을 해야 하는가'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7160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89320" y="13716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60920" y="13716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구현상태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801368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01368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234440" y="1801368"/>
            <a:ext cx="4709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정수장 목록 조회 — 전국 41개 정수장 목록 표시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865376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86537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60920" y="1801368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21992"/>
            <a:ext cx="8412480" cy="402336"/>
          </a:xfrm>
          <a:prstGeom prst="rect">
            <a:avLst/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221992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FR-002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234440" y="2221992"/>
            <a:ext cx="4709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수질 데이터 조회 — pH·탁도·잔류염소 실시간 조회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2286000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286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60920" y="2221992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642616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642616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FR-003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234440" y="2642616"/>
            <a:ext cx="4709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유량 데이터 조회 — 취수량·정수량·급수량 조회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35040" y="2706624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270662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60920" y="2642616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063240"/>
            <a:ext cx="8412480" cy="402336"/>
          </a:xfrm>
          <a:prstGeom prst="rect">
            <a:avLst/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063240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FR-004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234440" y="3063240"/>
            <a:ext cx="4709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수질 분석 — Groq AI로 이상징후 자동 분석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035040" y="3127248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31272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60920" y="3063240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3483864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483864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FR-005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234440" y="3483864"/>
            <a:ext cx="4709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티커 — 수질 관련 최신 뉴스 자동 표시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035040" y="3547872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35478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60920" y="3483864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3904488"/>
            <a:ext cx="8412480" cy="402336"/>
          </a:xfrm>
          <a:prstGeom prst="rect">
            <a:avLst/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3904488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FR-006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234440" y="3904488"/>
            <a:ext cx="4709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 기간 선택 — 1·3·7일 기간 선택 기능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035040" y="3968496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35040" y="396849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낮음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60920" y="3904488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437997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407408"/>
            <a:ext cx="8092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프롬프트: "우리 서비스의 기능 요구사항을 FR-001 형식으로 우선순위와 함께 정리해줘"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Tip: 우선순위 필수인 것부터 구현 → MVP 완성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비기능 요구사항(NFR) — 놓치기 쉬운 핵심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시스템이 '얼마나 잘 해야 하는가'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069080" cy="1691640"/>
          </a:xfrm>
          <a:prstGeom prst="roundRect">
            <a:avLst>
              <a:gd name="adj" fmla="val 8108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527048"/>
            <a:ext cx="566928" cy="5669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527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24712" y="1545336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수질·유량 조회 5초 이내 응답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395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분석 30초 이내 완료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73405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캐시 적중 시 즉시 응답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4069080" cy="1691640"/>
          </a:xfrm>
          <a:prstGeom prst="roundRect">
            <a:avLst>
              <a:gd name="adj" fmla="val 8108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73168" y="1527048"/>
            <a:ext cx="566928" cy="5669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527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68112" y="1545336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205740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키 .gitignore 처리 필수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395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소스코드에 키 포함 금지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73405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환경변수로 관리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246120"/>
            <a:ext cx="4069080" cy="1691640"/>
          </a:xfrm>
          <a:prstGeom prst="roundRect">
            <a:avLst>
              <a:gd name="adj" fmla="val 8108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" y="3355848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3558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24712" y="3374136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가용성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388620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외부 API 실패 시 빈 목록 반환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2245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서버 다운 방지 설계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56285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타임아웃 예외 처리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3246120"/>
            <a:ext cx="4069080" cy="1691640"/>
          </a:xfrm>
          <a:prstGeom prst="roundRect">
            <a:avLst>
              <a:gd name="adj" fmla="val 8108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73168" y="3355848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33558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68112" y="3374136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유지보수성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46320" y="388620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계층 분리 아키텍처 적용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42245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외부 API 변경 시 클라이언트만 수정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456285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코드 주석 및 문서화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정의 — In Scope vs Out of Scope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경계를 명확히 해야 팀 내 기대 불일치가 없다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3200400"/>
          </a:xfrm>
          <a:prstGeom prst="roundRect">
            <a:avLst>
              <a:gd name="adj" fmla="val 4286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4475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 Scope (MVP)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9385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정수장 목록 조회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수질 데이터 실시간 조회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8163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유량 데이터 조회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2552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수질 분석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9417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뉴스 티커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13308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조회 기간 선택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114800" cy="3200400"/>
          </a:xfrm>
          <a:prstGeom prst="roundRect">
            <a:avLst>
              <a:gd name="adj" fmla="val 4286"/>
            </a:avLst>
          </a:prstGeom>
          <a:solidFill>
            <a:srgbClr val="FFF7F7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44475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Out of Scope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19385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회원가입/로그인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4414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이력 저장·시계열 차트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24928" y="244144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(DB 필요 → Phase 2)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9443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알림 발송 (이메일/SMS)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24928" y="294436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3)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4472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모바일 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24928" y="344728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3)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39502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다국어 지원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24928" y="395020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3)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663440"/>
            <a:ext cx="8412480" cy="384048"/>
          </a:xfrm>
          <a:prstGeom prst="roundRect">
            <a:avLst>
              <a:gd name="adj" fmla="val 19048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Scope에 넣는다 ≠ 영원히 안 만든다. Phase 계획으로 관리한다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실습 02 — 우리 프로젝트 요구사항 정의서 작성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960120" cy="123444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078992"/>
            <a:ext cx="7178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Claude에 프로젝트 개요 설명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463040"/>
            <a:ext cx="7178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"우리 팀은 [프로젝트 설명]을 만들려고 해.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이해관계자 분석, (2) 기능 요구사항 5개,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비기능 요구사항 3개, (4) In/Out Scope를 정리해줘."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841248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31720"/>
            <a:ext cx="960120" cy="123444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74320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404872"/>
            <a:ext cx="7178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초안 복사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788920"/>
            <a:ext cx="7178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만든 초안을 구글 문서나 Notion에 복사합니다.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구조가 맞는지, 빠진 내용은 없는지 1차 검토합니다.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8412480" cy="1234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57600"/>
            <a:ext cx="960120" cy="123444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06908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3730752"/>
            <a:ext cx="7178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팀원과 함께 검토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114800"/>
            <a:ext cx="7178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빠진 기능이 있는지, 우선순위가 적절한지,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In/Out Scope가 팀 전체가 동의하는지 확인합니다.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4965192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9651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20분 실습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수자이 요구사항 정의서 — 완성 예시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965960" cy="1051560"/>
          </a:xfrm>
          <a:prstGeom prst="roundRect">
            <a:avLst>
              <a:gd name="adj" fmla="val 1304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6개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요구사항 완성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1965960" cy="1051560"/>
          </a:xfrm>
          <a:prstGeom prst="round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51560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 4개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0" y="16002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비기능 요구사항 정의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1965960" cy="1051560"/>
          </a:xfrm>
          <a:prstGeom prst="round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051560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16002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In/Out 명확화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005840"/>
            <a:ext cx="1965960" cy="1051560"/>
          </a:xfrm>
          <a:prstGeom prst="roundRect">
            <a:avLst>
              <a:gd name="adj" fmla="val 1304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051560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66560" y="16002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 로드맵 수립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176272"/>
            <a:ext cx="4160520" cy="2606040"/>
          </a:xfrm>
          <a:prstGeom prst="roundRect">
            <a:avLst>
              <a:gd name="adj" fmla="val 5263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2402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FR-001 실제 예시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670048"/>
            <a:ext cx="3886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</a:t>
            </a:r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FR-001
</a:t>
            </a:r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이름: </a:t>
            </a:r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정수장 목록 조회
</a:t>
            </a:r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설명: </a:t>
            </a:r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전국 41개 정수장 목록을 API에서 조회하여 드롭다운으로 표시
</a:t>
            </a:r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우선순위: </a:t>
            </a:r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 (Must Have)
</a:t>
            </a:r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상태: </a:t>
            </a:r>
            <a:pPr algn="l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완료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176272"/>
            <a:ext cx="4160520" cy="2606040"/>
          </a:xfrm>
          <a:prstGeom prst="roundRect">
            <a:avLst>
              <a:gd name="adj" fmla="val 5263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22402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FR-004 실제 예시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2670048"/>
            <a:ext cx="3886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</a:t>
            </a:r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FR-004
</a:t>
            </a:r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이름: </a:t>
            </a:r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수질 분석
</a:t>
            </a:r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설명: </a:t>
            </a:r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AI(LLaMA-3.3-70B)로 이상징후 자동 분석 및 안전 등급 제공
</a:t>
            </a:r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우선순위: </a:t>
            </a:r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 (Must Have)
</a:t>
            </a:r>
            <a:pPr algn="l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상태: </a:t>
            </a:r>
            <a:pPr algn="l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완료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663440"/>
            <a:ext cx="8503920" cy="384048"/>
          </a:xfrm>
          <a:prstGeom prst="roundRect">
            <a:avLst>
              <a:gd name="adj" fmla="val 19048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66344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AI 초안 작성: 30분  /  팀 검토·확정: 1.5시간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기획 완료 체크리스트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8412480" cy="475488"/>
          </a:xfrm>
          <a:prstGeom prst="roundRect">
            <a:avLst>
              <a:gd name="adj" fmla="val 19231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155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08813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 확정 (서비스 이름·목적·타겟 사용자)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8412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642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63677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이해관계자 파악 (내부·외부 이해관계자 모두)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2121408"/>
            <a:ext cx="8412480" cy="475488"/>
          </a:xfrm>
          <a:prstGeom prst="roundRect">
            <a:avLst>
              <a:gd name="adj" fmla="val 19231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1284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12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18541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요구사항(FR) 작성 (FR-001 형식, 우선순위 포함)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5760" y="2670048"/>
            <a:ext cx="8412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76148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614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73405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비기능 요구사항(NFR) 작성 (성능·보안·가용성·유지보수)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218688"/>
            <a:ext cx="8412480" cy="475488"/>
          </a:xfrm>
          <a:prstGeom prst="roundRect">
            <a:avLst>
              <a:gd name="adj" fmla="val 19231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3101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101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28269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정의 (MVP에 포함할 기능 목록)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65760" y="3767328"/>
            <a:ext cx="8412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8587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587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383133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정의 (Phase 2/3 계획 포함)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365760" y="4315968"/>
            <a:ext cx="8412480" cy="475488"/>
          </a:xfrm>
          <a:prstGeom prst="roundRect">
            <a:avLst>
              <a:gd name="adj" fmla="val 19231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4074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4074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437997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전체 합의 (모든 팀원이 동일한 이해)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365760" y="4892040"/>
            <a:ext cx="8412480" cy="411480"/>
          </a:xfrm>
          <a:prstGeom prst="roundRect">
            <a:avLst>
              <a:gd name="adj" fmla="val 2222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8920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→ Ch.2 설계 단계: 유스케이스 · 아키텍처 · 화면 설계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1 - 기획 단계</dc:title>
  <dc:subject>PptxGenJS Presentation</dc:subject>
  <dc:creator>PptxGenJS</dc:creator>
  <cp:lastModifiedBy>PptxGenJS</cp:lastModifiedBy>
  <cp:revision>1</cp:revision>
  <dcterms:created xsi:type="dcterms:W3CDTF">2026-06-24T09:10:15Z</dcterms:created>
  <dcterms:modified xsi:type="dcterms:W3CDTF">2026-06-24T09:10:15Z</dcterms:modified>
</cp:coreProperties>
</file>