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챕터 4 문서화를 시작합니다. 많은 팀들이 개발이 끝난 후 문서화를 하려고 하는데, 그때는 이미 너무 늦습니다. AI를 활용하면 개발과 문서화를 동시에 진행할 수 있습니다. 수자이 프로젝트에서는 5가지 설계 문서를 AI 도움으로 AI 없이 2주 걸릴 작업을 2일 만에 완성했습니다. 문서화는 미래의 나와 팀을 위한 투자입니다.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챕터 4의 5가지 학습 목표입니다. 이번 챕터는 60분으로 가장 짧지만 팀 프로젝트 완성도에 가장 큰 영향을 미칩니다. API 명세서 자동 생성과 Git 전략은 팀 협업의 기반입니다. 문서화 없는 코드는 3개월 후 아무도 이해하지 못하는 코드가 됩니다. AI 덕분에 이제 문서화가 귀찮은 일이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문서화를 하지 않은 팀과 AI로 문서화를 병행한 팀의 6개월 후 차이입니다. A팀은 개발 당시에는 빨랐지만 나중에 유지보수가 불가능해집니다. B팀은 처음에 약간 더 시간이 걸리지만 장기적으로 훨씬 생산적입니다. 가장 중요한 차이는 온보딩 시간입니다. A팀은 2주, B팀은 1일입니다. AI 덕분에 문서 초안 작성 시간이 대폭 줄어들었습니다.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수자이 프로젝트에서 작성한 5가지 설계 문서입니다. AI 없이 작성하면 약 2주가 걸리지만 AI를 활용하면 2일 만에 완성할 수 있었습니다. 각 문서에서 AI의 역할은 초안 작성입니다. 팀이 검토하고 보완하는 역할을 담당합니다. 특히 API 명세서는 코드를 완성한 후 AI에게 붙여넣으면 자동으로 생성됩니다. 이것이 가장 효율적인 문서화 방법입니다.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API 명세서 자동 생성은 가장 실용적인 AI 문서화 활용 사례입니다. Controller 코드를 완성하고 AI에게 붙여넣으면 요청 파라미터, 응답 필드, JSON 예시까지 포함된 Markdown 명세서가 생성됩니다. 수자이의 5개 내부 API 명세서는 이 방법으로 30분 만에 완성했습니다. 생성된 명세서는 Notion이나 GitHub Wiki에 바로 붙여넣을 수 있습니다. 팀원이 API를 사용할 때 구두로 설명할 필요가 없어집니다.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외부 API 연동 명세서도 AI로 정리할 수 있습니다. K-water API 공식 문서를 AI에게 붙여넣고 '우리 프로젝트에 맞게 정리해줘'라고 하면 됩니다. 특히 특수 처리 항목들, 예를 들어 날짜 변환 형식이나 빈 문자열 처리 방법도 명세서에 포함시키는 것이 중요합니다. 이런 예외 상황들이 문서화되어 있지 않으면 나중에 팀원이 같은 문제를 다시 겪게 됩니다. Groq API는 OpenAI 호환 형식이라는 것도 명시해두면 SDK 선택 시 혼란을 방지할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아키텍처 정의서에서 가장 중요한 섹션은 설계 결정 사항(Why)입니다. What과 How는 AI가 잘 작성해주지만 Why는 팀이 직접 보완해야 합니다. DB를 왜 사용하지 않았는지, sujCode를 왜 필수화했는지 같은 결정의 배경을 기록해두면 나중에 코드 수정 시 맥락을 이해할 수 있습니다. 수자이에서는 AI에게 구조를 작성하게 하고 팀이 Why 섹션을 직접 작성했습니다. 이 섹션이 6개월 후 가장 큰 가치를 발휘합니다.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 협업에서 Git 브랜칭 전략과 PR 작성 방법이 중요합니다. main → develop → feature 3단계 브랜칭이 소규모 팀에 적합합니다. PR 작성도 AI에게 코드 변경사항을 붙여넣으면 자동으로 제목과 설명을 생성해줍니다. 코드 리뷰도 팀 리뷰 전에 AI에게 먼저 점검하면 명백한 버그를 미리 걸러낼 수 있습니다. 이렇게 AI를 사전 점검 도구로 활용하면 팀 리뷰 시간이 절약됩니다.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API 명세서 자동 생성 실습입니다. Controller 코드가 없는 팀은 수자이 GitHub에서 ApiController.java를 복사해서 사용하면 됩니다. AI에게 요청할 때 '요청 파라미터와 응답 JSON 예시를 포함해줘'라고 명시하는 것이 중요합니다. 생성된 명세서는 완벽하지 않을 수 있습니다. 실제 API 응답과 비교해서 불일치 항목을 수정하는 과정이 포함되어야 합니다. 20분 후 팀별로 생성된 명세서를 공유해주세요.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협업 개발의 전체 워크플로우를 한눈에 볼 수 있습니다. 5단계 모두에서 AI가 초안을 잡고 팀이 검토하고 결정합니다. 핵심 메시지는 AI는 초안 작성과 코드 생성을, 팀은 검토와 결정을 담당한다는 것입니다. 이 분업이 잘 이루어질 때 개발 속도가 최대화됩니다. 전통 방식으로 6~8주 걸리던 것이 AI 협업 방식으로 1~2주로 단축됩니다.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슬라이드입니다. AI 협업 개발 워크샵 전체를 마무리하겠습니다. 핵심 메시지는 AI를 단순 검색 도구가 아닌 페어 프로그래머로 활용하라는 것입니다. 챕터별 핵심 교훈 4가지를 다시 한번 정리했습니다. 오늘 배운 내용을 여러분의 팀 프로젝트에 바로 적용해보세요. 수자이 GitHub 저장소에서 전체 코드와 설계 문서를 참고할 수 있습니다.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097280"/>
            <a:ext cx="5029200" cy="5029200"/>
          </a:xfrm>
          <a:prstGeom prst="ellipse">
            <a:avLst/>
          </a:prstGeom>
          <a:solidFill>
            <a:srgbClr val="5B2D8E">
              <a:alpha val="35000"/>
            </a:srgbClr>
          </a:solidFill>
          <a:ln w="12700">
            <a:solidFill>
              <a:srgbClr val="5B2D8E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3200400"/>
            <a:ext cx="3840480" cy="3840480"/>
          </a:xfrm>
          <a:prstGeom prst="ellipse">
            <a:avLst/>
          </a:prstGeom>
          <a:solidFill>
            <a:srgbClr val="02C39A">
              <a:alpha val="22000"/>
            </a:srgbClr>
          </a:solidFill>
          <a:ln w="12700">
            <a:solidFill>
              <a:srgbClr val="02C39A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474720"/>
            <a:ext cx="1828800" cy="1828800"/>
          </a:xfrm>
          <a:prstGeom prst="ellipse">
            <a:avLst/>
          </a:prstGeom>
          <a:solidFill>
            <a:srgbClr val="7B3FBE">
              <a:alpha val="35000"/>
            </a:srgbClr>
          </a:solidFill>
          <a:ln w="12700">
            <a:solidFill>
              <a:srgbClr val="7B3FBE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 /  문서화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9A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AI로 문서화 부채 없애기 — 개발과 문서를 동시에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정의서  ·  유스케이스  ·  아키텍처  ·  API 명세서  ·  팀 협업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챕터 학습 목표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5F0FF"/>
          </a:solidFill>
          <a:ln w="12700">
            <a:solidFill>
              <a:srgbClr val="D0B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70432"/>
            <a:ext cx="7863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AI로 API 명세서를 코드에서 자동 생성하는 방법을 익힌다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56232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EDE5F8"/>
          </a:solidFill>
          <a:ln w="12700">
            <a:solidFill>
              <a:srgbClr val="D0B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883664"/>
            <a:ext cx="7863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시스템 아키텍처 문서에 설계 결정 근거(Why)를 포함시킨다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569464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5F0FF"/>
          </a:solidFill>
          <a:ln w="12700">
            <a:solidFill>
              <a:srgbClr val="D0B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596896"/>
            <a:ext cx="7863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팀 협업에 필요한 문서 체계와 Git 전략을 이해한다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282696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EDE5F8"/>
          </a:solidFill>
          <a:ln w="12700">
            <a:solidFill>
              <a:srgbClr val="D0B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310128"/>
            <a:ext cx="7863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AI로 PR 작성과 코드 리뷰를 자동화한다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995928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5F0FF"/>
          </a:solidFill>
          <a:ln w="12700">
            <a:solidFill>
              <a:srgbClr val="D0B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4023360"/>
            <a:ext cx="7863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AI 협업 개발 전체 워크플로우를 정리하고 내재화한다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8229600" cy="320040"/>
          </a:xfrm>
          <a:prstGeom prst="roundRect">
            <a:avLst>
              <a:gd name="adj" fmla="val 17143"/>
            </a:avLst>
          </a:prstGeom>
          <a:solidFill>
            <a:srgbClr val="02C39A">
              <a:alpha val="1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예상 소요시간: 60분 (실습 포함)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문서화 없이 vs AI로 문서화한 팀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24128"/>
            <a:ext cx="4069080" cy="3383280"/>
          </a:xfrm>
          <a:prstGeom prst="roundRect">
            <a:avLst>
              <a:gd name="adj" fmla="val 3243"/>
            </a:avLst>
          </a:prstGeom>
          <a:solidFill>
            <a:srgbClr val="FFF5F5"/>
          </a:solidFill>
          <a:ln w="19050">
            <a:solidFill>
              <a:srgbClr val="E53E3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24128"/>
            <a:ext cx="4069080" cy="4572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2412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A팀 — 문서 없이 개발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6개월 후 코드 수정 불가능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팀원 이직 시 모든 지식 소실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59689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신규 팀원 온보딩 2주 소요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API 변경 시 어디를 수정할지 모름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621024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프론트-백 협업 시 매번 구두 설명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1024128"/>
            <a:ext cx="4069080" cy="3383280"/>
          </a:xfrm>
          <a:prstGeom prst="roundRect">
            <a:avLst>
              <a:gd name="adj" fmla="val 3243"/>
            </a:avLst>
          </a:prstGeom>
          <a:solidFill>
            <a:srgbClr val="F0FFF4"/>
          </a:solidFill>
          <a:ln w="19050">
            <a:solidFill>
              <a:srgbClr val="38A169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1024128"/>
            <a:ext cx="4069080" cy="45720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02412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B팀 — AI로 문서화 병행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1572768"/>
            <a:ext cx="3794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언제든 코드 수정 가능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084832"/>
            <a:ext cx="3794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API 명세로 프론트-백 협업 원활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596896"/>
            <a:ext cx="3794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신규 팀원 온보딩 1일 완료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3108960"/>
            <a:ext cx="3794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아키텍처 문서로 변경 영향 즉시 파악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3621024"/>
            <a:ext cx="3794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 리뷰로 코드 품질 자동 점검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517136"/>
            <a:ext cx="8595360" cy="530352"/>
          </a:xfrm>
          <a:prstGeom prst="roundRect">
            <a:avLst>
              <a:gd name="adj" fmla="val 15517"/>
            </a:avLst>
          </a:prstGeom>
          <a:solidFill>
            <a:srgbClr val="F5F0FF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526280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문서화는 미래의 나와 팀을 위한 투자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초안을 만들어주면 문서화가 더 이상 귀찮은 일이 아니다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수자이 프로젝트의 5개 설계 문서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87552"/>
            <a:ext cx="548640" cy="329184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87552"/>
            <a:ext cx="3108960" cy="329184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31920" y="987552"/>
            <a:ext cx="3931920" cy="329184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0" y="987552"/>
            <a:ext cx="1005840" cy="329184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87552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번호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9875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문서명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931920" y="98755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역할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863840" y="987552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소요 시간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316736"/>
            <a:ext cx="8595360" cy="621792"/>
          </a:xfrm>
          <a:prstGeom prst="rect">
            <a:avLst/>
          </a:prstGeom>
          <a:solidFill>
            <a:srgbClr val="F5F0FF"/>
          </a:solidFill>
          <a:ln w="12700">
            <a:solidFill>
              <a:srgbClr val="D0B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472184"/>
            <a:ext cx="384048" cy="384048"/>
          </a:xfrm>
          <a:prstGeom prst="ellipse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4721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1316736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정의서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31920" y="1316736"/>
            <a:ext cx="3886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사용자 스토리 초안 작성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863840" y="1316736"/>
            <a:ext cx="1005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~2시간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1975104"/>
            <a:ext cx="8595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B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130552"/>
            <a:ext cx="384048" cy="384048"/>
          </a:xfrm>
          <a:prstGeom prst="ellipse">
            <a:avLst/>
          </a:prstGeom>
          <a:solidFill>
            <a:srgbClr val="7B3FBE"/>
          </a:solidFill>
          <a:ln w="12700">
            <a:solidFill>
              <a:srgbClr val="7B3F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1305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" y="1975104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유스케이스 정의서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31920" y="1975104"/>
            <a:ext cx="3886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UC 목록 도출 + 예외 흐름 생성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863840" y="1975104"/>
            <a:ext cx="1005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B3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~1.5시간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2633472"/>
            <a:ext cx="8595360" cy="621792"/>
          </a:xfrm>
          <a:prstGeom prst="rect">
            <a:avLst/>
          </a:prstGeom>
          <a:solidFill>
            <a:srgbClr val="F5F0FF"/>
          </a:solidFill>
          <a:ln w="12700">
            <a:solidFill>
              <a:srgbClr val="D0B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2788920"/>
            <a:ext cx="384048" cy="384048"/>
          </a:xfrm>
          <a:prstGeom prst="ellipse">
            <a:avLst/>
          </a:prstGeom>
          <a:solidFill>
            <a:srgbClr val="9B5FDE"/>
          </a:solidFill>
          <a:ln w="12700">
            <a:solidFill>
              <a:srgbClr val="9B5F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788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" y="2633472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아키텍처 정의서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931920" y="2633472"/>
            <a:ext cx="3886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레이어 구조 및 기술 스택 제안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863840" y="2633472"/>
            <a:ext cx="1005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B5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~2시간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3291840"/>
            <a:ext cx="8595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B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3447288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4472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22960" y="3291840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설계서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931920" y="3291840"/>
            <a:ext cx="3886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ASCII 와이어프레임 생성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863840" y="3291840"/>
            <a:ext cx="1005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~1.5시간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4320" y="3950208"/>
            <a:ext cx="8595360" cy="621792"/>
          </a:xfrm>
          <a:prstGeom prst="rect">
            <a:avLst/>
          </a:prstGeom>
          <a:solidFill>
            <a:srgbClr val="F5F0FF"/>
          </a:solidFill>
          <a:ln w="12700">
            <a:solidFill>
              <a:srgbClr val="D0B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" y="4105656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1056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22960" y="3950208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명세서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931920" y="3950208"/>
            <a:ext cx="3886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→ AI → 문서 자동화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863840" y="3950208"/>
            <a:ext cx="1005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~1시간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74320" y="4626864"/>
            <a:ext cx="8595360" cy="438912"/>
          </a:xfrm>
          <a:prstGeom prst="roundRect">
            <a:avLst>
              <a:gd name="adj" fmla="val 16667"/>
            </a:avLst>
          </a:prstGeom>
          <a:solidFill>
            <a:srgbClr val="E8F7F4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4636008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1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없이 약 2주 소요  →  AI 활용 시 약 2일 완성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1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5개 문서 모두 AI가 초안을 잡고 팀이 검토·보완하는 방식으로 진행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→ AI → API 명세서 자동 생성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965960" cy="868680"/>
          </a:xfrm>
          <a:prstGeom prst="roundRect">
            <a:avLst>
              <a:gd name="adj" fmla="val 10526"/>
            </a:avLst>
          </a:prstGeom>
          <a:solidFill>
            <a:srgbClr val="F5F0FF"/>
          </a:solidFill>
          <a:ln w="12700">
            <a:solidFill>
              <a:srgbClr val="D0B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2412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완성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76272" y="123444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450592" y="1005840"/>
            <a:ext cx="1965960" cy="868680"/>
          </a:xfrm>
          <a:prstGeom prst="roundRect">
            <a:avLst>
              <a:gd name="adj" fmla="val 10526"/>
            </a:avLst>
          </a:prstGeom>
          <a:solidFill>
            <a:srgbClr val="F5F0FF"/>
          </a:solidFill>
          <a:ln w="12700">
            <a:solidFill>
              <a:srgbClr val="D0B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102412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450592" y="13716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AI에게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52544" y="123444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26864" y="1005840"/>
            <a:ext cx="1965960" cy="868680"/>
          </a:xfrm>
          <a:prstGeom prst="roundRect">
            <a:avLst>
              <a:gd name="adj" fmla="val 10526"/>
            </a:avLst>
          </a:prstGeom>
          <a:solidFill>
            <a:srgbClr val="F5F0FF"/>
          </a:solidFill>
          <a:ln w="12700">
            <a:solidFill>
              <a:srgbClr val="D0B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6864" y="102412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26864" y="13716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명세서 생성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28816" y="123444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03136" y="1005840"/>
            <a:ext cx="1965960" cy="868680"/>
          </a:xfrm>
          <a:prstGeom prst="roundRect">
            <a:avLst>
              <a:gd name="adj" fmla="val 10526"/>
            </a:avLst>
          </a:prstGeom>
          <a:solidFill>
            <a:srgbClr val="F5F0FF"/>
          </a:solidFill>
          <a:ln w="12700">
            <a:solidFill>
              <a:srgbClr val="D0B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03136" y="102412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03136" y="13716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검토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배포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" y="19933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수자이 내부 API 5개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2322576"/>
            <a:ext cx="8595360" cy="457200"/>
          </a:xfrm>
          <a:prstGeom prst="roundRect">
            <a:avLst>
              <a:gd name="adj" fmla="val 14000"/>
            </a:avLst>
          </a:prstGeom>
          <a:solidFill>
            <a:srgbClr val="F5F0FF"/>
          </a:solidFill>
          <a:ln w="12700">
            <a:solidFill>
              <a:srgbClr val="D0B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2377440"/>
            <a:ext cx="640080" cy="274320"/>
          </a:xfrm>
          <a:prstGeom prst="roundRect">
            <a:avLst>
              <a:gd name="adj" fmla="val 20000"/>
            </a:avLst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3774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51560" y="234086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2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/api/facilities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703320" y="2340864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정수장 목록 조회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2843784"/>
            <a:ext cx="85953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0B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" y="2898648"/>
            <a:ext cx="640080" cy="274320"/>
          </a:xfrm>
          <a:prstGeom prst="roundRect">
            <a:avLst>
              <a:gd name="adj" fmla="val 20000"/>
            </a:avLst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289864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51560" y="286207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2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/api/waterQuality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703320" y="2862072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수질 데이터 조회 (sujCode, startDate, endDate)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3364992"/>
            <a:ext cx="8595360" cy="457200"/>
          </a:xfrm>
          <a:prstGeom prst="roundRect">
            <a:avLst>
              <a:gd name="adj" fmla="val 14000"/>
            </a:avLst>
          </a:prstGeom>
          <a:solidFill>
            <a:srgbClr val="F5F0FF"/>
          </a:solidFill>
          <a:ln w="12700">
            <a:solidFill>
              <a:srgbClr val="D0B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" y="3419856"/>
            <a:ext cx="640080" cy="274320"/>
          </a:xfrm>
          <a:prstGeom prst="roundRect">
            <a:avLst>
              <a:gd name="adj" fmla="val 20000"/>
            </a:avLst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341985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51560" y="3383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2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/api/waterFlow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703320" y="338328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유량 데이터 조회 (sujCode, startDate, endDate)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74320" y="3886200"/>
            <a:ext cx="85953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0B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7472" y="3941064"/>
            <a:ext cx="640080" cy="274320"/>
          </a:xfrm>
          <a:prstGeom prst="roundRect">
            <a:avLst>
              <a:gd name="adj" fmla="val 20000"/>
            </a:avLst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394106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51560" y="390448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2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/api/analysis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703320" y="3904488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AI 수질 분석 (sujCode, startDate, endDate)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74320" y="4407408"/>
            <a:ext cx="8595360" cy="457200"/>
          </a:xfrm>
          <a:prstGeom prst="roundRect">
            <a:avLst>
              <a:gd name="adj" fmla="val 14000"/>
            </a:avLst>
          </a:prstGeom>
          <a:solidFill>
            <a:srgbClr val="F5F0FF"/>
          </a:solidFill>
          <a:ln w="12700">
            <a:solidFill>
              <a:srgbClr val="D0B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47472" y="4462272"/>
            <a:ext cx="640080" cy="274320"/>
          </a:xfrm>
          <a:prstGeom prst="roundRect">
            <a:avLst>
              <a:gd name="adj" fmla="val 20000"/>
            </a:avLst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446227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51560" y="442569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2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/api/news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703320" y="4425696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수질 관련 뉴스 검색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74320" y="4937760"/>
            <a:ext cx="8595360" cy="164592"/>
          </a:xfrm>
          <a:prstGeom prst="roundRect">
            <a:avLst>
              <a:gd name="adj" fmla="val 27778"/>
            </a:avLst>
          </a:prstGeom>
          <a:solidFill>
            <a:srgbClr val="E8F7F4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4937760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1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"아래 Spring Boot Controller를 보고 API 명세서를 Markdown으로 작성해줘. 요청 파라미터, 응답 필드, JSON 예시를 포함해줘."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API 연동 명세 — AI로 정리하기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87552"/>
            <a:ext cx="2103120" cy="329184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8755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377440" y="987552"/>
            <a:ext cx="3200400" cy="329184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98755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엔드포인트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577840" y="987552"/>
            <a:ext cx="1828800" cy="329184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98755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파라미터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406640" y="987552"/>
            <a:ext cx="1463040" cy="329184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06640" y="98755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특수 처리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316736"/>
            <a:ext cx="8595360" cy="804672"/>
          </a:xfrm>
          <a:prstGeom prst="rect">
            <a:avLst/>
          </a:prstGeom>
          <a:solidFill>
            <a:srgbClr val="F5F0FF"/>
          </a:solidFill>
          <a:ln w="12700">
            <a:solidFill>
              <a:srgbClr val="D0B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316736"/>
            <a:ext cx="2011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K-water 수질 API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423160" y="1316736"/>
            <a:ext cx="3108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apis.data.go.kr/1490000/wtrQltService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23560" y="1316736"/>
            <a:ext cx="1737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sujCode, startDt, endDt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452360" y="1316736"/>
            <a:ext cx="1371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3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빈 문자열 처리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B3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occrrncDt 날짜 변환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157984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B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157984"/>
            <a:ext cx="2011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K-water 유량 API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423160" y="2157984"/>
            <a:ext cx="3108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apis.data.go.kr/1490000/waterFlowService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23560" y="2157984"/>
            <a:ext cx="1737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sujCode, startDt, endDt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452360" y="2157984"/>
            <a:ext cx="1371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3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단건/복수 응답 불일치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B3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instanceof Map 체크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999232"/>
            <a:ext cx="8595360" cy="804672"/>
          </a:xfrm>
          <a:prstGeom prst="rect">
            <a:avLst/>
          </a:prstGeom>
          <a:solidFill>
            <a:srgbClr val="F5F0FF"/>
          </a:solidFill>
          <a:ln w="12700">
            <a:solidFill>
              <a:srgbClr val="D0B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999232"/>
            <a:ext cx="2011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K-water 정수장 API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423160" y="2999232"/>
            <a:ext cx="3108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apis.data.go.kr/1490000/wtrSplyFcltService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623560" y="2999232"/>
            <a:ext cx="1737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없음 (전체 조회)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452360" y="2999232"/>
            <a:ext cx="1371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3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60분 캐시로 빈번 호출 방지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3840480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B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840480"/>
            <a:ext cx="2011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AI API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423160" y="3840480"/>
            <a:ext cx="3108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api.groq.com/openai/v1/chat/completions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623560" y="3840480"/>
            <a:ext cx="1737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GROQ_API_KEY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452360" y="3840480"/>
            <a:ext cx="1371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3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호환 형식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B3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 전용 시스템 프롬프트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4700016"/>
            <a:ext cx="8595360" cy="384048"/>
          </a:xfrm>
          <a:prstGeom prst="roundRect">
            <a:avLst>
              <a:gd name="adj" fmla="val 19048"/>
            </a:avLst>
          </a:prstGeom>
          <a:solidFill>
            <a:srgbClr val="E8F7F4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470916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1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"외부 API 공식 문서를 AI에게 붙여넣고 '우리 프로젝트에 맞는 연동 명세서로 정리해줘'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01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특수 처리 항목(날짜 변환, 빈 문자열 등)도 함께 문서화 요청"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아키텍처 정의서 — AI가 설계 결정 근거까지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74320" y="9875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아키텍처 정의서 구성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316736"/>
            <a:ext cx="4114800" cy="493776"/>
          </a:xfrm>
          <a:prstGeom prst="roundRect">
            <a:avLst>
              <a:gd name="adj" fmla="val 12963"/>
            </a:avLst>
          </a:prstGeom>
          <a:solidFill>
            <a:srgbClr val="F5F0FF"/>
          </a:solidFill>
          <a:ln w="12700">
            <a:solidFill>
              <a:srgbClr val="D0B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3502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시스템 구성도 (레이어 다이어그램)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883664"/>
            <a:ext cx="411480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D0B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90195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기술 스택 (계층별 선택 기술)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450592"/>
            <a:ext cx="4114800" cy="493776"/>
          </a:xfrm>
          <a:prstGeom prst="roundRect">
            <a:avLst>
              <a:gd name="adj" fmla="val 12963"/>
            </a:avLst>
          </a:prstGeom>
          <a:solidFill>
            <a:srgbClr val="F5F0FF"/>
          </a:solidFill>
          <a:ln w="12700">
            <a:solidFill>
              <a:srgbClr val="D0B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4688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레이어 구조 및 클래스 목록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3017520"/>
            <a:ext cx="411480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D0B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03580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데이터 흐름 (요청 → 응답 경로)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584448"/>
            <a:ext cx="4114800" cy="493776"/>
          </a:xfrm>
          <a:prstGeom prst="roundRect">
            <a:avLst>
              <a:gd name="adj" fmla="val 12963"/>
            </a:avLst>
          </a:prstGeom>
          <a:solidFill>
            <a:srgbClr val="F5F0FF"/>
          </a:solidFill>
          <a:ln w="12700">
            <a:solidFill>
              <a:srgbClr val="D0B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60273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캐시 전략 (키 설계, TTL)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4151376"/>
            <a:ext cx="4114800" cy="493776"/>
          </a:xfrm>
          <a:prstGeom prst="roundRect">
            <a:avLst>
              <a:gd name="adj" fmla="val 12963"/>
            </a:avLst>
          </a:prstGeom>
          <a:solidFill>
            <a:srgbClr val="F5F0FF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416966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설계 결정 사항 (Why)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987552"/>
            <a:ext cx="4206240" cy="4023360"/>
          </a:xfrm>
          <a:prstGeom prst="roundRect">
            <a:avLst>
              <a:gd name="adj" fmla="val 2727"/>
            </a:avLst>
          </a:prstGeom>
          <a:solidFill>
            <a:srgbClr val="F8F0FF"/>
          </a:solidFill>
          <a:ln w="25400">
            <a:solidFill>
              <a:srgbClr val="5B2D8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105156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결정 사항 (Why)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가장 중요한 섹션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1691640"/>
            <a:ext cx="40233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0B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64608" y="1719072"/>
            <a:ext cx="1188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미사용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80760" y="1719072"/>
            <a:ext cx="2606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단계, 비용 최소화, ConcurrentHashMap으로 충분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331720"/>
            <a:ext cx="40233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0B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64608" y="2359152"/>
            <a:ext cx="1188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sujCode 필수화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80760" y="2359152"/>
            <a:ext cx="2606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44초 지연 방지, API 안정성 확보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971800"/>
            <a:ext cx="40233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0B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64608" y="2999232"/>
            <a:ext cx="1188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선택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80760" y="2999232"/>
            <a:ext cx="2606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 티어 즉시 사용, OpenAI 호환으로 코드 재사용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611880"/>
            <a:ext cx="40233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0B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64608" y="3639312"/>
            <a:ext cx="1188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80760" y="3639312"/>
            <a:ext cx="2606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프레임워크 학습 비용 없음, 단일 파일 배포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4251960"/>
            <a:ext cx="40233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0B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64608" y="4279392"/>
            <a:ext cx="1188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선택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80760" y="4279392"/>
            <a:ext cx="2606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팀원 IDE 환경 통일, 의존성 관리 표준화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800600"/>
            <a:ext cx="8595360" cy="274320"/>
          </a:xfrm>
          <a:prstGeom prst="roundRect">
            <a:avLst>
              <a:gd name="adj" fmla="val 20000"/>
            </a:avLst>
          </a:prstGeom>
          <a:solidFill>
            <a:srgbClr val="FFF3E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480060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C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AI가 Why를 놓치는 경우가 많다 → 팀이 직접 보완해야 하는 부분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협업 도구와 Git 전략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98755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브랜칭 전략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353312"/>
            <a:ext cx="4206240" cy="548640"/>
          </a:xfrm>
          <a:prstGeom prst="roundRect">
            <a:avLst>
              <a:gd name="adj" fmla="val 13333"/>
            </a:avLst>
          </a:prstGeom>
          <a:solidFill>
            <a:srgbClr val="38A169">
              <a:alpha val="12000"/>
            </a:srgbClr>
          </a:solidFill>
          <a:ln w="12700">
            <a:solidFill>
              <a:srgbClr val="38A169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53312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53312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91640" y="135331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 가능 버전만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90195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merge →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2011680"/>
            <a:ext cx="3950208" cy="548640"/>
          </a:xfrm>
          <a:prstGeom prst="roundRect">
            <a:avLst>
              <a:gd name="adj" fmla="val 13333"/>
            </a:avLst>
          </a:prstGeom>
          <a:solidFill>
            <a:srgbClr val="5B2D8E">
              <a:alpha val="12000"/>
            </a:srgbClr>
          </a:solidFill>
          <a:ln w="12700">
            <a:solidFill>
              <a:srgbClr val="5B2D8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2011680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0116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47672" y="2011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 개발 브랜치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7512" y="25603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merge →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86384" y="2670048"/>
            <a:ext cx="3694176" cy="548640"/>
          </a:xfrm>
          <a:prstGeom prst="roundRect">
            <a:avLst>
              <a:gd name="adj" fmla="val 13333"/>
            </a:avLst>
          </a:prstGeom>
          <a:solidFill>
            <a:srgbClr val="7B3FBE">
              <a:alpha val="12000"/>
            </a:srgbClr>
          </a:solidFill>
          <a:ln w="12700">
            <a:solidFill>
              <a:srgbClr val="7B3FB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86384" y="2670048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7B3FBE"/>
          </a:solidFill>
          <a:ln w="12700">
            <a:solidFill>
              <a:srgbClr val="7B3F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2670048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feature/xxx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03704" y="267004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기능별 개발 (팀원당 1개)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337560"/>
            <a:ext cx="4206240" cy="1627632"/>
          </a:xfrm>
          <a:prstGeom prst="roundRect">
            <a:avLst>
              <a:gd name="adj" fmla="val 5618"/>
            </a:avLst>
          </a:prstGeom>
          <a:solidFill>
            <a:srgbClr val="F5F0FF"/>
          </a:solidFill>
          <a:ln w="12700">
            <a:solidFill>
              <a:srgbClr val="D0B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1480" y="33832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작성 with AI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730752"/>
            <a:ext cx="4023360" cy="1170432"/>
          </a:xfrm>
          <a:prstGeom prst="roundRect">
            <a:avLst>
              <a:gd name="adj" fmla="val 6250"/>
            </a:avLst>
          </a:prstGeom>
          <a:solidFill>
            <a:srgbClr val="E8F7F4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767328"/>
            <a:ext cx="38039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1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코드 변경사항을 보고 PR 설명을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1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작성해줘: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1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제목 (한 줄 요약)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1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변경 내용 요약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1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테스트 방법"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987552"/>
            <a:ext cx="4206240" cy="4023360"/>
          </a:xfrm>
          <a:prstGeom prst="roundRect">
            <a:avLst>
              <a:gd name="adj" fmla="val 2727"/>
            </a:avLst>
          </a:prstGeom>
          <a:solidFill>
            <a:srgbClr val="F5F0FF"/>
          </a:solidFill>
          <a:ln w="12700">
            <a:solidFill>
              <a:srgbClr val="D0B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00600" y="105156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리뷰 with AI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141732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B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64608" y="144475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버그 찾기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64608" y="1737360"/>
            <a:ext cx="3803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1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코드에서 잠재적 버그와 NPE 위험을 찾아줘"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224028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B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64608" y="226771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점검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64608" y="2560320"/>
            <a:ext cx="3803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1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"API 키 노출, 인증 미흡 등 보안 이슈를 확인해줘"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306324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B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64608" y="309067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 제안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64608" y="3383280"/>
            <a:ext cx="3803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1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"코드 가독성과 성능을 개선할 수 있는 방법을 알려줘"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388620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B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64608" y="391363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 생성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64608" y="4206240"/>
            <a:ext cx="3803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1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함수에 대한 JUnit 테스트 케이스를 작성해줘"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5084064"/>
            <a:ext cx="8595360" cy="0"/>
          </a:xfrm>
          <a:prstGeom prst="roundRect">
            <a:avLst>
              <a:gd name="adj" fmla="val Infinity"/>
            </a:avLst>
          </a:prstGeom>
          <a:solidFill>
            <a:srgbClr val="EDE5F8"/>
          </a:solidFill>
          <a:ln w="12700">
            <a:solidFill>
              <a:srgbClr val="D0B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4937760"/>
            <a:ext cx="8595360" cy="164592"/>
          </a:xfrm>
          <a:prstGeom prst="roundRect">
            <a:avLst>
              <a:gd name="adj" fmla="val 22222"/>
            </a:avLst>
          </a:prstGeom>
          <a:solidFill>
            <a:srgbClr val="EDE5F8"/>
          </a:solidFill>
          <a:ln w="12700">
            <a:solidFill>
              <a:srgbClr val="D0B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937760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 리뷰는 팀 리뷰 전 사전 점검으로 활용 — 명백한 버그를 먼저 걸러내는 역할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 실습 05 — API 명세서 자동 생성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84124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5B2D8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24128"/>
            <a:ext cx="1143000" cy="841248"/>
          </a:xfrm>
          <a:prstGeom prst="roundRect">
            <a:avLst>
              <a:gd name="adj" fmla="val 10870"/>
            </a:avLst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24128"/>
            <a:ext cx="1143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00200" y="10515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코드 복사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00200" y="1335024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본인이 만든 Controller 코드 또는 수자이 ApiController.java 내용 복사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635240" y="1106424"/>
            <a:ext cx="1005840" cy="274320"/>
          </a:xfrm>
          <a:prstGeom prst="roundRect">
            <a:avLst>
              <a:gd name="adj" fmla="val 23333"/>
            </a:avLst>
          </a:prstGeom>
          <a:solidFill>
            <a:srgbClr val="02C39A">
              <a:alpha val="2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35240" y="110642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984248"/>
            <a:ext cx="84124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5B2D8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984248"/>
            <a:ext cx="1143000" cy="841248"/>
          </a:xfrm>
          <a:prstGeom prst="roundRect">
            <a:avLst>
              <a:gd name="adj" fmla="val 10870"/>
            </a:avLst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984248"/>
            <a:ext cx="1143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00200" y="20116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AI에게 명세서 요청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00200" y="2295144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"아래 Controller를 보고 API 명세서를 Markdown으로 작성해줘.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 파라미터, 응답 JSON 예시 포함"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635240" y="2066544"/>
            <a:ext cx="1005840" cy="274320"/>
          </a:xfrm>
          <a:prstGeom prst="roundRect">
            <a:avLst>
              <a:gd name="adj" fmla="val 23333"/>
            </a:avLst>
          </a:prstGeom>
          <a:solidFill>
            <a:srgbClr val="02C39A">
              <a:alpha val="2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35240" y="206654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5분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944368"/>
            <a:ext cx="84124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5B2D8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944368"/>
            <a:ext cx="1143000" cy="841248"/>
          </a:xfrm>
          <a:prstGeom prst="roundRect">
            <a:avLst>
              <a:gd name="adj" fmla="val 10870"/>
            </a:avLst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944368"/>
            <a:ext cx="1143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00200" y="2971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문서 공간에 붙여넣기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00200" y="3255264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생성된 명세서를 Notion, GitHub Wiki, 또는 Google Docs에 붙여넣기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635240" y="3026664"/>
            <a:ext cx="1005840" cy="274320"/>
          </a:xfrm>
          <a:prstGeom prst="roundRect">
            <a:avLst>
              <a:gd name="adj" fmla="val 23333"/>
            </a:avLst>
          </a:prstGeom>
          <a:solidFill>
            <a:srgbClr val="02C39A">
              <a:alpha val="2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35240" y="302666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7분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904488"/>
            <a:ext cx="84124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5B2D8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904488"/>
            <a:ext cx="1143000" cy="841248"/>
          </a:xfrm>
          <a:prstGeom prst="roundRect">
            <a:avLst>
              <a:gd name="adj" fmla="val 10870"/>
            </a:avLst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904488"/>
            <a:ext cx="1143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600200" y="39319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API와 비교 검증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600200" y="4215384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Postman으로 실제 API 응답과 명세서를 비교 → 불일치 항목 수정 요청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635240" y="3986784"/>
            <a:ext cx="1005840" cy="274320"/>
          </a:xfrm>
          <a:prstGeom prst="roundRect">
            <a:avLst>
              <a:gd name="adj" fmla="val 23333"/>
            </a:avLst>
          </a:prstGeom>
          <a:solidFill>
            <a:srgbClr val="02C39A">
              <a:alpha val="2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35240" y="39867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5분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4892040"/>
            <a:ext cx="8412480" cy="182880"/>
          </a:xfrm>
          <a:prstGeom prst="roundRect">
            <a:avLst>
              <a:gd name="adj" fmla="val 25000"/>
            </a:avLst>
          </a:prstGeom>
          <a:solidFill>
            <a:srgbClr val="02C39A">
              <a:alpha val="2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총 20분 실습  |  생성된 명세서를 팀 슬랙 또는 공유 문서에 올려주세요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협업 개발 전체 워크플로우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01168" y="1024128"/>
            <a:ext cx="1554480" cy="347472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0B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1024128"/>
            <a:ext cx="1554480" cy="41148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10241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아이디어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508760"/>
            <a:ext cx="1408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역할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74320" y="1764792"/>
            <a:ext cx="14081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유사 서비스 분석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아이디어 정제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2450592"/>
            <a:ext cx="1408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역할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74320" y="2706624"/>
            <a:ext cx="14081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정의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 설정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755648" y="25146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984248" y="1024128"/>
            <a:ext cx="1554480" cy="347472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0B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84248" y="1024128"/>
            <a:ext cx="1554480" cy="411480"/>
          </a:xfrm>
          <a:prstGeom prst="rect">
            <a:avLst/>
          </a:prstGeom>
          <a:solidFill>
            <a:srgbClr val="7B3FBE"/>
          </a:solidFill>
          <a:ln w="12700">
            <a:solidFill>
              <a:srgbClr val="7B3F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84248" y="10241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57400" y="1508760"/>
            <a:ext cx="1408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3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역할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057400" y="1764792"/>
            <a:ext cx="14081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초안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스토리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057400" y="2450592"/>
            <a:ext cx="1408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역할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57400" y="2706624"/>
            <a:ext cx="14081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범위 결정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우선순위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538728" y="25146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767328" y="1024128"/>
            <a:ext cx="1554480" cy="347472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0B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67328" y="1024128"/>
            <a:ext cx="155448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67328" y="10241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40480" y="1508760"/>
            <a:ext cx="1408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역할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840480" y="1764792"/>
            <a:ext cx="14081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아키텍처 제안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목록 생성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840480" y="2450592"/>
            <a:ext cx="1408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역할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840480" y="2706624"/>
            <a:ext cx="14081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결정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합의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321808" y="25146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550408" y="1024128"/>
            <a:ext cx="1554480" cy="347472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0B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550408" y="1024128"/>
            <a:ext cx="1554480" cy="4114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50408" y="10241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23560" y="1508760"/>
            <a:ext cx="1408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역할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623560" y="1764792"/>
            <a:ext cx="14081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생성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버그 디버깅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623560" y="2450592"/>
            <a:ext cx="1408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역할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623560" y="2706624"/>
            <a:ext cx="14081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검토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 테스트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104888" y="25146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333488" y="1024128"/>
            <a:ext cx="1554480" cy="347472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0B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333488" y="1024128"/>
            <a:ext cx="1554480" cy="41148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33488" y="10241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문서화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406640" y="1508760"/>
            <a:ext cx="1408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역할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406640" y="1764792"/>
            <a:ext cx="14081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명세서 자동생성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설명 작성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406640" y="2450592"/>
            <a:ext cx="1408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역할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406640" y="2706624"/>
            <a:ext cx="14081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보완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리뷰 승인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74320" y="4608576"/>
            <a:ext cx="4114800" cy="475488"/>
          </a:xfrm>
          <a:prstGeom prst="roundRect">
            <a:avLst>
              <a:gd name="adj" fmla="val 15385"/>
            </a:avLst>
          </a:prstGeom>
          <a:solidFill>
            <a:srgbClr val="FFF5F5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460857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전통 방식: 아이디어 → 출시 평균 6~8주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754880" y="4608576"/>
            <a:ext cx="4114800" cy="475488"/>
          </a:xfrm>
          <a:prstGeom prst="roundRect">
            <a:avLst>
              <a:gd name="adj" fmla="val 15385"/>
            </a:avLst>
          </a:prstGeom>
          <a:solidFill>
            <a:srgbClr val="F0FFF4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92040" y="460857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협업 방식: 아이디어 → 출시 평균 1~2주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74320" y="4645152"/>
            <a:ext cx="4480560" cy="411480"/>
          </a:xfrm>
          <a:prstGeom prst="roundRect">
            <a:avLst>
              <a:gd name="adj" fmla="val 17778"/>
            </a:avLst>
          </a:prstGeom>
          <a:solidFill>
            <a:srgbClr val="FFF5F5"/>
          </a:solidFill>
          <a:ln w="12700">
            <a:solidFill>
              <a:srgbClr val="E53E3E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D1B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5B2D8E">
              <a:alpha val="30000"/>
            </a:srgbClr>
          </a:solidFill>
          <a:ln w="12700">
            <a:solidFill>
              <a:srgbClr val="5B2D8E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3200400"/>
            <a:ext cx="4572000" cy="4572000"/>
          </a:xfrm>
          <a:prstGeom prst="ellipse">
            <a:avLst/>
          </a:prstGeom>
          <a:solidFill>
            <a:srgbClr val="4A1580">
              <a:alpha val="35000"/>
            </a:srgbClr>
          </a:solidFill>
          <a:ln w="12700">
            <a:solidFill>
              <a:srgbClr val="4A1580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02C39A">
              <a:alpha val="28000"/>
            </a:srgbClr>
          </a:solidFill>
          <a:ln w="12700">
            <a:solidFill>
              <a:srgbClr val="02C39A">
                <a:alpha val="2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협업 개발로 배운 것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8046720" cy="502920"/>
          </a:xfrm>
          <a:prstGeom prst="roundRect">
            <a:avLst>
              <a:gd name="adj" fmla="val 18182"/>
            </a:avLst>
          </a:prstGeom>
          <a:solidFill>
            <a:srgbClr val="02C39A">
              <a:alpha val="2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7909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AI는 검색 대체제가 아니다 — 페어 프로그래머로 활용하라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38528"/>
            <a:ext cx="8046720" cy="566928"/>
          </a:xfrm>
          <a:prstGeom prst="roundRect">
            <a:avLst>
              <a:gd name="adj" fmla="val 1451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070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029968"/>
            <a:ext cx="438912" cy="438912"/>
          </a:xfrm>
          <a:prstGeom prst="ellipse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299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88720" y="1956816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AI에게 설명을 충분히 제공하면 제공할수록 더 좋은 결과가 나온다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596896"/>
            <a:ext cx="8046720" cy="566928"/>
          </a:xfrm>
          <a:prstGeom prst="roundRect">
            <a:avLst>
              <a:gd name="adj" fmla="val 1451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070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688336"/>
            <a:ext cx="438912" cy="438912"/>
          </a:xfrm>
          <a:prstGeom prst="ellipse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6883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88720" y="2615184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문서를 먼저 만들면 구현 속도가 3배 빨라진다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55264"/>
            <a:ext cx="8046720" cy="566928"/>
          </a:xfrm>
          <a:prstGeom prst="roundRect">
            <a:avLst>
              <a:gd name="adj" fmla="val 1451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070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346704"/>
            <a:ext cx="438912" cy="438912"/>
          </a:xfrm>
          <a:prstGeom prst="ellipse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3467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88720" y="3273552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데이터(JSON, 에러 메시지)를 붙여넣으면 AI가 정확해진다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913632"/>
            <a:ext cx="8046720" cy="566928"/>
          </a:xfrm>
          <a:prstGeom prst="roundRect">
            <a:avLst>
              <a:gd name="adj" fmla="val 1451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070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005072"/>
            <a:ext cx="438912" cy="438912"/>
          </a:xfrm>
          <a:prstGeom prst="ellipse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0050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88720" y="3931920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중 문서화를 병행하면 나중에 유지보수가 쉬워진다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599432"/>
            <a:ext cx="8046720" cy="475488"/>
          </a:xfrm>
          <a:prstGeom prst="roundRect">
            <a:avLst>
              <a:gd name="adj" fmla="val 19231"/>
            </a:avLst>
          </a:prstGeom>
          <a:solidFill>
            <a:srgbClr val="02C39A">
              <a:alpha val="2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599432"/>
            <a:ext cx="7909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이제 여러분의 팀 프로젝트에 적용해보세요  🚀  수고하셨습니다!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4 문서화</dc:title>
  <dc:subject>PptxGenJS Presentation</dc:subject>
  <dc:creator>PptxGenJS</dc:creator>
  <cp:lastModifiedBy>PptxGenJS</cp:lastModifiedBy>
  <cp:revision>1</cp:revision>
  <dcterms:created xsi:type="dcterms:W3CDTF">2026-06-24T09:12:30Z</dcterms:created>
  <dcterms:modified xsi:type="dcterms:W3CDTF">2026-06-24T09:12:30Z</dcterms:modified>
</cp:coreProperties>
</file>