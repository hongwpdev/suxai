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안녕하세요! 이번 챕터에서는 바이브 코딩(Vibe Coding)이 무엇인지, 그리고 AI를 활용해 어떻게 첫 프로젝트를 만들어 나갈 수 있는지 소개합니다. 여러분은 오늘부터 AI를 페어 프로그래머로 삼아 개발하는 새로운 방식을 경험하게 됩니다. 이 수업은 이론보다 실습 중심이니, 적극적으로 AI에게 질문하고 결과를 확인하는 습관을 들여주세요.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바이브 코딩은 2025년 Andrej Karpathy(테슬라 AI 전 디렉터, OpenAI 공동창업자)가 제안한 개념입니다. 핵심은 개발자가 코드를 직접 타이핑하는 대신 AI와 대화하듯 의도를 설명하고, AI가 생성한 코드를 검토·수정하는 방식입니다. 학습 초반에는 낯설겠지만 이 방식에 익숙해지면 개발 속도가 크게 향상됩니다.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전통적 개발 방식과 바이브 코딩을 비교해보겠습니다. 바이브 코딩이 전통적 방식을 완전히 대체하는 것은 아닙니다. 기초 개념 없이 AI 출력만 복붙하면 디버깅이 불가능합니다. 두 방법을 모두 이해하고, 상황에 따라 적절히 조합하는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가지 원칙은 이 수업 전체를 관통하는 핵심입니다. '의도를 명확하게' — 프롬프트가 모호하면 AI도 모호한 코드를 만들어냅니다. '반복하며 개선' — 첫 번째 AI 출력이 완벽하길 기대하지 마세요. '검증' — AI가 생성한 코드는 반드시 팀이 검토해야 합니다. 특히 보안과 비즈니스 로직은 사람이 최종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다양한 AI 도구를 비교해 봤습니다. 각 도구마다 강점이 다릅니다. 이 수업에서는 주로 Claude를 사용하지만, 실무에서는 상황에 따라 여러 도구를 조합하는 것이 좋습니다. Cursor IDE는 IDE 내에서 전체 코드베이스를 이해하며 도움을 주기 때문에 실제 프로젝트에서 매우 유용합니다.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 품질이 AI 출력 품질을 결정합니다. 왼쪽의 나쁜 예시처럼 짧고 맥락 없는 질문은 AI가 추측으로 코드를 만들게 합니다. 오른쪽처럼 역할·맥락·구체적 요청·제약조건을 모두 담으면 원하는 결과를 빠르게 얻을 수 있습니다. 이 4가지 요소를 기억해두세요.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네 가지 패턴은 수업 전체에서 반복해서 사용합니다. 역할 부여로 AI가 전문가 관점에서 답하게 하고, 예시 제공으로 원하는 형식을 보여주고, 단계적으로 요청해 복잡한 작업을 분리하고, 마지막에는 검토 요청으로 품질을 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바이브 코딩의 핵심은 이 5단계 사이클을 빠르게 반복하는 것입니다. 아이디어에서 시작해 AI에게 설명하고, 코드를 받고, 검토·테스트하고, 피드백을 주는 과정을 계속 반복합니다. 한 프로젝트 전체에서도 이 사이클이 돌아가고, 각 기능 구현 단계에서도 이 사이클이 반복됩니다.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도구를 과도하게 신뢰하면 안 됩니다. 특히 보안 취약점은 AI가 간과하는 경우가 많습니다. 비즈니스 로직은 도메인 지식이 필요하므로 팀이 검토해야 하고, AI 학습 데이터의 최신성도 항상 의심하세요. 기초 없이 AI 출력만 복붙하면 문제 발생 시 전혀 디버깅할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수업의 실습 프로젝트인 '수자이(水Xai)'를 소개합니다. K-water 공공 API를 활용해 전국 41개 정수장의 수질과 유량 데이터를 실시간으로 조회하고, Groq AI로 이상징후를 자동 분석하는 대시보드입니다. 이 프로젝트는 이미 개발이 완료되어 있으며, 여러분은 이 과정을 재현하면서 바이브 코딩을 체험하게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지금부터 10분간 직접 Claude를 사용해보겠습니다. 화면에 나온 프롬프트 템플릿에서 [여기에 아이디어 입력] 부분에 여러분 팀의 아이디어를 넣어 Claude에게 질문해보세요. AI가 제안하는 기능 목록과 기술 스택을 팀원과 공유하고 피드백을 나누어보세요. 10분 후에 몇 팀 결과를 발표해 봅시다.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4~5인 팀에서의 역할 분배를 살펴봅니다. 기획·PM은 요구사항 정의와 일정 관리에 AI를 활용하고, 백엔드는 API와 DB 설계에, 프론트엔드는 UI 구현에 AI를 씁니다. 역할이 나뉘어도 모든 팀원이 AI를 직접 사용해야 합니다. 한 사람만 AI를 쓰면 팀 전체의 생산성이 올라가지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수업은 총 4개의 챕터로 구성됩니다. Ch.1 기획에서는 요구사항 정의서를 만들고, Ch.2 설계에서는 유스케이스와 아키텍처를 설계하고, Ch.3 구현에서는 실제 코드를 작성하고, Ch.4 문서화에서는 API 명세서 등을 완성합니다. 각 챕터 끝에는 실습이 있어 배운 내용을 바로 적용해 볼 수 있습니다. 질문 있으시면 언제든지 말씀해주세요!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1371600" cy="137160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만드는 첫 프로젝트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코딩(Vibe Coding)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페어 프로그래머로 활용하는 새로운 개발 방식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45920" y="3977640"/>
            <a:ext cx="5852160" cy="502920"/>
          </a:xfrm>
          <a:prstGeom prst="roundRect">
            <a:avLst>
              <a:gd name="adj" fmla="val 21818"/>
            </a:avLst>
          </a:prstGeom>
          <a:solidFill>
            <a:srgbClr val="7C3AED">
              <a:alpha val="6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ChatGPT  ·  Cursor  ·  GitHub Copilot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코딩(Vibe Coding)이란?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Karpathy가 2025년 제안한 AI 협업 개발 방식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3200400"/>
          </a:xfrm>
          <a:prstGeom prst="roundRect">
            <a:avLst>
              <a:gd name="adj" fmla="val 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의도(뜻)를 설명하면 AI가 코드를 생성하고, 개발자는 결과를 검토·수정·방향을 제시하는 개발 방식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69164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직접 타이핑하지 않아도 된다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78892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6974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속도가 10배 빨라질 수 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65760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8862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3794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→ 동작하는 코드까지 빠르게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전통적 개발 vs 바이브 코딩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전통적 개발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구글링으로 코드 검색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Stack Overflow 복사붙여넣기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API 문서 직접 읽기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31638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혼자 디버깅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36941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문서화 나중에 또는 안 함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983480" y="16002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5727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대화로 코드 생성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983480" y="21305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1031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문서 해석 + 코드 작성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983480" y="266090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63347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처리까지 자동 제안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83480" y="319125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31638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함께 원인 분석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983480" y="37216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369417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문서도 AI가 동시에 작성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할 수 있어야 한다 — Vibe Coding은 도구, 기초 이해가 바탕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 3가지 핵심 원칙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749040"/>
          </a:xfrm>
          <a:prstGeom prst="roundRect">
            <a:avLst>
              <a:gd name="adj" fmla="val 517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의도를 명확하게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87168"/>
            <a:ext cx="19202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578608"/>
            <a:ext cx="2432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만들려는지, 제약사항은 무엇인지 AI에게 정확히 설명한다. 애매한 질문 = 애매한 답변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749040"/>
          </a:xfrm>
          <a:prstGeom prst="roundRect">
            <a:avLst>
              <a:gd name="adj" fmla="val 517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반복하며 개선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2487168"/>
            <a:ext cx="19202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578608"/>
            <a:ext cx="2432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완성을 기대하지 않는다. AI 출력을 검토하고, 수정 요청하고, 다시 검토하는 사이클을 반복한다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3749040"/>
          </a:xfrm>
          <a:prstGeom prst="roundRect">
            <a:avLst>
              <a:gd name="adj" fmla="val 517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신뢰하되 검증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2487168"/>
            <a:ext cx="19202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2578608"/>
            <a:ext cx="2432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틀릴 수 있다. 특히 보안·성능·비즈니스 로직은 반드시 팀이 검토해야 한다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AI 도구를 쓸까?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24712"/>
            <a:ext cx="822960" cy="1417320"/>
          </a:xfrm>
          <a:prstGeom prst="roundRect">
            <a:avLst>
              <a:gd name="adj" fmla="val 11111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9903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1612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코드·문서 처리에 강함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토론에 최적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124712"/>
            <a:ext cx="822960" cy="1417320"/>
          </a:xfrm>
          <a:prstGeom prst="roundRect">
            <a:avLst>
              <a:gd name="adj" fmla="val 1111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39903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116128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(OpenAI)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6002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범용성 높음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플러그인 생태계 풍부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2907792"/>
            <a:ext cx="822960" cy="1417320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8211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9443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IDE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내장 AI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코드베이스 전체 컨텍스트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600200"/>
          </a:xfrm>
          <a:prstGeom prst="roundRect">
            <a:avLst>
              <a:gd name="adj" fmla="val 8571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2907792"/>
            <a:ext cx="822960" cy="1417320"/>
          </a:xfrm>
          <a:prstGeom prst="roundRect">
            <a:avLst>
              <a:gd name="adj" fmla="val 11111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18211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69280" y="29443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타이핑 중 자동완성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속도 향상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수업에서는 Claude를 주로 사용합니다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프롬프트 = 좋은 결과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 품질은 프롬프트 품질에 달려 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108960"/>
          </a:xfrm>
          <a:prstGeom prst="roundRect">
            <a:avLst>
              <a:gd name="adj" fmla="val 4412"/>
            </a:avLst>
          </a:prstGeom>
          <a:solidFill>
            <a:srgbClr val="FFF1F1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447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"수질 API 연동 코드 짜줘"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3566160" cy="0"/>
          </a:xfrm>
          <a:prstGeom prst="line">
            <a:avLst/>
          </a:prstGeom>
          <a:noFill/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603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짧고 맥락 없음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추측으로 코드 생성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원하는 결과와 다를 확률 높음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3108960"/>
          </a:xfrm>
          <a:prstGeom prst="roundRect">
            <a:avLst>
              <a:gd name="adj" fmla="val 441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4447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901952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 </a:t>
            </a:r>
            <a:pPr algn="l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너는 Spring Boot 백엔드 개발자야
</a:t>
            </a:r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맥락: </a:t>
            </a:r>
            <a:pPr algn="l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K-water API 호출, JSON 파싱
</a:t>
            </a:r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요청: </a:t>
            </a:r>
            <a:pPr algn="l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QualityApiClient 클래스 작성
</a:t>
            </a:r>
            <a:pPr algn="l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제약: </a:t>
            </a:r>
            <a:pPr algn="l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타임아웃 25초, 에러 시 빈 리스트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645152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+ 맥락 + 구체적 요청 + 제약조건 = 좋은 프롬프트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쓰는 프롬프트 패턴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69080" cy="1828800"/>
          </a:xfrm>
          <a:prstGeom prst="roundRect">
            <a:avLst>
              <a:gd name="adj" fmla="val 7500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1612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부여 패턴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"너는 [역할]야. [작업]을 해줘"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너는 Spring Boot 전문가야.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전략을 설계해줘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69080" cy="1828800"/>
          </a:xfrm>
          <a:prstGeom prst="roundRect">
            <a:avLst>
              <a:gd name="adj" fmla="val 7500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43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21808" y="11612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제공 패턴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645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JSON/코드를 붙여넣고 변환 요청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1945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이 JSON 응답을 보고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모델 클래스를 만들어줘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069080" cy="1828800"/>
          </a:xfrm>
          <a:prstGeom prst="roundRect">
            <a:avLst>
              <a:gd name="adj" fmla="val 7500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154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3172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요청 패턴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다 요청하지 않고 단계적으로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먼저 인터페이스만 설계해줘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구현은 다음에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69080" cy="1828800"/>
          </a:xfrm>
          <a:prstGeom prst="roundRect">
            <a:avLst>
              <a:gd name="adj" fmla="val 7500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546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3172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요청 패턴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060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쓴 코드의 문제점을 찾아줘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4206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이 코드에서 성능·보안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이슈가 있어?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 개발 사이클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29000" y="1828800"/>
            <a:ext cx="2286000" cy="2286000"/>
          </a:xfrm>
          <a:prstGeom prst="ellipse">
            <a:avLst/>
          </a:prstGeom>
          <a:solidFill>
            <a:srgbClr val="A78BFA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0" y="960120"/>
            <a:ext cx="13716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86200" y="960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아이디어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0" y="1920240"/>
            <a:ext cx="13716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 AI에게 설명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4023360"/>
            <a:ext cx="13716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4023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코드 생성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4023360"/>
            <a:ext cx="13716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4023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검토·테스트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13716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1920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피드백·수정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530352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63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사이클을 빠르게 반복하는 것이 핵심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52160" y="4663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기획→설계→구현→문서화 각 단계에서 이 사이클이 반복됨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코딩의 한계와 주의사항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항상 옳지는 않다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069080" cy="1600200"/>
          </a:xfrm>
          <a:prstGeom prst="roundRect">
            <a:avLst>
              <a:gd name="adj" fmla="val 8571"/>
            </a:avLst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270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5270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취약점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인젝션, XSS, API 키 노출 등 보안 이슈를 AI가 놓칠 수 있음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반드시 보안 검토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69080" cy="1600200"/>
          </a:xfrm>
          <a:prstGeom prst="roundRect">
            <a:avLst>
              <a:gd name="adj" fmla="val 8571"/>
            </a:avLst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270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40680" y="152704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 오류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0116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지식이 부족하면 AI가 잘못된 로직 생성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팀 검토 필수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4069080" cy="1600200"/>
          </a:xfrm>
          <a:prstGeom prst="roundRect">
            <a:avLst>
              <a:gd name="adj" fmla="val 8571"/>
            </a:avLst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3101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3101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정보 부재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학습 데이터에 최신 API·라이브러리 변경사항 미반영 가능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공식 문서 확인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069080" cy="1600200"/>
          </a:xfrm>
          <a:prstGeom prst="roundRect">
            <a:avLst>
              <a:gd name="adj" fmla="val 8571"/>
            </a:avLst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31012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40680" y="331012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이해 없이 사용 금지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7947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출력을 이해 못 하면 디버깅 불가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기초 개념 학습 병행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수업의 실습 프로젝트: 수자이(水Xai)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개발 완료 프로젝트 — 여러분은 이 과정을 직접 경험합니다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5029200" cy="3474720"/>
          </a:xfrm>
          <a:prstGeom prst="roundRect">
            <a:avLst>
              <a:gd name="adj" fmla="val 3947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813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K-water 공공 API로 전국 41개 정수장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수질·유량 실시간 조회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AI(LLaMA-3.3-70B)로 이상징후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분석</a:t>
            </a:r>
            <a:endParaRPr lang="en-US" sz="13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 + Java 17 + Vanilla JS SPA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23560" y="1389888"/>
            <a:ext cx="3200400" cy="1051560"/>
          </a:xfrm>
          <a:prstGeom prst="round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14630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41개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23560" y="19568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정수장 실시간 모니터링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578608"/>
            <a:ext cx="3200400" cy="1051560"/>
          </a:xfrm>
          <a:prstGeom prst="round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26517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23560" y="314553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 지표 (pH·탁도·잔류염소)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3767328"/>
            <a:ext cx="3200400" cy="1051560"/>
          </a:xfrm>
          <a:prstGeom prst="round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38404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23560" y="43342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이상징후 자동 분석 (Groq)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실습 01 — 첫 번째 바이브 코딩 체험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바로 Claude에 접속해서 아래 프롬프트를 입력해보세요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920240"/>
          </a:xfrm>
          <a:prstGeom prst="roundRect">
            <a:avLst>
              <a:gd name="adj" fmla="val 7143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4~5명 팀으로 소규모 프로젝트를 진행하려고 해.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팀이 만들고 싶은 서비스는 [여기에 아이디어 입력]야.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서비스에 필요한 핵심 기능 5가지와 기술 스택을 제안해줘.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639312"/>
            <a:ext cx="8412480" cy="1234440"/>
          </a:xfrm>
          <a:prstGeom prst="roundRect">
            <a:avLst>
              <a:gd name="adj" fmla="val 8889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제안하는 것들: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041648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목록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(프론트/백엔드/DB/외부API)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범위 + 주의사항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70916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10분 실습 → 결과를 팀원과 공유하세요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4~5인 팀의 AI 활용 역할 분배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691640"/>
          </a:xfrm>
          <a:prstGeom prst="roundRect">
            <a:avLst>
              <a:gd name="adj" fmla="val 810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1005840" cy="150876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기획·PM (1인)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61848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정의서, 유스케이스, 일정 관리를 AI와 함께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691640"/>
          </a:xfrm>
          <a:prstGeom prst="roundRect">
            <a:avLst>
              <a:gd name="adj" fmla="val 810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1005840" cy="1508760"/>
          </a:xfrm>
          <a:prstGeom prst="roundRect">
            <a:avLst>
              <a:gd name="adj" fmla="val 9091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630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897880" y="116128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(1~2인)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97880" y="161848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설계·구현, DB 설계, 외부 API 연동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691640"/>
          </a:xfrm>
          <a:prstGeom prst="roundRect">
            <a:avLst>
              <a:gd name="adj" fmla="val 810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63240"/>
            <a:ext cx="1005840" cy="1508760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8328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308152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(1인)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53872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설계, UI 구현, UX 개선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14800" cy="1691640"/>
          </a:xfrm>
          <a:prstGeom prst="roundRect">
            <a:avLst>
              <a:gd name="adj" fmla="val 810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63240"/>
            <a:ext cx="1005840" cy="1508760"/>
          </a:xfrm>
          <a:prstGeom prst="roundRect">
            <a:avLst>
              <a:gd name="adj" fmla="val 9091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8328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897880" y="308152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역할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97880" y="353872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문서화, 코드 리뷰, 테스트 — AI가 초안 작성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역할이 구분되더라도 AI 활용은 모두가 한다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앞으로의 교육 로드맵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65960" cy="2560320"/>
          </a:xfrm>
          <a:prstGeom prst="roundRect">
            <a:avLst>
              <a:gd name="adj" fmla="val 69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155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169164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8483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정의 · 이해관계자 · FR/NFR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0F7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490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요구사항 정의서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331720"/>
            <a:ext cx="182880" cy="0"/>
          </a:xfrm>
          <a:prstGeom prst="line">
            <a:avLst/>
          </a:prstGeom>
          <a:noFill/>
          <a:ln w="25400">
            <a:solidFill>
              <a:srgbClr val="E8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051560"/>
            <a:ext cx="1965960" cy="2560320"/>
          </a:xfrm>
          <a:prstGeom prst="roundRect">
            <a:avLst>
              <a:gd name="adj" fmla="val 69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1155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14813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651760" y="2029968"/>
            <a:ext cx="169164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08483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유스케이스 · 아키텍처 · 화면 설계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374904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0F7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7490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설계 문서 세트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182880" cy="0"/>
          </a:xfrm>
          <a:prstGeom prst="line">
            <a:avLst/>
          </a:prstGeom>
          <a:noFill/>
          <a:ln w="25400">
            <a:solidFill>
              <a:srgbClr val="E8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51560"/>
            <a:ext cx="1965960" cy="2560320"/>
          </a:xfrm>
          <a:prstGeom prst="roundRect">
            <a:avLst>
              <a:gd name="adj" fmla="val 69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1155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14813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800600" y="2029968"/>
            <a:ext cx="169164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08483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연동 · AI 기능 · 캐시 · 프론트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74904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0F7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7490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동작하는 MVP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2331720"/>
            <a:ext cx="182880" cy="0"/>
          </a:xfrm>
          <a:prstGeom prst="line">
            <a:avLst/>
          </a:prstGeom>
          <a:noFill/>
          <a:ln w="25400">
            <a:solidFill>
              <a:srgbClr val="E8F4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1051560"/>
            <a:ext cx="1965960" cy="2560320"/>
          </a:xfrm>
          <a:prstGeom prst="roundRect">
            <a:avLst>
              <a:gd name="adj" fmla="val 69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11155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C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12280" y="14813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949440" y="2029968"/>
            <a:ext cx="169164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2084832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명세서 · 설계 문서 · 팀 협업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3749040"/>
            <a:ext cx="1965960" cy="594360"/>
          </a:xfrm>
          <a:prstGeom prst="roundRect">
            <a:avLst>
              <a:gd name="adj" fmla="val 18462"/>
            </a:avLst>
          </a:prstGeom>
          <a:solidFill>
            <a:srgbClr val="F0F7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7490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완성 문서 패키지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챕터 끝에 실습이 있습니다 🛠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0 - 바이브 코딩</dc:title>
  <dc:subject>PptxGenJS Presentation</dc:subject>
  <dc:creator>PptxGenJS</dc:creator>
  <cp:lastModifiedBy>PptxGenJS</cp:lastModifiedBy>
  <cp:revision>1</cp:revision>
  <dcterms:created xsi:type="dcterms:W3CDTF">2026-06-24T09:10:15Z</dcterms:created>
  <dcterms:modified xsi:type="dcterms:W3CDTF">2026-06-24T09:10:15Z</dcterms:modified>
</cp:coreProperties>
</file>